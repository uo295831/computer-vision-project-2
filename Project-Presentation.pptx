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56.png" ContentType="image/png"/>
  <Override PartName="/ppt/media/image55.png" ContentType="image/png"/>
  <Override PartName="/ppt/media/image47.png" ContentType="image/png"/>
  <Override PartName="/ppt/media/image10.png" ContentType="image/png"/>
  <Override PartName="/ppt/media/image35.png" ContentType="image/png"/>
  <Override PartName="/ppt/media/image5.png" ContentType="image/png"/>
  <Override PartName="/ppt/media/image28.png" ContentType="image/png"/>
  <Override PartName="/ppt/media/image34.png" ContentType="image/png"/>
  <Override PartName="/ppt/media/image4.png" ContentType="image/png"/>
  <Override PartName="/ppt/media/image16.png" ContentType="image/png"/>
  <Override PartName="/ppt/media/image27.png" ContentType="image/png"/>
  <Override PartName="/ppt/media/image33.png" ContentType="image/png"/>
  <Override PartName="/ppt/media/image3.png" ContentType="image/png"/>
  <Override PartName="/ppt/media/image15.png" ContentType="image/png"/>
  <Override PartName="/ppt/media/image17.jpeg" ContentType="image/jpeg"/>
  <Override PartName="/ppt/media/image26.png" ContentType="image/png"/>
  <Override PartName="/ppt/media/image32.png" ContentType="image/png"/>
  <Override PartName="/ppt/media/image2.png" ContentType="image/png"/>
  <Override PartName="/ppt/media/image14.png" ContentType="image/png"/>
  <Override PartName="/ppt/media/image25.png" ContentType="image/png"/>
  <Override PartName="/ppt/media/image60.png" ContentType="image/png"/>
  <Override PartName="/ppt/media/image23.png" ContentType="image/png"/>
  <Override PartName="/ppt/media/image58.png" ContentType="image/png"/>
  <Override PartName="/ppt/media/image21.png" ContentType="image/png"/>
  <Override PartName="/ppt/media/image22.png" ContentType="image/png"/>
  <Override PartName="/ppt/media/image59.png" ContentType="image/png"/>
  <Override PartName="/ppt/media/image57.png" ContentType="image/png"/>
  <Override PartName="/ppt/media/image20.png" ContentType="image/png"/>
  <Override PartName="/ppt/media/image61.png" ContentType="image/png"/>
  <Override PartName="/ppt/media/image24.png" ContentType="image/png"/>
  <Override PartName="/ppt/media/image31.png" ContentType="image/png"/>
  <Override PartName="/ppt/media/image29.png" ContentType="image/png"/>
  <Override PartName="/ppt/media/image18.png" ContentType="image/png"/>
  <Override PartName="/ppt/media/image6.png" ContentType="image/png"/>
  <Override PartName="/ppt/media/image36.png" ContentType="image/png"/>
  <Override PartName="/ppt/media/image11.png" ContentType="image/png"/>
  <Override PartName="/ppt/media/image48.png" ContentType="image/png"/>
  <Override PartName="/ppt/media/image19.png" ContentType="image/png"/>
  <Override PartName="/ppt/media/image7.png" ContentType="image/png"/>
  <Override PartName="/ppt/media/image37.png" ContentType="image/png"/>
  <Override PartName="/ppt/media/image12.png" ContentType="image/png"/>
  <Override PartName="/ppt/media/image49.png" ContentType="image/png"/>
  <Override PartName="/ppt/media/image8.png" ContentType="image/png"/>
  <Override PartName="/ppt/media/image38.png" ContentType="image/png"/>
  <Override PartName="/ppt/media/image1.png" ContentType="image/png"/>
  <Override PartName="/ppt/media/image13.png" ContentType="image/png"/>
  <Override PartName="/ppt/media/image9.png" ContentType="image/png"/>
  <Override PartName="/ppt/media/image39.png" ContentType="image/png"/>
  <Override PartName="/ppt/media/image30.png" ContentType="image/png"/>
  <Override PartName="/ppt/media/image40.png" ContentType="image/png"/>
  <Override PartName="/ppt/media/image41.png" ContentType="image/png"/>
  <Override PartName="/ppt/media/image42.png" ContentType="image/png"/>
  <Override PartName="/ppt/media/image43.png" ContentType="image/png"/>
  <Override PartName="/ppt/media/image44.png" ContentType="image/png"/>
  <Override PartName="/ppt/media/image45.png" ContentType="image/png"/>
  <Override PartName="/ppt/media/image46.png" ContentType="image/png"/>
  <Override PartName="/ppt/media/image50.png" ContentType="image/png"/>
  <Override PartName="/ppt/media/image51.png" ContentType="image/png"/>
  <Override PartName="/ppt/media/image52.png" ContentType="image/png"/>
  <Override PartName="/ppt/media/image53.png" ContentType="image/png"/>
  <Override PartName="/ppt/media/image54.png" ContentType="image/png"/>
  <Override PartName="/ppt/presProps.xml" ContentType="application/vnd.openxmlformats-officedocument.presentationml.presPro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8288000" cy="10287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88C29A4-D6ED-4273-A257-75CD2C6D242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33A930-51C2-4E53-8235-36CC5B3FAFB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3098FD-1C72-4466-A6CE-B754EC423F9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FF034F6-983B-477D-A26B-5203B5BF146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8F30DA4-4FB2-45FD-823A-B80EF4F18E1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914400" y="410400"/>
            <a:ext cx="16458840" cy="79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6FE461C-7160-4FDA-9134-E02CD2C361F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993410-461E-4133-B167-02A9D3FB05C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99348F1-766B-409E-8C2D-DC9C6E3ECBC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1F8161D-35C6-47F4-881B-AD3E6CF4A62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AD66A21-0697-4872-A170-B46023561DB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1E7648-3F26-4912-98A4-8A0D5CD3B83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47928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1204416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91440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647928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1204416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5F3E15-DDA0-4F94-8CB5-054A8B8FE66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 </a:t>
            </a:r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C3475EA-0A2B-4AEE-9244-7EC01FB56416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10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image" Target="../media/image3.png"/><Relationship Id="rId6" Type="http://schemas.openxmlformats.org/officeDocument/2006/relationships/image" Target="../media/image3.png"/><Relationship Id="rId7" Type="http://schemas.openxmlformats.org/officeDocument/2006/relationships/image" Target="../media/image3.png"/><Relationship Id="rId8" Type="http://schemas.openxmlformats.org/officeDocument/2006/relationships/image" Target="../media/image3.png"/><Relationship Id="rId9" Type="http://schemas.openxmlformats.org/officeDocument/2006/relationships/image" Target="../media/image5.png"/><Relationship Id="rId10" Type="http://schemas.openxmlformats.org/officeDocument/2006/relationships/image" Target="../media/image5.png"/><Relationship Id="rId11" Type="http://schemas.openxmlformats.org/officeDocument/2006/relationships/image" Target="../media/image5.png"/><Relationship Id="rId12" Type="http://schemas.openxmlformats.org/officeDocument/2006/relationships/image" Target="../media/image5.png"/><Relationship Id="rId13" Type="http://schemas.openxmlformats.org/officeDocument/2006/relationships/image" Target="../media/image5.png"/><Relationship Id="rId14" Type="http://schemas.openxmlformats.org/officeDocument/2006/relationships/image" Target="../media/image6.png"/><Relationship Id="rId15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10.png"/><Relationship Id="rId8" Type="http://schemas.openxmlformats.org/officeDocument/2006/relationships/image" Target="../media/image8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7.png"/><Relationship Id="rId4" Type="http://schemas.openxmlformats.org/officeDocument/2006/relationships/image" Target="../media/image13.png"/><Relationship Id="rId5" Type="http://schemas.openxmlformats.org/officeDocument/2006/relationships/image" Target="../media/image9.png"/><Relationship Id="rId6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jpeg"/><Relationship Id="rId5" Type="http://schemas.openxmlformats.org/officeDocument/2006/relationships/image" Target="../media/image3.png"/><Relationship Id="rId6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9.png"/><Relationship Id="rId5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20.png"/><Relationship Id="rId4" Type="http://schemas.openxmlformats.org/officeDocument/2006/relationships/image" Target="../media/image20.png"/><Relationship Id="rId5" Type="http://schemas.openxmlformats.org/officeDocument/2006/relationships/image" Target="../media/image20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2.png"/><Relationship Id="rId8" Type="http://schemas.openxmlformats.org/officeDocument/2006/relationships/image" Target="../media/image32.png"/><Relationship Id="rId9" Type="http://schemas.openxmlformats.org/officeDocument/2006/relationships/image" Target="../media/image34.png"/><Relationship Id="rId10" Type="http://schemas.openxmlformats.org/officeDocument/2006/relationships/image" Target="../media/image35.png"/><Relationship Id="rId1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9.png"/><Relationship Id="rId3" Type="http://schemas.openxmlformats.org/officeDocument/2006/relationships/image" Target="../media/image36.png"/><Relationship Id="rId4" Type="http://schemas.openxmlformats.org/officeDocument/2006/relationships/image" Target="../media/image30.png"/><Relationship Id="rId5" Type="http://schemas.openxmlformats.org/officeDocument/2006/relationships/image" Target="../media/image37.png"/><Relationship Id="rId6" Type="http://schemas.openxmlformats.org/officeDocument/2006/relationships/image" Target="../media/image30.png"/><Relationship Id="rId7" Type="http://schemas.openxmlformats.org/officeDocument/2006/relationships/image" Target="../media/image38.png"/><Relationship Id="rId8" Type="http://schemas.openxmlformats.org/officeDocument/2006/relationships/image" Target="../media/image30.png"/><Relationship Id="rId9" Type="http://schemas.openxmlformats.org/officeDocument/2006/relationships/image" Target="../media/image39.png"/><Relationship Id="rId10" Type="http://schemas.openxmlformats.org/officeDocument/2006/relationships/image" Target="../media/image40.png"/><Relationship Id="rId11" Type="http://schemas.openxmlformats.org/officeDocument/2006/relationships/image" Target="../media/image40.png"/><Relationship Id="rId12" Type="http://schemas.openxmlformats.org/officeDocument/2006/relationships/image" Target="../media/image41.png"/><Relationship Id="rId13" Type="http://schemas.openxmlformats.org/officeDocument/2006/relationships/image" Target="../media/image41.png"/><Relationship Id="rId14" Type="http://schemas.openxmlformats.org/officeDocument/2006/relationships/image" Target="../media/image41.png"/><Relationship Id="rId15" Type="http://schemas.openxmlformats.org/officeDocument/2006/relationships/image" Target="../media/image41.png"/><Relationship Id="rId16" Type="http://schemas.openxmlformats.org/officeDocument/2006/relationships/image" Target="../media/image41.png"/><Relationship Id="rId17" Type="http://schemas.openxmlformats.org/officeDocument/2006/relationships/image" Target="../media/image41.png"/><Relationship Id="rId18" Type="http://schemas.openxmlformats.org/officeDocument/2006/relationships/image" Target="../media/image42.png"/><Relationship Id="rId19" Type="http://schemas.openxmlformats.org/officeDocument/2006/relationships/image" Target="../media/image42.png"/><Relationship Id="rId20" Type="http://schemas.openxmlformats.org/officeDocument/2006/relationships/image" Target="../media/image43.png"/><Relationship Id="rId21" Type="http://schemas.openxmlformats.org/officeDocument/2006/relationships/image" Target="../media/image42.png"/><Relationship Id="rId22" Type="http://schemas.openxmlformats.org/officeDocument/2006/relationships/image" Target="../media/image42.png"/><Relationship Id="rId23" Type="http://schemas.openxmlformats.org/officeDocument/2006/relationships/image" Target="../media/image43.png"/><Relationship Id="rId24" Type="http://schemas.openxmlformats.org/officeDocument/2006/relationships/image" Target="../media/image42.png"/><Relationship Id="rId25" Type="http://schemas.openxmlformats.org/officeDocument/2006/relationships/image" Target="../media/image42.png"/><Relationship Id="rId26" Type="http://schemas.openxmlformats.org/officeDocument/2006/relationships/image" Target="../media/image43.png"/><Relationship Id="rId27" Type="http://schemas.openxmlformats.org/officeDocument/2006/relationships/image" Target="../media/image44.png"/><Relationship Id="rId28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9.png"/><Relationship Id="rId3" Type="http://schemas.openxmlformats.org/officeDocument/2006/relationships/image" Target="../media/image36.png"/><Relationship Id="rId4" Type="http://schemas.openxmlformats.org/officeDocument/2006/relationships/image" Target="../media/image17.jpeg"/><Relationship Id="rId5" Type="http://schemas.openxmlformats.org/officeDocument/2006/relationships/image" Target="../media/image38.png"/><Relationship Id="rId6" Type="http://schemas.openxmlformats.org/officeDocument/2006/relationships/image" Target="../media/image17.jpeg"/><Relationship Id="rId7" Type="http://schemas.openxmlformats.org/officeDocument/2006/relationships/image" Target="../media/image39.png"/><Relationship Id="rId8" Type="http://schemas.openxmlformats.org/officeDocument/2006/relationships/image" Target="../media/image41.png"/><Relationship Id="rId9" Type="http://schemas.openxmlformats.org/officeDocument/2006/relationships/image" Target="../media/image41.png"/><Relationship Id="rId10" Type="http://schemas.openxmlformats.org/officeDocument/2006/relationships/image" Target="../media/image41.png"/><Relationship Id="rId11" Type="http://schemas.openxmlformats.org/officeDocument/2006/relationships/image" Target="../media/image41.png"/><Relationship Id="rId12" Type="http://schemas.openxmlformats.org/officeDocument/2006/relationships/image" Target="../media/image41.png"/><Relationship Id="rId13" Type="http://schemas.openxmlformats.org/officeDocument/2006/relationships/image" Target="../media/image41.png"/><Relationship Id="rId14" Type="http://schemas.openxmlformats.org/officeDocument/2006/relationships/image" Target="../media/image42.png"/><Relationship Id="rId15" Type="http://schemas.openxmlformats.org/officeDocument/2006/relationships/image" Target="../media/image42.png"/><Relationship Id="rId16" Type="http://schemas.openxmlformats.org/officeDocument/2006/relationships/image" Target="../media/image43.png"/><Relationship Id="rId17" Type="http://schemas.openxmlformats.org/officeDocument/2006/relationships/image" Target="../media/image45.png"/><Relationship Id="rId18" Type="http://schemas.openxmlformats.org/officeDocument/2006/relationships/image" Target="../media/image42.png"/><Relationship Id="rId19" Type="http://schemas.openxmlformats.org/officeDocument/2006/relationships/image" Target="../media/image43.png"/><Relationship Id="rId20" Type="http://schemas.openxmlformats.org/officeDocument/2006/relationships/image" Target="../media/image46.png"/><Relationship Id="rId21" Type="http://schemas.openxmlformats.org/officeDocument/2006/relationships/image" Target="../media/image47.png"/><Relationship Id="rId22" Type="http://schemas.openxmlformats.org/officeDocument/2006/relationships/image" Target="../media/image48.png"/><Relationship Id="rId23" Type="http://schemas.openxmlformats.org/officeDocument/2006/relationships/image" Target="../media/image49.png"/><Relationship Id="rId24" Type="http://schemas.openxmlformats.org/officeDocument/2006/relationships/image" Target="../media/image50.png"/><Relationship Id="rId25" Type="http://schemas.openxmlformats.org/officeDocument/2006/relationships/image" Target="../media/image51.png"/><Relationship Id="rId26" Type="http://schemas.openxmlformats.org/officeDocument/2006/relationships/image" Target="../media/image42.png"/><Relationship Id="rId27" Type="http://schemas.openxmlformats.org/officeDocument/2006/relationships/image" Target="../media/image42.png"/><Relationship Id="rId28" Type="http://schemas.openxmlformats.org/officeDocument/2006/relationships/image" Target="../media/image52.png"/><Relationship Id="rId29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9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9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Relationship Id="rId7" Type="http://schemas.openxmlformats.org/officeDocument/2006/relationships/image" Target="../media/image57.png"/><Relationship Id="rId8" Type="http://schemas.openxmlformats.org/officeDocument/2006/relationships/image" Target="../media/image58.png"/><Relationship Id="rId9" Type="http://schemas.openxmlformats.org/officeDocument/2006/relationships/image" Target="../media/image60.png"/><Relationship Id="rId10" Type="http://schemas.openxmlformats.org/officeDocument/2006/relationships/image" Target="../media/image57.png"/><Relationship Id="rId11" Type="http://schemas.openxmlformats.org/officeDocument/2006/relationships/image" Target="../media/image58.png"/><Relationship Id="rId1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9.png"/><Relationship Id="rId3" Type="http://schemas.openxmlformats.org/officeDocument/2006/relationships/image" Target="../media/image61.png"/><Relationship Id="rId4" Type="http://schemas.openxmlformats.org/officeDocument/2006/relationships/image" Target="../media/image61.png"/><Relationship Id="rId5" Type="http://schemas.openxmlformats.org/officeDocument/2006/relationships/image" Target="../media/image61.png"/><Relationship Id="rId6" Type="http://schemas.openxmlformats.org/officeDocument/2006/relationships/image" Target="../media/image61.png"/><Relationship Id="rId7" Type="http://schemas.openxmlformats.org/officeDocument/2006/relationships/image" Target="../media/image61.png"/><Relationship Id="rId8" Type="http://schemas.openxmlformats.org/officeDocument/2006/relationships/image" Target="../media/image61.png"/><Relationship Id="rId9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Freeform 2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rect l="textAreaLeft" t="textAreaTop" r="textAreaRight" b="textAreaBottom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Freeform 3"/>
          <p:cNvSpPr/>
          <p:nvPr/>
        </p:nvSpPr>
        <p:spPr>
          <a:xfrm>
            <a:off x="100800" y="0"/>
            <a:ext cx="18186840" cy="10286280"/>
          </a:xfrm>
          <a:custGeom>
            <a:avLst/>
            <a:gdLst>
              <a:gd name="textAreaLeft" fmla="*/ 0 w 18186840"/>
              <a:gd name="textAreaRight" fmla="*/ 18187200 w 18186840"/>
              <a:gd name="textAreaTop" fmla="*/ 0 h 10286280"/>
              <a:gd name="textAreaBottom" fmla="*/ 10286640 h 10286280"/>
            </a:gdLst>
            <a:ahLst/>
            <a:rect l="textAreaLeft" t="textAreaTop" r="textAreaRight" b="textAreaBottom"/>
            <a:pathLst>
              <a:path w="18187054" h="10286468">
                <a:moveTo>
                  <a:pt x="0" y="0"/>
                </a:moveTo>
                <a:lnTo>
                  <a:pt x="18187054" y="0"/>
                </a:lnTo>
                <a:lnTo>
                  <a:pt x="18187054" y="10286468"/>
                </a:lnTo>
                <a:lnTo>
                  <a:pt x="0" y="1028646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Box 4"/>
          <p:cNvSpPr/>
          <p:nvPr/>
        </p:nvSpPr>
        <p:spPr>
          <a:xfrm>
            <a:off x="2836080" y="212760"/>
            <a:ext cx="14270040" cy="142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5598"/>
              </a:lnSpc>
            </a:pPr>
            <a:r>
              <a:rPr b="1" lang="en-US" sz="4000" spc="-1" strike="noStrike">
                <a:solidFill>
                  <a:srgbClr val="7c7aac"/>
                </a:solidFill>
                <a:latin typeface="Futura Bold"/>
                <a:ea typeface="Futura Bold"/>
              </a:rPr>
              <a:t>Project 2: Joint Detection of AI-Generated Images and Post-Processing Alterations in Real-World Scenarios </a:t>
            </a:r>
            <a:endParaRPr b="0" lang="es-E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Box 5"/>
          <p:cNvSpPr/>
          <p:nvPr/>
        </p:nvSpPr>
        <p:spPr>
          <a:xfrm>
            <a:off x="100800" y="8494920"/>
            <a:ext cx="6797520" cy="78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3078"/>
              </a:lnSpc>
            </a:pPr>
            <a:r>
              <a:rPr b="0" lang="en-US" sz="2200" spc="-1" strike="noStrike">
                <a:solidFill>
                  <a:srgbClr val="4d4b66"/>
                </a:solidFill>
                <a:latin typeface="Montserrat"/>
                <a:ea typeface="Montserrat"/>
              </a:rPr>
              <a:t>JOAQUIN </a:t>
            </a:r>
            <a:r>
              <a:rPr b="0" lang="en-US" sz="2200" spc="-1" strike="noStrike" u="sng">
                <a:solidFill>
                  <a:srgbClr val="4d4b66"/>
                </a:solidFill>
                <a:uFillTx/>
                <a:latin typeface="Montserrat"/>
                <a:ea typeface="Montserrat"/>
              </a:rPr>
              <a:t>AVILES</a:t>
            </a:r>
            <a:r>
              <a:rPr b="0" lang="en-US" sz="2200" spc="-1" strike="noStrike">
                <a:solidFill>
                  <a:srgbClr val="4d4b66"/>
                </a:solidFill>
                <a:latin typeface="Montserrat"/>
                <a:ea typeface="Montserrat"/>
              </a:rPr>
              <a:t> DE LA FUENTE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ts val="3078"/>
              </a:lnSpc>
            </a:pPr>
            <a:r>
              <a:rPr b="0" lang="en-US" sz="2200" spc="-1" strike="noStrike">
                <a:solidFill>
                  <a:srgbClr val="4d4b66"/>
                </a:solidFill>
                <a:latin typeface="Montserrat"/>
                <a:ea typeface="Montserrat"/>
              </a:rPr>
              <a:t>(MÁLAGA)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Box 6"/>
          <p:cNvSpPr/>
          <p:nvPr/>
        </p:nvSpPr>
        <p:spPr>
          <a:xfrm>
            <a:off x="6126120" y="8494920"/>
            <a:ext cx="7056000" cy="78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3078"/>
              </a:lnSpc>
            </a:pPr>
            <a:r>
              <a:rPr b="0" lang="en-US" sz="2200" spc="-1" strike="noStrike">
                <a:solidFill>
                  <a:srgbClr val="4d4b66"/>
                </a:solidFill>
                <a:latin typeface="Montserrat"/>
                <a:ea typeface="Montserrat"/>
              </a:rPr>
              <a:t>CARLOS FERNÁNDEZ FERNÁNDEZ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ts val="3078"/>
              </a:lnSpc>
            </a:pPr>
            <a:r>
              <a:rPr b="0" lang="en-US" sz="2200" spc="-1" strike="noStrike">
                <a:solidFill>
                  <a:srgbClr val="4d4b66"/>
                </a:solidFill>
                <a:latin typeface="Montserrat"/>
                <a:ea typeface="Montserrat"/>
              </a:rPr>
              <a:t>(GIJÓN)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Box 7"/>
          <p:cNvSpPr/>
          <p:nvPr/>
        </p:nvSpPr>
        <p:spPr>
          <a:xfrm>
            <a:off x="12124440" y="8494920"/>
            <a:ext cx="7056000" cy="78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3078"/>
              </a:lnSpc>
            </a:pPr>
            <a:r>
              <a:rPr b="0" lang="en-US" sz="2200" spc="-1" strike="noStrike">
                <a:solidFill>
                  <a:srgbClr val="4d4b66"/>
                </a:solidFill>
                <a:latin typeface="Montserrat"/>
                <a:ea typeface="Montserrat"/>
              </a:rPr>
              <a:t>ALBERTO RIVAS CASAL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ts val="3078"/>
              </a:lnSpc>
            </a:pPr>
            <a:r>
              <a:rPr b="0" lang="en-US" sz="2200" spc="-1" strike="noStrike">
                <a:solidFill>
                  <a:srgbClr val="4d4b66"/>
                </a:solidFill>
                <a:latin typeface="Montserrat"/>
                <a:ea typeface="Montserrat"/>
              </a:rPr>
              <a:t>(OVIEDO)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Box 8"/>
          <p:cNvSpPr/>
          <p:nvPr/>
        </p:nvSpPr>
        <p:spPr>
          <a:xfrm>
            <a:off x="0" y="9446040"/>
            <a:ext cx="6797520" cy="39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3078"/>
              </a:lnSpc>
            </a:pPr>
            <a:r>
              <a:rPr b="1" lang="en-US" sz="2200" spc="-1" strike="noStrike">
                <a:solidFill>
                  <a:srgbClr val="4d4b66"/>
                </a:solidFill>
                <a:latin typeface="Montserrat Bold"/>
                <a:ea typeface="Montserrat Bold"/>
              </a:rPr>
              <a:t>2247473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Box 9"/>
          <p:cNvSpPr/>
          <p:nvPr/>
        </p:nvSpPr>
        <p:spPr>
          <a:xfrm>
            <a:off x="6255360" y="9446040"/>
            <a:ext cx="6797520" cy="39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3078"/>
              </a:lnSpc>
            </a:pPr>
            <a:r>
              <a:rPr b="1" lang="en-US" sz="2200" spc="-1" strike="noStrike">
                <a:solidFill>
                  <a:srgbClr val="4d4b66"/>
                </a:solidFill>
                <a:latin typeface="Montserrat Bold"/>
                <a:ea typeface="Montserrat Bold"/>
              </a:rPr>
              <a:t>2247701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Box 10"/>
          <p:cNvSpPr/>
          <p:nvPr/>
        </p:nvSpPr>
        <p:spPr>
          <a:xfrm>
            <a:off x="12253680" y="9446040"/>
            <a:ext cx="6797520" cy="39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3078"/>
              </a:lnSpc>
            </a:pPr>
            <a:r>
              <a:rPr b="1" lang="en-US" sz="2200" spc="-1" strike="noStrike">
                <a:solidFill>
                  <a:srgbClr val="4d4b66"/>
                </a:solidFill>
                <a:latin typeface="Montserrat Bold"/>
                <a:ea typeface="Montserrat Bold"/>
              </a:rPr>
              <a:t>2247719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Box 11"/>
          <p:cNvSpPr/>
          <p:nvPr/>
        </p:nvSpPr>
        <p:spPr>
          <a:xfrm>
            <a:off x="14120640" y="9613440"/>
            <a:ext cx="6797520" cy="39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3078"/>
              </a:lnSpc>
            </a:pPr>
            <a:r>
              <a:rPr b="1" lang="en-US" sz="2200" spc="-1" strike="noStrike">
                <a:solidFill>
                  <a:srgbClr val="4d4b66"/>
                </a:solidFill>
                <a:latin typeface="Montserrat Bold"/>
                <a:ea typeface="Montserrat Bold"/>
              </a:rPr>
              <a:t>1/15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2"/>
          <p:cNvGrpSpPr/>
          <p:nvPr/>
        </p:nvGrpSpPr>
        <p:grpSpPr>
          <a:xfrm>
            <a:off x="823680" y="686160"/>
            <a:ext cx="960480" cy="960480"/>
            <a:chOff x="823680" y="686160"/>
            <a:chExt cx="960480" cy="960480"/>
          </a:xfrm>
        </p:grpSpPr>
        <p:sp>
          <p:nvSpPr>
            <p:cNvPr id="52" name="Freeform 3"/>
            <p:cNvSpPr/>
            <p:nvPr/>
          </p:nvSpPr>
          <p:spPr>
            <a:xfrm>
              <a:off x="823680" y="686160"/>
              <a:ext cx="960480" cy="960480"/>
            </a:xfrm>
            <a:custGeom>
              <a:avLst/>
              <a:gdLst>
                <a:gd name="textAreaLeft" fmla="*/ 0 w 960480"/>
                <a:gd name="textAreaRight" fmla="*/ 960840 w 960480"/>
                <a:gd name="textAreaTop" fmla="*/ 0 h 960480"/>
                <a:gd name="textAreaBottom" fmla="*/ 960840 h 960480"/>
              </a:gdLst>
              <a:ahLst/>
              <a:rect l="textAreaLeft" t="textAreaTop" r="textAreaRight" b="textAreaBottom"/>
              <a:pathLst>
                <a:path w="1281176" h="1281176">
                  <a:moveTo>
                    <a:pt x="0" y="640588"/>
                  </a:moveTo>
                  <a:cubicBezTo>
                    <a:pt x="0" y="286766"/>
                    <a:pt x="286766" y="0"/>
                    <a:pt x="640588" y="0"/>
                  </a:cubicBezTo>
                  <a:cubicBezTo>
                    <a:pt x="994410" y="0"/>
                    <a:pt x="1281176" y="286766"/>
                    <a:pt x="1281176" y="640588"/>
                  </a:cubicBezTo>
                  <a:cubicBezTo>
                    <a:pt x="1281176" y="994410"/>
                    <a:pt x="994410" y="1281176"/>
                    <a:pt x="640588" y="1281176"/>
                  </a:cubicBezTo>
                  <a:cubicBezTo>
                    <a:pt x="286766" y="1281176"/>
                    <a:pt x="0" y="994410"/>
                    <a:pt x="0" y="640588"/>
                  </a:cubicBezTo>
                  <a:close/>
                </a:path>
              </a:pathLst>
            </a:custGeom>
            <a:solidFill>
              <a:srgbClr val="14254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53" name="Group 4"/>
          <p:cNvGrpSpPr/>
          <p:nvPr/>
        </p:nvGrpSpPr>
        <p:grpSpPr>
          <a:xfrm>
            <a:off x="823680" y="686160"/>
            <a:ext cx="960480" cy="960480"/>
            <a:chOff x="823680" y="686160"/>
            <a:chExt cx="960480" cy="960480"/>
          </a:xfrm>
        </p:grpSpPr>
        <p:sp>
          <p:nvSpPr>
            <p:cNvPr id="54" name="Freeform 5"/>
            <p:cNvSpPr/>
            <p:nvPr/>
          </p:nvSpPr>
          <p:spPr>
            <a:xfrm>
              <a:off x="823680" y="686160"/>
              <a:ext cx="960480" cy="960480"/>
            </a:xfrm>
            <a:custGeom>
              <a:avLst/>
              <a:gdLst>
                <a:gd name="textAreaLeft" fmla="*/ 0 w 960480"/>
                <a:gd name="textAreaRight" fmla="*/ 960840 w 960480"/>
                <a:gd name="textAreaTop" fmla="*/ 0 h 960480"/>
                <a:gd name="textAreaBottom" fmla="*/ 960840 h 960480"/>
              </a:gdLst>
              <a:ahLst/>
              <a:rect l="textAreaLeft" t="textAreaTop" r="textAreaRight" b="textAreaBottom"/>
              <a:pathLst>
                <a:path w="1281161" h="1281159">
                  <a:moveTo>
                    <a:pt x="0" y="0"/>
                  </a:moveTo>
                  <a:lnTo>
                    <a:pt x="1281161" y="0"/>
                  </a:lnTo>
                  <a:lnTo>
                    <a:pt x="1281161" y="1281159"/>
                  </a:lnTo>
                  <a:lnTo>
                    <a:pt x="0" y="1281159"/>
                  </a:lnTo>
                  <a:close/>
                </a:path>
              </a:pathLst>
            </a:custGeom>
            <a:blipFill rotWithShape="0">
              <a:blip r:embed="rId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" name="TextBox 6"/>
            <p:cNvSpPr/>
            <p:nvPr/>
          </p:nvSpPr>
          <p:spPr>
            <a:xfrm>
              <a:off x="823680" y="686160"/>
              <a:ext cx="960480" cy="960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ts val="3963"/>
                </a:lnSpc>
              </a:pPr>
              <a:r>
                <a:rPr b="1" lang="en-US" sz="3300" spc="-1" strike="noStrike">
                  <a:solidFill>
                    <a:srgbClr val="ffffff"/>
                  </a:solidFill>
                  <a:latin typeface="Georgia Bold"/>
                  <a:ea typeface="Georgia Bold"/>
                </a:rPr>
                <a:t>00</a:t>
              </a:r>
              <a:endParaRPr b="0" lang="es-ES" sz="33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6" name="Group 7"/>
          <p:cNvGrpSpPr/>
          <p:nvPr/>
        </p:nvGrpSpPr>
        <p:grpSpPr>
          <a:xfrm>
            <a:off x="2058840" y="624240"/>
            <a:ext cx="14000760" cy="1077480"/>
            <a:chOff x="2058840" y="624240"/>
            <a:chExt cx="14000760" cy="1077480"/>
          </a:xfrm>
        </p:grpSpPr>
        <p:sp>
          <p:nvSpPr>
            <p:cNvPr id="57" name="Freeform 8"/>
            <p:cNvSpPr/>
            <p:nvPr/>
          </p:nvSpPr>
          <p:spPr>
            <a:xfrm>
              <a:off x="2058840" y="631440"/>
              <a:ext cx="14000760" cy="1070280"/>
            </a:xfrm>
            <a:custGeom>
              <a:avLst/>
              <a:gdLst>
                <a:gd name="textAreaLeft" fmla="*/ 0 w 14000760"/>
                <a:gd name="textAreaRight" fmla="*/ 14001120 w 14000760"/>
                <a:gd name="textAreaTop" fmla="*/ 0 h 1070280"/>
                <a:gd name="textAreaBottom" fmla="*/ 1070640 h 1070280"/>
              </a:gdLst>
              <a:ahLst/>
              <a:rect l="textAreaLeft" t="textAreaTop" r="textAreaRight" b="textAreaBottom"/>
              <a:pathLst>
                <a:path w="18668344" h="1427579">
                  <a:moveTo>
                    <a:pt x="0" y="0"/>
                  </a:moveTo>
                  <a:lnTo>
                    <a:pt x="18668344" y="0"/>
                  </a:lnTo>
                  <a:lnTo>
                    <a:pt x="18668344" y="1427579"/>
                  </a:lnTo>
                  <a:lnTo>
                    <a:pt x="0" y="1427579"/>
                  </a:lnTo>
                  <a:close/>
                </a:path>
              </a:pathLst>
            </a:custGeom>
            <a:blipFill rotWithShape="0">
              <a:blip r:embed="rId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8" name="TextBox 9"/>
            <p:cNvSpPr/>
            <p:nvPr/>
          </p:nvSpPr>
          <p:spPr>
            <a:xfrm>
              <a:off x="2058840" y="624240"/>
              <a:ext cx="14000760" cy="1077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6123"/>
                </a:lnSpc>
              </a:pPr>
              <a:r>
                <a:rPr b="1" lang="en-US" sz="5110" spc="-1" strike="noStrike">
                  <a:solidFill>
                    <a:srgbClr val="14254a"/>
                  </a:solidFill>
                  <a:latin typeface="Georgia Bold"/>
                  <a:ea typeface="Georgia Bold"/>
                </a:rPr>
                <a:t>Outline</a:t>
              </a:r>
              <a:endParaRPr b="0" lang="es-ES" sz="511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9" name="Group 10"/>
          <p:cNvGrpSpPr/>
          <p:nvPr/>
        </p:nvGrpSpPr>
        <p:grpSpPr>
          <a:xfrm>
            <a:off x="823680" y="1921680"/>
            <a:ext cx="16650360" cy="29880"/>
            <a:chOff x="823680" y="1921680"/>
            <a:chExt cx="16650360" cy="29880"/>
          </a:xfrm>
        </p:grpSpPr>
        <p:sp>
          <p:nvSpPr>
            <p:cNvPr id="60" name="Freeform 11"/>
            <p:cNvSpPr/>
            <p:nvPr/>
          </p:nvSpPr>
          <p:spPr>
            <a:xfrm>
              <a:off x="823680" y="1921680"/>
              <a:ext cx="16650360" cy="29880"/>
            </a:xfrm>
            <a:custGeom>
              <a:avLst/>
              <a:gdLst>
                <a:gd name="textAreaLeft" fmla="*/ 0 w 16650360"/>
                <a:gd name="textAreaRight" fmla="*/ 16650720 w 16650360"/>
                <a:gd name="textAreaTop" fmla="*/ 0 h 29880"/>
                <a:gd name="textAreaBottom" fmla="*/ 30240 h 29880"/>
              </a:gdLst>
              <a:ahLst/>
              <a:rect l="textAreaLeft" t="textAreaTop" r="textAreaRight" b="textAreaBottom"/>
              <a:pathLst>
                <a:path w="22200743" h="40259">
                  <a:moveTo>
                    <a:pt x="0" y="0"/>
                  </a:moveTo>
                  <a:lnTo>
                    <a:pt x="22200743" y="0"/>
                  </a:lnTo>
                  <a:lnTo>
                    <a:pt x="22200743" y="40259"/>
                  </a:lnTo>
                  <a:lnTo>
                    <a:pt x="0" y="40259"/>
                  </a:lnTo>
                  <a:close/>
                </a:path>
              </a:pathLst>
            </a:custGeom>
            <a:solidFill>
              <a:srgbClr val="d9e1e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760" bIns="-1476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1" name="Group 12"/>
          <p:cNvGrpSpPr/>
          <p:nvPr/>
        </p:nvGrpSpPr>
        <p:grpSpPr>
          <a:xfrm>
            <a:off x="813960" y="3353400"/>
            <a:ext cx="2654280" cy="3450240"/>
            <a:chOff x="813960" y="3353400"/>
            <a:chExt cx="2654280" cy="3450240"/>
          </a:xfrm>
        </p:grpSpPr>
        <p:sp>
          <p:nvSpPr>
            <p:cNvPr id="62" name="Freeform 13"/>
            <p:cNvSpPr/>
            <p:nvPr/>
          </p:nvSpPr>
          <p:spPr>
            <a:xfrm>
              <a:off x="813960" y="3353400"/>
              <a:ext cx="2654280" cy="3450240"/>
            </a:xfrm>
            <a:custGeom>
              <a:avLst/>
              <a:gdLst>
                <a:gd name="textAreaLeft" fmla="*/ 0 w 2654280"/>
                <a:gd name="textAreaRight" fmla="*/ 2654640 w 2654280"/>
                <a:gd name="textAreaTop" fmla="*/ 0 h 3450240"/>
                <a:gd name="textAreaBottom" fmla="*/ 3450600 h 3450240"/>
              </a:gdLst>
              <a:ahLst/>
              <a:rect l="textAreaLeft" t="textAreaTop" r="textAreaRight" b="textAreaBottom"/>
              <a:pathLst>
                <a:path w="3539490" h="4600956">
                  <a:moveTo>
                    <a:pt x="0" y="0"/>
                  </a:moveTo>
                  <a:lnTo>
                    <a:pt x="3539490" y="0"/>
                  </a:lnTo>
                  <a:lnTo>
                    <a:pt x="3539490" y="4600956"/>
                  </a:lnTo>
                  <a:lnTo>
                    <a:pt x="0" y="4600956"/>
                  </a:lnTo>
                  <a:close/>
                </a:path>
              </a:pathLst>
            </a:custGeom>
            <a:solidFill>
              <a:srgbClr val="f7f9fc"/>
            </a:solidFill>
            <a:ln cap="sq" w="19065">
              <a:solidFill>
                <a:srgbClr val="d9e1e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3" name="Group 14"/>
          <p:cNvGrpSpPr/>
          <p:nvPr/>
        </p:nvGrpSpPr>
        <p:grpSpPr>
          <a:xfrm>
            <a:off x="823680" y="3363120"/>
            <a:ext cx="136800" cy="3431160"/>
            <a:chOff x="823680" y="3363120"/>
            <a:chExt cx="136800" cy="3431160"/>
          </a:xfrm>
        </p:grpSpPr>
        <p:sp>
          <p:nvSpPr>
            <p:cNvPr id="64" name="Freeform 15"/>
            <p:cNvSpPr/>
            <p:nvPr/>
          </p:nvSpPr>
          <p:spPr>
            <a:xfrm>
              <a:off x="823680" y="3363120"/>
              <a:ext cx="136800" cy="3431160"/>
            </a:xfrm>
            <a:custGeom>
              <a:avLst/>
              <a:gdLst>
                <a:gd name="textAreaLeft" fmla="*/ 0 w 136800"/>
                <a:gd name="textAreaRight" fmla="*/ 137160 w 136800"/>
                <a:gd name="textAreaTop" fmla="*/ 0 h 3431160"/>
                <a:gd name="textAreaBottom" fmla="*/ 3431520 h 3431160"/>
              </a:gdLst>
              <a:ahLst/>
              <a:rect l="textAreaLeft" t="textAreaTop" r="textAreaRight" b="textAreaBottom"/>
              <a:pathLst>
                <a:path w="183007" h="4575556">
                  <a:moveTo>
                    <a:pt x="0" y="0"/>
                  </a:moveTo>
                  <a:lnTo>
                    <a:pt x="183007" y="0"/>
                  </a:lnTo>
                  <a:lnTo>
                    <a:pt x="183007" y="4575556"/>
                  </a:lnTo>
                  <a:lnTo>
                    <a:pt x="0" y="4575556"/>
                  </a:lnTo>
                  <a:close/>
                </a:path>
              </a:pathLst>
            </a:custGeom>
            <a:solidFill>
              <a:srgbClr val="0e22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65" name="Group 16"/>
          <p:cNvGrpSpPr/>
          <p:nvPr/>
        </p:nvGrpSpPr>
        <p:grpSpPr>
          <a:xfrm>
            <a:off x="1647360" y="3912120"/>
            <a:ext cx="987840" cy="987840"/>
            <a:chOff x="1647360" y="3912120"/>
            <a:chExt cx="987840" cy="987840"/>
          </a:xfrm>
        </p:grpSpPr>
        <p:sp>
          <p:nvSpPr>
            <p:cNvPr id="66" name="Freeform 17"/>
            <p:cNvSpPr/>
            <p:nvPr/>
          </p:nvSpPr>
          <p:spPr>
            <a:xfrm>
              <a:off x="1647360" y="3912120"/>
              <a:ext cx="987840" cy="987840"/>
            </a:xfrm>
            <a:custGeom>
              <a:avLst/>
              <a:gdLst>
                <a:gd name="textAreaLeft" fmla="*/ 0 w 987840"/>
                <a:gd name="textAreaRight" fmla="*/ 988200 w 987840"/>
                <a:gd name="textAreaTop" fmla="*/ 0 h 987840"/>
                <a:gd name="textAreaBottom" fmla="*/ 988200 h 987840"/>
              </a:gdLst>
              <a:ahLst/>
              <a:rect l="textAreaLeft" t="textAreaTop" r="textAreaRight" b="textAreaBottom"/>
              <a:pathLst>
                <a:path w="1317752" h="1317752">
                  <a:moveTo>
                    <a:pt x="0" y="658876"/>
                  </a:moveTo>
                  <a:cubicBezTo>
                    <a:pt x="0" y="295021"/>
                    <a:pt x="295021" y="0"/>
                    <a:pt x="658876" y="0"/>
                  </a:cubicBezTo>
                  <a:cubicBezTo>
                    <a:pt x="1022731" y="0"/>
                    <a:pt x="1317752" y="295021"/>
                    <a:pt x="1317752" y="658876"/>
                  </a:cubicBezTo>
                  <a:cubicBezTo>
                    <a:pt x="1317752" y="1022731"/>
                    <a:pt x="1022731" y="1317752"/>
                    <a:pt x="658876" y="1317752"/>
                  </a:cubicBezTo>
                  <a:cubicBezTo>
                    <a:pt x="295021" y="1317752"/>
                    <a:pt x="0" y="1022731"/>
                    <a:pt x="0" y="658876"/>
                  </a:cubicBezTo>
                  <a:close/>
                </a:path>
              </a:pathLst>
            </a:custGeom>
            <a:solidFill>
              <a:srgbClr val="14254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67" name="Group 18"/>
          <p:cNvGrpSpPr/>
          <p:nvPr/>
        </p:nvGrpSpPr>
        <p:grpSpPr>
          <a:xfrm>
            <a:off x="1647360" y="3904920"/>
            <a:ext cx="987840" cy="995040"/>
            <a:chOff x="1647360" y="3904920"/>
            <a:chExt cx="987840" cy="995040"/>
          </a:xfrm>
        </p:grpSpPr>
        <p:sp>
          <p:nvSpPr>
            <p:cNvPr id="68" name="Freeform 19"/>
            <p:cNvSpPr/>
            <p:nvPr/>
          </p:nvSpPr>
          <p:spPr>
            <a:xfrm>
              <a:off x="1647360" y="3912120"/>
              <a:ext cx="987840" cy="987840"/>
            </a:xfrm>
            <a:custGeom>
              <a:avLst/>
              <a:gdLst>
                <a:gd name="textAreaLeft" fmla="*/ 0 w 987840"/>
                <a:gd name="textAreaRight" fmla="*/ 988200 w 987840"/>
                <a:gd name="textAreaTop" fmla="*/ 0 h 987840"/>
                <a:gd name="textAreaBottom" fmla="*/ 988200 h 987840"/>
              </a:gdLst>
              <a:ahLst/>
              <a:rect l="textAreaLeft" t="textAreaTop" r="textAreaRight" b="textAreaBottom"/>
              <a:pathLst>
                <a:path w="1317765" h="1317765">
                  <a:moveTo>
                    <a:pt x="0" y="0"/>
                  </a:moveTo>
                  <a:lnTo>
                    <a:pt x="1317765" y="0"/>
                  </a:lnTo>
                  <a:lnTo>
                    <a:pt x="1317765" y="1317765"/>
                  </a:lnTo>
                  <a:lnTo>
                    <a:pt x="0" y="1317765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9" name="TextBox 20"/>
            <p:cNvSpPr/>
            <p:nvPr/>
          </p:nvSpPr>
          <p:spPr>
            <a:xfrm>
              <a:off x="1647360" y="3904920"/>
              <a:ext cx="987840" cy="99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ts val="4323"/>
                </a:lnSpc>
              </a:pPr>
              <a:r>
                <a:rPr b="1" lang="en-US" sz="3600" spc="-1" strike="noStrike">
                  <a:solidFill>
                    <a:srgbClr val="ffffff"/>
                  </a:solidFill>
                  <a:latin typeface="Georgia Bold"/>
                  <a:ea typeface="Georgia Bold"/>
                </a:rPr>
                <a:t>1</a:t>
              </a:r>
              <a:endParaRPr b="0" lang="es-ES" sz="36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70" name="TextBox 21"/>
          <p:cNvSpPr/>
          <p:nvPr/>
        </p:nvSpPr>
        <p:spPr>
          <a:xfrm>
            <a:off x="960840" y="5196960"/>
            <a:ext cx="2360520" cy="41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3243"/>
              </a:lnSpc>
            </a:pPr>
            <a:r>
              <a:rPr b="1" lang="en-US" sz="2700" spc="-1" strike="noStrike">
                <a:solidFill>
                  <a:srgbClr val="14254a"/>
                </a:solidFill>
                <a:latin typeface="Georgia Bold"/>
                <a:ea typeface="Georgia Bold"/>
              </a:rPr>
              <a:t>Problem</a:t>
            </a:r>
            <a:endParaRPr b="0" lang="es-ES" sz="27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1" name="Group 22"/>
          <p:cNvGrpSpPr/>
          <p:nvPr/>
        </p:nvGrpSpPr>
        <p:grpSpPr>
          <a:xfrm>
            <a:off x="3531960" y="3353400"/>
            <a:ext cx="2654280" cy="3450240"/>
            <a:chOff x="3531960" y="3353400"/>
            <a:chExt cx="2654280" cy="3450240"/>
          </a:xfrm>
        </p:grpSpPr>
        <p:sp>
          <p:nvSpPr>
            <p:cNvPr id="72" name="Freeform 23"/>
            <p:cNvSpPr/>
            <p:nvPr/>
          </p:nvSpPr>
          <p:spPr>
            <a:xfrm>
              <a:off x="3531960" y="3353400"/>
              <a:ext cx="2654280" cy="3450240"/>
            </a:xfrm>
            <a:custGeom>
              <a:avLst/>
              <a:gdLst>
                <a:gd name="textAreaLeft" fmla="*/ 0 w 2654280"/>
                <a:gd name="textAreaRight" fmla="*/ 2654640 w 2654280"/>
                <a:gd name="textAreaTop" fmla="*/ 0 h 3450240"/>
                <a:gd name="textAreaBottom" fmla="*/ 3450600 h 3450240"/>
              </a:gdLst>
              <a:ahLst/>
              <a:rect l="textAreaLeft" t="textAreaTop" r="textAreaRight" b="textAreaBottom"/>
              <a:pathLst>
                <a:path w="3539490" h="4600956">
                  <a:moveTo>
                    <a:pt x="0" y="0"/>
                  </a:moveTo>
                  <a:lnTo>
                    <a:pt x="3539490" y="0"/>
                  </a:lnTo>
                  <a:lnTo>
                    <a:pt x="3539490" y="4600956"/>
                  </a:lnTo>
                  <a:lnTo>
                    <a:pt x="0" y="4600956"/>
                  </a:lnTo>
                  <a:close/>
                </a:path>
              </a:pathLst>
            </a:custGeom>
            <a:solidFill>
              <a:srgbClr val="f7f9fc"/>
            </a:solidFill>
            <a:ln cap="sq" w="19065">
              <a:solidFill>
                <a:srgbClr val="d9e1e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3" name="Group 24"/>
          <p:cNvGrpSpPr/>
          <p:nvPr/>
        </p:nvGrpSpPr>
        <p:grpSpPr>
          <a:xfrm>
            <a:off x="3541320" y="3363120"/>
            <a:ext cx="136800" cy="3431160"/>
            <a:chOff x="3541320" y="3363120"/>
            <a:chExt cx="136800" cy="3431160"/>
          </a:xfrm>
        </p:grpSpPr>
        <p:sp>
          <p:nvSpPr>
            <p:cNvPr id="74" name="Freeform 25"/>
            <p:cNvSpPr/>
            <p:nvPr/>
          </p:nvSpPr>
          <p:spPr>
            <a:xfrm>
              <a:off x="3541320" y="3363120"/>
              <a:ext cx="136800" cy="3431160"/>
            </a:xfrm>
            <a:custGeom>
              <a:avLst/>
              <a:gdLst>
                <a:gd name="textAreaLeft" fmla="*/ 0 w 136800"/>
                <a:gd name="textAreaRight" fmla="*/ 137160 w 136800"/>
                <a:gd name="textAreaTop" fmla="*/ 0 h 3431160"/>
                <a:gd name="textAreaBottom" fmla="*/ 3431520 h 3431160"/>
              </a:gdLst>
              <a:ahLst/>
              <a:rect l="textAreaLeft" t="textAreaTop" r="textAreaRight" b="textAreaBottom"/>
              <a:pathLst>
                <a:path w="183007" h="4575556">
                  <a:moveTo>
                    <a:pt x="0" y="0"/>
                  </a:moveTo>
                  <a:lnTo>
                    <a:pt x="183007" y="0"/>
                  </a:lnTo>
                  <a:lnTo>
                    <a:pt x="183007" y="4575556"/>
                  </a:lnTo>
                  <a:lnTo>
                    <a:pt x="0" y="4575556"/>
                  </a:lnTo>
                  <a:close/>
                </a:path>
              </a:pathLst>
            </a:custGeom>
            <a:solidFill>
              <a:srgbClr val="0e22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75" name="Group 26"/>
          <p:cNvGrpSpPr/>
          <p:nvPr/>
        </p:nvGrpSpPr>
        <p:grpSpPr>
          <a:xfrm>
            <a:off x="4365000" y="3912120"/>
            <a:ext cx="987840" cy="987840"/>
            <a:chOff x="4365000" y="3912120"/>
            <a:chExt cx="987840" cy="987840"/>
          </a:xfrm>
        </p:grpSpPr>
        <p:sp>
          <p:nvSpPr>
            <p:cNvPr id="76" name="Freeform 27"/>
            <p:cNvSpPr/>
            <p:nvPr/>
          </p:nvSpPr>
          <p:spPr>
            <a:xfrm>
              <a:off x="4365000" y="3912120"/>
              <a:ext cx="987840" cy="987840"/>
            </a:xfrm>
            <a:custGeom>
              <a:avLst/>
              <a:gdLst>
                <a:gd name="textAreaLeft" fmla="*/ 0 w 987840"/>
                <a:gd name="textAreaRight" fmla="*/ 988200 w 987840"/>
                <a:gd name="textAreaTop" fmla="*/ 0 h 987840"/>
                <a:gd name="textAreaBottom" fmla="*/ 988200 h 987840"/>
              </a:gdLst>
              <a:ahLst/>
              <a:rect l="textAreaLeft" t="textAreaTop" r="textAreaRight" b="textAreaBottom"/>
              <a:pathLst>
                <a:path w="1317752" h="1317752">
                  <a:moveTo>
                    <a:pt x="0" y="658876"/>
                  </a:moveTo>
                  <a:cubicBezTo>
                    <a:pt x="0" y="295021"/>
                    <a:pt x="295021" y="0"/>
                    <a:pt x="658876" y="0"/>
                  </a:cubicBezTo>
                  <a:cubicBezTo>
                    <a:pt x="1022731" y="0"/>
                    <a:pt x="1317752" y="295021"/>
                    <a:pt x="1317752" y="658876"/>
                  </a:cubicBezTo>
                  <a:cubicBezTo>
                    <a:pt x="1317752" y="1022731"/>
                    <a:pt x="1022731" y="1317752"/>
                    <a:pt x="658876" y="1317752"/>
                  </a:cubicBezTo>
                  <a:cubicBezTo>
                    <a:pt x="295021" y="1317752"/>
                    <a:pt x="0" y="1022731"/>
                    <a:pt x="0" y="658876"/>
                  </a:cubicBezTo>
                  <a:close/>
                </a:path>
              </a:pathLst>
            </a:custGeom>
            <a:solidFill>
              <a:srgbClr val="14254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77" name="Group 28"/>
          <p:cNvGrpSpPr/>
          <p:nvPr/>
        </p:nvGrpSpPr>
        <p:grpSpPr>
          <a:xfrm>
            <a:off x="4365000" y="3904920"/>
            <a:ext cx="987840" cy="995040"/>
            <a:chOff x="4365000" y="3904920"/>
            <a:chExt cx="987840" cy="995040"/>
          </a:xfrm>
        </p:grpSpPr>
        <p:sp>
          <p:nvSpPr>
            <p:cNvPr id="78" name="Freeform 29"/>
            <p:cNvSpPr/>
            <p:nvPr/>
          </p:nvSpPr>
          <p:spPr>
            <a:xfrm>
              <a:off x="4365000" y="3912120"/>
              <a:ext cx="987840" cy="987840"/>
            </a:xfrm>
            <a:custGeom>
              <a:avLst/>
              <a:gdLst>
                <a:gd name="textAreaLeft" fmla="*/ 0 w 987840"/>
                <a:gd name="textAreaRight" fmla="*/ 988200 w 987840"/>
                <a:gd name="textAreaTop" fmla="*/ 0 h 987840"/>
                <a:gd name="textAreaBottom" fmla="*/ 988200 h 987840"/>
              </a:gdLst>
              <a:ahLst/>
              <a:rect l="textAreaLeft" t="textAreaTop" r="textAreaRight" b="textAreaBottom"/>
              <a:pathLst>
                <a:path w="1317765" h="1317765">
                  <a:moveTo>
                    <a:pt x="0" y="0"/>
                  </a:moveTo>
                  <a:lnTo>
                    <a:pt x="1317765" y="0"/>
                  </a:lnTo>
                  <a:lnTo>
                    <a:pt x="1317765" y="1317765"/>
                  </a:lnTo>
                  <a:lnTo>
                    <a:pt x="0" y="1317765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9" name="TextBox 30"/>
            <p:cNvSpPr/>
            <p:nvPr/>
          </p:nvSpPr>
          <p:spPr>
            <a:xfrm>
              <a:off x="4365000" y="3904920"/>
              <a:ext cx="987840" cy="99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ts val="4323"/>
                </a:lnSpc>
              </a:pPr>
              <a:r>
                <a:rPr b="1" lang="en-US" sz="3600" spc="-1" strike="noStrike">
                  <a:solidFill>
                    <a:srgbClr val="ffffff"/>
                  </a:solidFill>
                  <a:latin typeface="Georgia Bold"/>
                  <a:ea typeface="Georgia Bold"/>
                </a:rPr>
                <a:t>2</a:t>
              </a:r>
              <a:endParaRPr b="0" lang="es-ES" sz="36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80" name="TextBox 31"/>
          <p:cNvSpPr/>
          <p:nvPr/>
        </p:nvSpPr>
        <p:spPr>
          <a:xfrm>
            <a:off x="3678840" y="5196960"/>
            <a:ext cx="2360520" cy="82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3243"/>
              </a:lnSpc>
            </a:pPr>
            <a:r>
              <a:rPr b="1" lang="en-US" sz="2700" spc="-1" strike="noStrike">
                <a:solidFill>
                  <a:srgbClr val="14254a"/>
                </a:solidFill>
                <a:latin typeface="Georgia Bold"/>
                <a:ea typeface="Georgia Bold"/>
              </a:rPr>
              <a:t>State of</a:t>
            </a:r>
            <a:endParaRPr b="0" lang="es-ES" sz="27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ts val="3243"/>
              </a:lnSpc>
            </a:pPr>
            <a:r>
              <a:rPr b="1" lang="en-US" sz="2700" spc="-1" strike="noStrike">
                <a:solidFill>
                  <a:srgbClr val="14254a"/>
                </a:solidFill>
                <a:latin typeface="Georgia Bold"/>
                <a:ea typeface="Georgia Bold"/>
              </a:rPr>
              <a:t>the Art</a:t>
            </a:r>
            <a:endParaRPr b="0" lang="es-ES" sz="27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81" name="Group 32"/>
          <p:cNvGrpSpPr/>
          <p:nvPr/>
        </p:nvGrpSpPr>
        <p:grpSpPr>
          <a:xfrm>
            <a:off x="6249960" y="3353400"/>
            <a:ext cx="2654280" cy="3450240"/>
            <a:chOff x="6249960" y="3353400"/>
            <a:chExt cx="2654280" cy="3450240"/>
          </a:xfrm>
        </p:grpSpPr>
        <p:sp>
          <p:nvSpPr>
            <p:cNvPr id="82" name="Freeform 33"/>
            <p:cNvSpPr/>
            <p:nvPr/>
          </p:nvSpPr>
          <p:spPr>
            <a:xfrm>
              <a:off x="6249960" y="3353400"/>
              <a:ext cx="2654280" cy="3450240"/>
            </a:xfrm>
            <a:custGeom>
              <a:avLst/>
              <a:gdLst>
                <a:gd name="textAreaLeft" fmla="*/ 0 w 2654280"/>
                <a:gd name="textAreaRight" fmla="*/ 2654640 w 2654280"/>
                <a:gd name="textAreaTop" fmla="*/ 0 h 3450240"/>
                <a:gd name="textAreaBottom" fmla="*/ 3450600 h 3450240"/>
              </a:gdLst>
              <a:ahLst/>
              <a:rect l="textAreaLeft" t="textAreaTop" r="textAreaRight" b="textAreaBottom"/>
              <a:pathLst>
                <a:path w="3539490" h="4600956">
                  <a:moveTo>
                    <a:pt x="0" y="0"/>
                  </a:moveTo>
                  <a:lnTo>
                    <a:pt x="3539490" y="0"/>
                  </a:lnTo>
                  <a:lnTo>
                    <a:pt x="3539490" y="4600956"/>
                  </a:lnTo>
                  <a:lnTo>
                    <a:pt x="0" y="4600956"/>
                  </a:lnTo>
                  <a:close/>
                </a:path>
              </a:pathLst>
            </a:custGeom>
            <a:solidFill>
              <a:srgbClr val="f7f9fc"/>
            </a:solidFill>
            <a:ln cap="sq" w="19065">
              <a:solidFill>
                <a:srgbClr val="d9e1e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3" name="Group 34"/>
          <p:cNvGrpSpPr/>
          <p:nvPr/>
        </p:nvGrpSpPr>
        <p:grpSpPr>
          <a:xfrm>
            <a:off x="6259320" y="3363120"/>
            <a:ext cx="136800" cy="3431160"/>
            <a:chOff x="6259320" y="3363120"/>
            <a:chExt cx="136800" cy="3431160"/>
          </a:xfrm>
        </p:grpSpPr>
        <p:sp>
          <p:nvSpPr>
            <p:cNvPr id="84" name="Freeform 35"/>
            <p:cNvSpPr/>
            <p:nvPr/>
          </p:nvSpPr>
          <p:spPr>
            <a:xfrm>
              <a:off x="6259320" y="3363120"/>
              <a:ext cx="136800" cy="3431160"/>
            </a:xfrm>
            <a:custGeom>
              <a:avLst/>
              <a:gdLst>
                <a:gd name="textAreaLeft" fmla="*/ 0 w 136800"/>
                <a:gd name="textAreaRight" fmla="*/ 137160 w 136800"/>
                <a:gd name="textAreaTop" fmla="*/ 0 h 3431160"/>
                <a:gd name="textAreaBottom" fmla="*/ 3431520 h 3431160"/>
              </a:gdLst>
              <a:ahLst/>
              <a:rect l="textAreaLeft" t="textAreaTop" r="textAreaRight" b="textAreaBottom"/>
              <a:pathLst>
                <a:path w="183007" h="4575556">
                  <a:moveTo>
                    <a:pt x="0" y="0"/>
                  </a:moveTo>
                  <a:lnTo>
                    <a:pt x="183007" y="0"/>
                  </a:lnTo>
                  <a:lnTo>
                    <a:pt x="183007" y="4575556"/>
                  </a:lnTo>
                  <a:lnTo>
                    <a:pt x="0" y="4575556"/>
                  </a:lnTo>
                  <a:close/>
                </a:path>
              </a:pathLst>
            </a:custGeom>
            <a:solidFill>
              <a:srgbClr val="0e22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85" name="Group 36"/>
          <p:cNvGrpSpPr/>
          <p:nvPr/>
        </p:nvGrpSpPr>
        <p:grpSpPr>
          <a:xfrm>
            <a:off x="7083000" y="3912120"/>
            <a:ext cx="987840" cy="987840"/>
            <a:chOff x="7083000" y="3912120"/>
            <a:chExt cx="987840" cy="987840"/>
          </a:xfrm>
        </p:grpSpPr>
        <p:sp>
          <p:nvSpPr>
            <p:cNvPr id="86" name="Freeform 37"/>
            <p:cNvSpPr/>
            <p:nvPr/>
          </p:nvSpPr>
          <p:spPr>
            <a:xfrm>
              <a:off x="7083000" y="3912120"/>
              <a:ext cx="987840" cy="987840"/>
            </a:xfrm>
            <a:custGeom>
              <a:avLst/>
              <a:gdLst>
                <a:gd name="textAreaLeft" fmla="*/ 0 w 987840"/>
                <a:gd name="textAreaRight" fmla="*/ 988200 w 987840"/>
                <a:gd name="textAreaTop" fmla="*/ 0 h 987840"/>
                <a:gd name="textAreaBottom" fmla="*/ 988200 h 987840"/>
              </a:gdLst>
              <a:ahLst/>
              <a:rect l="textAreaLeft" t="textAreaTop" r="textAreaRight" b="textAreaBottom"/>
              <a:pathLst>
                <a:path w="1317752" h="1317752">
                  <a:moveTo>
                    <a:pt x="0" y="658876"/>
                  </a:moveTo>
                  <a:cubicBezTo>
                    <a:pt x="0" y="295021"/>
                    <a:pt x="295021" y="0"/>
                    <a:pt x="658876" y="0"/>
                  </a:cubicBezTo>
                  <a:cubicBezTo>
                    <a:pt x="1022731" y="0"/>
                    <a:pt x="1317752" y="295021"/>
                    <a:pt x="1317752" y="658876"/>
                  </a:cubicBezTo>
                  <a:cubicBezTo>
                    <a:pt x="1317752" y="1022731"/>
                    <a:pt x="1022731" y="1317752"/>
                    <a:pt x="658876" y="1317752"/>
                  </a:cubicBezTo>
                  <a:cubicBezTo>
                    <a:pt x="295021" y="1317752"/>
                    <a:pt x="0" y="1022731"/>
                    <a:pt x="0" y="658876"/>
                  </a:cubicBezTo>
                  <a:close/>
                </a:path>
              </a:pathLst>
            </a:custGeom>
            <a:solidFill>
              <a:srgbClr val="14254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87" name="Group 38"/>
          <p:cNvGrpSpPr/>
          <p:nvPr/>
        </p:nvGrpSpPr>
        <p:grpSpPr>
          <a:xfrm>
            <a:off x="7083000" y="3904920"/>
            <a:ext cx="987840" cy="995040"/>
            <a:chOff x="7083000" y="3904920"/>
            <a:chExt cx="987840" cy="995040"/>
          </a:xfrm>
        </p:grpSpPr>
        <p:sp>
          <p:nvSpPr>
            <p:cNvPr id="88" name="Freeform 39"/>
            <p:cNvSpPr/>
            <p:nvPr/>
          </p:nvSpPr>
          <p:spPr>
            <a:xfrm>
              <a:off x="7083000" y="3912120"/>
              <a:ext cx="987840" cy="987840"/>
            </a:xfrm>
            <a:custGeom>
              <a:avLst/>
              <a:gdLst>
                <a:gd name="textAreaLeft" fmla="*/ 0 w 987840"/>
                <a:gd name="textAreaRight" fmla="*/ 988200 w 987840"/>
                <a:gd name="textAreaTop" fmla="*/ 0 h 987840"/>
                <a:gd name="textAreaBottom" fmla="*/ 988200 h 987840"/>
              </a:gdLst>
              <a:ahLst/>
              <a:rect l="textAreaLeft" t="textAreaTop" r="textAreaRight" b="textAreaBottom"/>
              <a:pathLst>
                <a:path w="1317765" h="1317765">
                  <a:moveTo>
                    <a:pt x="0" y="0"/>
                  </a:moveTo>
                  <a:lnTo>
                    <a:pt x="1317765" y="0"/>
                  </a:lnTo>
                  <a:lnTo>
                    <a:pt x="1317765" y="1317765"/>
                  </a:lnTo>
                  <a:lnTo>
                    <a:pt x="0" y="1317765"/>
                  </a:lnTo>
                  <a:close/>
                </a:path>
              </a:pathLst>
            </a:custGeom>
            <a:blipFill rotWithShape="0">
              <a:blip r:embed="rId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9" name="TextBox 40"/>
            <p:cNvSpPr/>
            <p:nvPr/>
          </p:nvSpPr>
          <p:spPr>
            <a:xfrm>
              <a:off x="7083000" y="3904920"/>
              <a:ext cx="987840" cy="99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ts val="4323"/>
                </a:lnSpc>
              </a:pPr>
              <a:r>
                <a:rPr b="1" lang="en-US" sz="3600" spc="-1" strike="noStrike">
                  <a:solidFill>
                    <a:srgbClr val="ffffff"/>
                  </a:solidFill>
                  <a:latin typeface="Georgia Bold"/>
                  <a:ea typeface="Georgia Bold"/>
                </a:rPr>
                <a:t>3</a:t>
              </a:r>
              <a:endParaRPr b="0" lang="es-ES" sz="36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90" name="TextBox 41"/>
          <p:cNvSpPr/>
          <p:nvPr/>
        </p:nvSpPr>
        <p:spPr>
          <a:xfrm>
            <a:off x="6396480" y="5196960"/>
            <a:ext cx="2360520" cy="41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3243"/>
              </a:lnSpc>
            </a:pPr>
            <a:r>
              <a:rPr b="1" lang="en-US" sz="2700" spc="-1" strike="noStrike">
                <a:solidFill>
                  <a:srgbClr val="14254a"/>
                </a:solidFill>
                <a:latin typeface="Georgia Bold"/>
                <a:ea typeface="Georgia Bold"/>
              </a:rPr>
              <a:t>Method</a:t>
            </a:r>
            <a:endParaRPr b="0" lang="es-ES" sz="27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91" name="Group 42"/>
          <p:cNvGrpSpPr/>
          <p:nvPr/>
        </p:nvGrpSpPr>
        <p:grpSpPr>
          <a:xfrm>
            <a:off x="8967600" y="3353400"/>
            <a:ext cx="2654280" cy="3450240"/>
            <a:chOff x="8967600" y="3353400"/>
            <a:chExt cx="2654280" cy="3450240"/>
          </a:xfrm>
        </p:grpSpPr>
        <p:sp>
          <p:nvSpPr>
            <p:cNvPr id="92" name="Freeform 43"/>
            <p:cNvSpPr/>
            <p:nvPr/>
          </p:nvSpPr>
          <p:spPr>
            <a:xfrm>
              <a:off x="8967600" y="3353400"/>
              <a:ext cx="2654280" cy="3450240"/>
            </a:xfrm>
            <a:custGeom>
              <a:avLst/>
              <a:gdLst>
                <a:gd name="textAreaLeft" fmla="*/ 0 w 2654280"/>
                <a:gd name="textAreaRight" fmla="*/ 2654640 w 2654280"/>
                <a:gd name="textAreaTop" fmla="*/ 0 h 3450240"/>
                <a:gd name="textAreaBottom" fmla="*/ 3450600 h 3450240"/>
              </a:gdLst>
              <a:ahLst/>
              <a:rect l="textAreaLeft" t="textAreaTop" r="textAreaRight" b="textAreaBottom"/>
              <a:pathLst>
                <a:path w="3539490" h="4600956">
                  <a:moveTo>
                    <a:pt x="0" y="0"/>
                  </a:moveTo>
                  <a:lnTo>
                    <a:pt x="3539490" y="0"/>
                  </a:lnTo>
                  <a:lnTo>
                    <a:pt x="3539490" y="4600956"/>
                  </a:lnTo>
                  <a:lnTo>
                    <a:pt x="0" y="4600956"/>
                  </a:lnTo>
                  <a:close/>
                </a:path>
              </a:pathLst>
            </a:custGeom>
            <a:solidFill>
              <a:srgbClr val="f7f9fc"/>
            </a:solidFill>
            <a:ln cap="sq" w="19065">
              <a:solidFill>
                <a:srgbClr val="d9e1e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3" name="Group 44"/>
          <p:cNvGrpSpPr/>
          <p:nvPr/>
        </p:nvGrpSpPr>
        <p:grpSpPr>
          <a:xfrm>
            <a:off x="8977320" y="3363120"/>
            <a:ext cx="136800" cy="3431160"/>
            <a:chOff x="8977320" y="3363120"/>
            <a:chExt cx="136800" cy="3431160"/>
          </a:xfrm>
        </p:grpSpPr>
        <p:sp>
          <p:nvSpPr>
            <p:cNvPr id="94" name="Freeform 45"/>
            <p:cNvSpPr/>
            <p:nvPr/>
          </p:nvSpPr>
          <p:spPr>
            <a:xfrm>
              <a:off x="8977320" y="3363120"/>
              <a:ext cx="136800" cy="3431160"/>
            </a:xfrm>
            <a:custGeom>
              <a:avLst/>
              <a:gdLst>
                <a:gd name="textAreaLeft" fmla="*/ 0 w 136800"/>
                <a:gd name="textAreaRight" fmla="*/ 137160 w 136800"/>
                <a:gd name="textAreaTop" fmla="*/ 0 h 3431160"/>
                <a:gd name="textAreaBottom" fmla="*/ 3431520 h 3431160"/>
              </a:gdLst>
              <a:ahLst/>
              <a:rect l="textAreaLeft" t="textAreaTop" r="textAreaRight" b="textAreaBottom"/>
              <a:pathLst>
                <a:path w="183007" h="4575556">
                  <a:moveTo>
                    <a:pt x="0" y="0"/>
                  </a:moveTo>
                  <a:lnTo>
                    <a:pt x="183007" y="0"/>
                  </a:lnTo>
                  <a:lnTo>
                    <a:pt x="183007" y="4575556"/>
                  </a:lnTo>
                  <a:lnTo>
                    <a:pt x="0" y="4575556"/>
                  </a:lnTo>
                  <a:close/>
                </a:path>
              </a:pathLst>
            </a:custGeom>
            <a:solidFill>
              <a:srgbClr val="0e22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95" name="Group 46"/>
          <p:cNvGrpSpPr/>
          <p:nvPr/>
        </p:nvGrpSpPr>
        <p:grpSpPr>
          <a:xfrm>
            <a:off x="9801000" y="3912120"/>
            <a:ext cx="987840" cy="987840"/>
            <a:chOff x="9801000" y="3912120"/>
            <a:chExt cx="987840" cy="987840"/>
          </a:xfrm>
        </p:grpSpPr>
        <p:sp>
          <p:nvSpPr>
            <p:cNvPr id="96" name="Freeform 47"/>
            <p:cNvSpPr/>
            <p:nvPr/>
          </p:nvSpPr>
          <p:spPr>
            <a:xfrm>
              <a:off x="9801000" y="3912120"/>
              <a:ext cx="987840" cy="987840"/>
            </a:xfrm>
            <a:custGeom>
              <a:avLst/>
              <a:gdLst>
                <a:gd name="textAreaLeft" fmla="*/ 0 w 987840"/>
                <a:gd name="textAreaRight" fmla="*/ 988200 w 987840"/>
                <a:gd name="textAreaTop" fmla="*/ 0 h 987840"/>
                <a:gd name="textAreaBottom" fmla="*/ 988200 h 987840"/>
              </a:gdLst>
              <a:ahLst/>
              <a:rect l="textAreaLeft" t="textAreaTop" r="textAreaRight" b="textAreaBottom"/>
              <a:pathLst>
                <a:path w="1317752" h="1317752">
                  <a:moveTo>
                    <a:pt x="0" y="658876"/>
                  </a:moveTo>
                  <a:cubicBezTo>
                    <a:pt x="0" y="295021"/>
                    <a:pt x="295021" y="0"/>
                    <a:pt x="658876" y="0"/>
                  </a:cubicBezTo>
                  <a:cubicBezTo>
                    <a:pt x="1022731" y="0"/>
                    <a:pt x="1317752" y="295021"/>
                    <a:pt x="1317752" y="658876"/>
                  </a:cubicBezTo>
                  <a:cubicBezTo>
                    <a:pt x="1317752" y="1022731"/>
                    <a:pt x="1022731" y="1317752"/>
                    <a:pt x="658876" y="1317752"/>
                  </a:cubicBezTo>
                  <a:cubicBezTo>
                    <a:pt x="295021" y="1317752"/>
                    <a:pt x="0" y="1022731"/>
                    <a:pt x="0" y="658876"/>
                  </a:cubicBezTo>
                  <a:close/>
                </a:path>
              </a:pathLst>
            </a:custGeom>
            <a:solidFill>
              <a:srgbClr val="14254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97" name="Group 48"/>
          <p:cNvGrpSpPr/>
          <p:nvPr/>
        </p:nvGrpSpPr>
        <p:grpSpPr>
          <a:xfrm>
            <a:off x="9801000" y="3904920"/>
            <a:ext cx="987840" cy="995040"/>
            <a:chOff x="9801000" y="3904920"/>
            <a:chExt cx="987840" cy="995040"/>
          </a:xfrm>
        </p:grpSpPr>
        <p:sp>
          <p:nvSpPr>
            <p:cNvPr id="98" name="Freeform 49"/>
            <p:cNvSpPr/>
            <p:nvPr/>
          </p:nvSpPr>
          <p:spPr>
            <a:xfrm>
              <a:off x="9801000" y="3912120"/>
              <a:ext cx="987840" cy="987840"/>
            </a:xfrm>
            <a:custGeom>
              <a:avLst/>
              <a:gdLst>
                <a:gd name="textAreaLeft" fmla="*/ 0 w 987840"/>
                <a:gd name="textAreaRight" fmla="*/ 988200 w 987840"/>
                <a:gd name="textAreaTop" fmla="*/ 0 h 987840"/>
                <a:gd name="textAreaBottom" fmla="*/ 988200 h 987840"/>
              </a:gdLst>
              <a:ahLst/>
              <a:rect l="textAreaLeft" t="textAreaTop" r="textAreaRight" b="textAreaBottom"/>
              <a:pathLst>
                <a:path w="1317765" h="1317765">
                  <a:moveTo>
                    <a:pt x="0" y="0"/>
                  </a:moveTo>
                  <a:lnTo>
                    <a:pt x="1317765" y="0"/>
                  </a:lnTo>
                  <a:lnTo>
                    <a:pt x="1317765" y="1317765"/>
                  </a:lnTo>
                  <a:lnTo>
                    <a:pt x="0" y="1317765"/>
                  </a:lnTo>
                  <a:close/>
                </a:path>
              </a:pathLst>
            </a:custGeom>
            <a:blipFill rotWithShape="0">
              <a:blip r:embed="rId6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9" name="TextBox 50"/>
            <p:cNvSpPr/>
            <p:nvPr/>
          </p:nvSpPr>
          <p:spPr>
            <a:xfrm>
              <a:off x="9801000" y="3904920"/>
              <a:ext cx="987840" cy="99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ts val="4323"/>
                </a:lnSpc>
              </a:pPr>
              <a:r>
                <a:rPr b="1" lang="en-US" sz="3600" spc="-1" strike="noStrike">
                  <a:solidFill>
                    <a:srgbClr val="ffffff"/>
                  </a:solidFill>
                  <a:latin typeface="Georgia Bold"/>
                  <a:ea typeface="Georgia Bold"/>
                </a:rPr>
                <a:t>4</a:t>
              </a:r>
              <a:endParaRPr b="0" lang="es-ES" sz="36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00" name="TextBox 51"/>
          <p:cNvSpPr/>
          <p:nvPr/>
        </p:nvSpPr>
        <p:spPr>
          <a:xfrm>
            <a:off x="9114480" y="5196960"/>
            <a:ext cx="2360520" cy="41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3243"/>
              </a:lnSpc>
            </a:pPr>
            <a:r>
              <a:rPr b="1" lang="en-US" sz="2700" spc="-1" strike="noStrike">
                <a:solidFill>
                  <a:srgbClr val="14254a"/>
                </a:solidFill>
                <a:latin typeface="Georgia Bold"/>
                <a:ea typeface="Georgia Bold"/>
              </a:rPr>
              <a:t>Dataset</a:t>
            </a:r>
            <a:endParaRPr b="0" lang="es-ES" sz="27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01" name="Group 52"/>
          <p:cNvGrpSpPr/>
          <p:nvPr/>
        </p:nvGrpSpPr>
        <p:grpSpPr>
          <a:xfrm>
            <a:off x="11685600" y="3353400"/>
            <a:ext cx="2654280" cy="3450240"/>
            <a:chOff x="11685600" y="3353400"/>
            <a:chExt cx="2654280" cy="3450240"/>
          </a:xfrm>
        </p:grpSpPr>
        <p:sp>
          <p:nvSpPr>
            <p:cNvPr id="102" name="Freeform 53"/>
            <p:cNvSpPr/>
            <p:nvPr/>
          </p:nvSpPr>
          <p:spPr>
            <a:xfrm>
              <a:off x="11685600" y="3353400"/>
              <a:ext cx="2654280" cy="3450240"/>
            </a:xfrm>
            <a:custGeom>
              <a:avLst/>
              <a:gdLst>
                <a:gd name="textAreaLeft" fmla="*/ 0 w 2654280"/>
                <a:gd name="textAreaRight" fmla="*/ 2654640 w 2654280"/>
                <a:gd name="textAreaTop" fmla="*/ 0 h 3450240"/>
                <a:gd name="textAreaBottom" fmla="*/ 3450600 h 3450240"/>
              </a:gdLst>
              <a:ahLst/>
              <a:rect l="textAreaLeft" t="textAreaTop" r="textAreaRight" b="textAreaBottom"/>
              <a:pathLst>
                <a:path w="3539490" h="4600956">
                  <a:moveTo>
                    <a:pt x="0" y="0"/>
                  </a:moveTo>
                  <a:lnTo>
                    <a:pt x="3539490" y="0"/>
                  </a:lnTo>
                  <a:lnTo>
                    <a:pt x="3539490" y="4600956"/>
                  </a:lnTo>
                  <a:lnTo>
                    <a:pt x="0" y="4600956"/>
                  </a:lnTo>
                  <a:close/>
                </a:path>
              </a:pathLst>
            </a:custGeom>
            <a:solidFill>
              <a:srgbClr val="f7f9fc"/>
            </a:solidFill>
            <a:ln cap="sq" w="19065">
              <a:solidFill>
                <a:srgbClr val="d9e1e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3" name="Group 54"/>
          <p:cNvGrpSpPr/>
          <p:nvPr/>
        </p:nvGrpSpPr>
        <p:grpSpPr>
          <a:xfrm>
            <a:off x="11695320" y="3363120"/>
            <a:ext cx="136800" cy="3431160"/>
            <a:chOff x="11695320" y="3363120"/>
            <a:chExt cx="136800" cy="3431160"/>
          </a:xfrm>
        </p:grpSpPr>
        <p:sp>
          <p:nvSpPr>
            <p:cNvPr id="104" name="Freeform 55"/>
            <p:cNvSpPr/>
            <p:nvPr/>
          </p:nvSpPr>
          <p:spPr>
            <a:xfrm>
              <a:off x="11695320" y="3363120"/>
              <a:ext cx="136800" cy="3431160"/>
            </a:xfrm>
            <a:custGeom>
              <a:avLst/>
              <a:gdLst>
                <a:gd name="textAreaLeft" fmla="*/ 0 w 136800"/>
                <a:gd name="textAreaRight" fmla="*/ 137160 w 136800"/>
                <a:gd name="textAreaTop" fmla="*/ 0 h 3431160"/>
                <a:gd name="textAreaBottom" fmla="*/ 3431520 h 3431160"/>
              </a:gdLst>
              <a:ahLst/>
              <a:rect l="textAreaLeft" t="textAreaTop" r="textAreaRight" b="textAreaBottom"/>
              <a:pathLst>
                <a:path w="183007" h="4575556">
                  <a:moveTo>
                    <a:pt x="0" y="0"/>
                  </a:moveTo>
                  <a:lnTo>
                    <a:pt x="183007" y="0"/>
                  </a:lnTo>
                  <a:lnTo>
                    <a:pt x="183007" y="4575556"/>
                  </a:lnTo>
                  <a:lnTo>
                    <a:pt x="0" y="4575556"/>
                  </a:lnTo>
                  <a:close/>
                </a:path>
              </a:pathLst>
            </a:custGeom>
            <a:solidFill>
              <a:srgbClr val="0e22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05" name="Group 56"/>
          <p:cNvGrpSpPr/>
          <p:nvPr/>
        </p:nvGrpSpPr>
        <p:grpSpPr>
          <a:xfrm>
            <a:off x="12518640" y="3912120"/>
            <a:ext cx="987840" cy="987840"/>
            <a:chOff x="12518640" y="3912120"/>
            <a:chExt cx="987840" cy="987840"/>
          </a:xfrm>
        </p:grpSpPr>
        <p:sp>
          <p:nvSpPr>
            <p:cNvPr id="106" name="Freeform 57"/>
            <p:cNvSpPr/>
            <p:nvPr/>
          </p:nvSpPr>
          <p:spPr>
            <a:xfrm>
              <a:off x="12518640" y="3912120"/>
              <a:ext cx="987840" cy="987840"/>
            </a:xfrm>
            <a:custGeom>
              <a:avLst/>
              <a:gdLst>
                <a:gd name="textAreaLeft" fmla="*/ 0 w 987840"/>
                <a:gd name="textAreaRight" fmla="*/ 988200 w 987840"/>
                <a:gd name="textAreaTop" fmla="*/ 0 h 987840"/>
                <a:gd name="textAreaBottom" fmla="*/ 988200 h 987840"/>
              </a:gdLst>
              <a:ahLst/>
              <a:rect l="textAreaLeft" t="textAreaTop" r="textAreaRight" b="textAreaBottom"/>
              <a:pathLst>
                <a:path w="1317752" h="1317752">
                  <a:moveTo>
                    <a:pt x="0" y="658876"/>
                  </a:moveTo>
                  <a:cubicBezTo>
                    <a:pt x="0" y="295021"/>
                    <a:pt x="295021" y="0"/>
                    <a:pt x="658876" y="0"/>
                  </a:cubicBezTo>
                  <a:cubicBezTo>
                    <a:pt x="1022731" y="0"/>
                    <a:pt x="1317752" y="295021"/>
                    <a:pt x="1317752" y="658876"/>
                  </a:cubicBezTo>
                  <a:cubicBezTo>
                    <a:pt x="1317752" y="1022731"/>
                    <a:pt x="1022731" y="1317752"/>
                    <a:pt x="658876" y="1317752"/>
                  </a:cubicBezTo>
                  <a:cubicBezTo>
                    <a:pt x="295021" y="1317752"/>
                    <a:pt x="0" y="1022731"/>
                    <a:pt x="0" y="658876"/>
                  </a:cubicBezTo>
                  <a:close/>
                </a:path>
              </a:pathLst>
            </a:custGeom>
            <a:solidFill>
              <a:srgbClr val="14254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07" name="Group 58"/>
          <p:cNvGrpSpPr/>
          <p:nvPr/>
        </p:nvGrpSpPr>
        <p:grpSpPr>
          <a:xfrm>
            <a:off x="12518640" y="3904920"/>
            <a:ext cx="987840" cy="995040"/>
            <a:chOff x="12518640" y="3904920"/>
            <a:chExt cx="987840" cy="995040"/>
          </a:xfrm>
        </p:grpSpPr>
        <p:sp>
          <p:nvSpPr>
            <p:cNvPr id="108" name="Freeform 59"/>
            <p:cNvSpPr/>
            <p:nvPr/>
          </p:nvSpPr>
          <p:spPr>
            <a:xfrm>
              <a:off x="12518640" y="3912120"/>
              <a:ext cx="987840" cy="987840"/>
            </a:xfrm>
            <a:custGeom>
              <a:avLst/>
              <a:gdLst>
                <a:gd name="textAreaLeft" fmla="*/ 0 w 987840"/>
                <a:gd name="textAreaRight" fmla="*/ 988200 w 987840"/>
                <a:gd name="textAreaTop" fmla="*/ 0 h 987840"/>
                <a:gd name="textAreaBottom" fmla="*/ 988200 h 987840"/>
              </a:gdLst>
              <a:ahLst/>
              <a:rect l="textAreaLeft" t="textAreaTop" r="textAreaRight" b="textAreaBottom"/>
              <a:pathLst>
                <a:path w="1317765" h="1317765">
                  <a:moveTo>
                    <a:pt x="0" y="0"/>
                  </a:moveTo>
                  <a:lnTo>
                    <a:pt x="1317765" y="0"/>
                  </a:lnTo>
                  <a:lnTo>
                    <a:pt x="1317765" y="1317765"/>
                  </a:lnTo>
                  <a:lnTo>
                    <a:pt x="0" y="1317765"/>
                  </a:lnTo>
                  <a:close/>
                </a:path>
              </a:pathLst>
            </a:custGeom>
            <a:blipFill rotWithShape="0">
              <a:blip r:embed="rId7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9" name="TextBox 60"/>
            <p:cNvSpPr/>
            <p:nvPr/>
          </p:nvSpPr>
          <p:spPr>
            <a:xfrm>
              <a:off x="12518640" y="3904920"/>
              <a:ext cx="987840" cy="99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ts val="4323"/>
                </a:lnSpc>
              </a:pPr>
              <a:r>
                <a:rPr b="1" lang="en-US" sz="3600" spc="-1" strike="noStrike">
                  <a:solidFill>
                    <a:srgbClr val="ffffff"/>
                  </a:solidFill>
                  <a:latin typeface="Georgia Bold"/>
                  <a:ea typeface="Georgia Bold"/>
                </a:rPr>
                <a:t>5</a:t>
              </a:r>
              <a:endParaRPr b="0" lang="es-ES" sz="36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10" name="TextBox 61"/>
          <p:cNvSpPr/>
          <p:nvPr/>
        </p:nvSpPr>
        <p:spPr>
          <a:xfrm>
            <a:off x="11832480" y="5196960"/>
            <a:ext cx="2360520" cy="41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3243"/>
              </a:lnSpc>
            </a:pPr>
            <a:r>
              <a:rPr b="1" lang="en-US" sz="2700" spc="-1" strike="noStrike">
                <a:solidFill>
                  <a:srgbClr val="14254a"/>
                </a:solidFill>
                <a:latin typeface="Georgia Bold"/>
                <a:ea typeface="Georgia Bold"/>
              </a:rPr>
              <a:t>Setup</a:t>
            </a:r>
            <a:endParaRPr b="0" lang="es-ES" sz="27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11" name="Group 62"/>
          <p:cNvGrpSpPr/>
          <p:nvPr/>
        </p:nvGrpSpPr>
        <p:grpSpPr>
          <a:xfrm>
            <a:off x="14403600" y="3353400"/>
            <a:ext cx="2654280" cy="3450240"/>
            <a:chOff x="14403600" y="3353400"/>
            <a:chExt cx="2654280" cy="3450240"/>
          </a:xfrm>
        </p:grpSpPr>
        <p:sp>
          <p:nvSpPr>
            <p:cNvPr id="112" name="Freeform 63"/>
            <p:cNvSpPr/>
            <p:nvPr/>
          </p:nvSpPr>
          <p:spPr>
            <a:xfrm>
              <a:off x="14403600" y="3353400"/>
              <a:ext cx="2654280" cy="3450240"/>
            </a:xfrm>
            <a:custGeom>
              <a:avLst/>
              <a:gdLst>
                <a:gd name="textAreaLeft" fmla="*/ 0 w 2654280"/>
                <a:gd name="textAreaRight" fmla="*/ 2654640 w 2654280"/>
                <a:gd name="textAreaTop" fmla="*/ 0 h 3450240"/>
                <a:gd name="textAreaBottom" fmla="*/ 3450600 h 3450240"/>
              </a:gdLst>
              <a:ahLst/>
              <a:rect l="textAreaLeft" t="textAreaTop" r="textAreaRight" b="textAreaBottom"/>
              <a:pathLst>
                <a:path w="3539490" h="4600956">
                  <a:moveTo>
                    <a:pt x="0" y="0"/>
                  </a:moveTo>
                  <a:lnTo>
                    <a:pt x="3539490" y="0"/>
                  </a:lnTo>
                  <a:lnTo>
                    <a:pt x="3539490" y="4600956"/>
                  </a:lnTo>
                  <a:lnTo>
                    <a:pt x="0" y="4600956"/>
                  </a:lnTo>
                  <a:close/>
                </a:path>
              </a:pathLst>
            </a:custGeom>
            <a:solidFill>
              <a:srgbClr val="f7f9fc"/>
            </a:solidFill>
            <a:ln cap="sq" w="19065">
              <a:solidFill>
                <a:srgbClr val="d9e1e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3" name="Group 64"/>
          <p:cNvGrpSpPr/>
          <p:nvPr/>
        </p:nvGrpSpPr>
        <p:grpSpPr>
          <a:xfrm>
            <a:off x="14412960" y="3363120"/>
            <a:ext cx="136800" cy="3431160"/>
            <a:chOff x="14412960" y="3363120"/>
            <a:chExt cx="136800" cy="3431160"/>
          </a:xfrm>
        </p:grpSpPr>
        <p:sp>
          <p:nvSpPr>
            <p:cNvPr id="114" name="Freeform 65"/>
            <p:cNvSpPr/>
            <p:nvPr/>
          </p:nvSpPr>
          <p:spPr>
            <a:xfrm>
              <a:off x="14412960" y="3363120"/>
              <a:ext cx="136800" cy="3431160"/>
            </a:xfrm>
            <a:custGeom>
              <a:avLst/>
              <a:gdLst>
                <a:gd name="textAreaLeft" fmla="*/ 0 w 136800"/>
                <a:gd name="textAreaRight" fmla="*/ 137160 w 136800"/>
                <a:gd name="textAreaTop" fmla="*/ 0 h 3431160"/>
                <a:gd name="textAreaBottom" fmla="*/ 3431520 h 3431160"/>
              </a:gdLst>
              <a:ahLst/>
              <a:rect l="textAreaLeft" t="textAreaTop" r="textAreaRight" b="textAreaBottom"/>
              <a:pathLst>
                <a:path w="183007" h="4575556">
                  <a:moveTo>
                    <a:pt x="0" y="0"/>
                  </a:moveTo>
                  <a:lnTo>
                    <a:pt x="183007" y="0"/>
                  </a:lnTo>
                  <a:lnTo>
                    <a:pt x="183007" y="4575556"/>
                  </a:lnTo>
                  <a:lnTo>
                    <a:pt x="0" y="4575556"/>
                  </a:lnTo>
                  <a:close/>
                </a:path>
              </a:pathLst>
            </a:custGeom>
            <a:solidFill>
              <a:srgbClr val="0e22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15" name="Group 66"/>
          <p:cNvGrpSpPr/>
          <p:nvPr/>
        </p:nvGrpSpPr>
        <p:grpSpPr>
          <a:xfrm>
            <a:off x="15236640" y="3912120"/>
            <a:ext cx="987840" cy="987840"/>
            <a:chOff x="15236640" y="3912120"/>
            <a:chExt cx="987840" cy="987840"/>
          </a:xfrm>
        </p:grpSpPr>
        <p:sp>
          <p:nvSpPr>
            <p:cNvPr id="116" name="Freeform 67"/>
            <p:cNvSpPr/>
            <p:nvPr/>
          </p:nvSpPr>
          <p:spPr>
            <a:xfrm>
              <a:off x="15236640" y="3912120"/>
              <a:ext cx="987840" cy="987840"/>
            </a:xfrm>
            <a:custGeom>
              <a:avLst/>
              <a:gdLst>
                <a:gd name="textAreaLeft" fmla="*/ 0 w 987840"/>
                <a:gd name="textAreaRight" fmla="*/ 988200 w 987840"/>
                <a:gd name="textAreaTop" fmla="*/ 0 h 987840"/>
                <a:gd name="textAreaBottom" fmla="*/ 988200 h 987840"/>
              </a:gdLst>
              <a:ahLst/>
              <a:rect l="textAreaLeft" t="textAreaTop" r="textAreaRight" b="textAreaBottom"/>
              <a:pathLst>
                <a:path w="1317752" h="1317752">
                  <a:moveTo>
                    <a:pt x="0" y="658876"/>
                  </a:moveTo>
                  <a:cubicBezTo>
                    <a:pt x="0" y="295021"/>
                    <a:pt x="295021" y="0"/>
                    <a:pt x="658876" y="0"/>
                  </a:cubicBezTo>
                  <a:cubicBezTo>
                    <a:pt x="1022731" y="0"/>
                    <a:pt x="1317752" y="295021"/>
                    <a:pt x="1317752" y="658876"/>
                  </a:cubicBezTo>
                  <a:cubicBezTo>
                    <a:pt x="1317752" y="1022731"/>
                    <a:pt x="1022731" y="1317752"/>
                    <a:pt x="658876" y="1317752"/>
                  </a:cubicBezTo>
                  <a:cubicBezTo>
                    <a:pt x="295021" y="1317752"/>
                    <a:pt x="0" y="1022731"/>
                    <a:pt x="0" y="658876"/>
                  </a:cubicBezTo>
                  <a:close/>
                </a:path>
              </a:pathLst>
            </a:custGeom>
            <a:solidFill>
              <a:srgbClr val="14254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17" name="Group 68"/>
          <p:cNvGrpSpPr/>
          <p:nvPr/>
        </p:nvGrpSpPr>
        <p:grpSpPr>
          <a:xfrm>
            <a:off x="15236640" y="3904920"/>
            <a:ext cx="987840" cy="995040"/>
            <a:chOff x="15236640" y="3904920"/>
            <a:chExt cx="987840" cy="995040"/>
          </a:xfrm>
        </p:grpSpPr>
        <p:sp>
          <p:nvSpPr>
            <p:cNvPr id="118" name="Freeform 69"/>
            <p:cNvSpPr/>
            <p:nvPr/>
          </p:nvSpPr>
          <p:spPr>
            <a:xfrm>
              <a:off x="15236640" y="3912120"/>
              <a:ext cx="987840" cy="987840"/>
            </a:xfrm>
            <a:custGeom>
              <a:avLst/>
              <a:gdLst>
                <a:gd name="textAreaLeft" fmla="*/ 0 w 987840"/>
                <a:gd name="textAreaRight" fmla="*/ 988200 w 987840"/>
                <a:gd name="textAreaTop" fmla="*/ 0 h 987840"/>
                <a:gd name="textAreaBottom" fmla="*/ 988200 h 987840"/>
              </a:gdLst>
              <a:ahLst/>
              <a:rect l="textAreaLeft" t="textAreaTop" r="textAreaRight" b="textAreaBottom"/>
              <a:pathLst>
                <a:path w="1317765" h="1317765">
                  <a:moveTo>
                    <a:pt x="0" y="0"/>
                  </a:moveTo>
                  <a:lnTo>
                    <a:pt x="1317765" y="0"/>
                  </a:lnTo>
                  <a:lnTo>
                    <a:pt x="1317765" y="1317765"/>
                  </a:lnTo>
                  <a:lnTo>
                    <a:pt x="0" y="1317765"/>
                  </a:lnTo>
                  <a:close/>
                </a:path>
              </a:pathLst>
            </a:custGeom>
            <a:blipFill rotWithShape="0">
              <a:blip r:embed="rId8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9" name="TextBox 70"/>
            <p:cNvSpPr/>
            <p:nvPr/>
          </p:nvSpPr>
          <p:spPr>
            <a:xfrm>
              <a:off x="15236640" y="3904920"/>
              <a:ext cx="987840" cy="99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ts val="4323"/>
                </a:lnSpc>
              </a:pPr>
              <a:r>
                <a:rPr b="1" lang="en-US" sz="3600" spc="-1" strike="noStrike">
                  <a:solidFill>
                    <a:srgbClr val="ffffff"/>
                  </a:solidFill>
                  <a:latin typeface="Georgia Bold"/>
                  <a:ea typeface="Georgia Bold"/>
                </a:rPr>
                <a:t>6</a:t>
              </a:r>
              <a:endParaRPr b="0" lang="es-ES" sz="36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20" name="TextBox 71"/>
          <p:cNvSpPr/>
          <p:nvPr/>
        </p:nvSpPr>
        <p:spPr>
          <a:xfrm>
            <a:off x="14550480" y="5196960"/>
            <a:ext cx="2360520" cy="41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3243"/>
              </a:lnSpc>
            </a:pPr>
            <a:r>
              <a:rPr b="1" lang="en-US" sz="2700" spc="-1" strike="noStrike">
                <a:solidFill>
                  <a:srgbClr val="14254a"/>
                </a:solidFill>
                <a:latin typeface="Georgia Bold"/>
                <a:ea typeface="Georgia Bold"/>
              </a:rPr>
              <a:t>Results</a:t>
            </a:r>
            <a:endParaRPr b="0" lang="es-ES" sz="27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21" name="Group 72"/>
          <p:cNvGrpSpPr/>
          <p:nvPr/>
        </p:nvGrpSpPr>
        <p:grpSpPr>
          <a:xfrm>
            <a:off x="3211920" y="4659840"/>
            <a:ext cx="411480" cy="693000"/>
            <a:chOff x="3211920" y="4659840"/>
            <a:chExt cx="411480" cy="693000"/>
          </a:xfrm>
        </p:grpSpPr>
        <p:sp>
          <p:nvSpPr>
            <p:cNvPr id="122" name="Freeform 73"/>
            <p:cNvSpPr/>
            <p:nvPr/>
          </p:nvSpPr>
          <p:spPr>
            <a:xfrm>
              <a:off x="3211920" y="4667040"/>
              <a:ext cx="411480" cy="685800"/>
            </a:xfrm>
            <a:custGeom>
              <a:avLst/>
              <a:gdLst>
                <a:gd name="textAreaLeft" fmla="*/ 0 w 411480"/>
                <a:gd name="textAreaRight" fmla="*/ 411840 w 411480"/>
                <a:gd name="textAreaTop" fmla="*/ 0 h 685800"/>
                <a:gd name="textAreaBottom" fmla="*/ 686160 h 685800"/>
              </a:gdLst>
              <a:ahLst/>
              <a:rect l="textAreaLeft" t="textAreaTop" r="textAreaRight" b="textAreaBottom"/>
              <a:pathLst>
                <a:path w="549069" h="915115">
                  <a:moveTo>
                    <a:pt x="0" y="0"/>
                  </a:moveTo>
                  <a:lnTo>
                    <a:pt x="549069" y="0"/>
                  </a:lnTo>
                  <a:lnTo>
                    <a:pt x="549069" y="915115"/>
                  </a:lnTo>
                  <a:lnTo>
                    <a:pt x="0" y="915115"/>
                  </a:lnTo>
                  <a:close/>
                </a:path>
              </a:pathLst>
            </a:custGeom>
            <a:blipFill rotWithShape="0">
              <a:blip r:embed="rId9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3" name="TextBox 74"/>
            <p:cNvSpPr/>
            <p:nvPr/>
          </p:nvSpPr>
          <p:spPr>
            <a:xfrm>
              <a:off x="3211920" y="4659840"/>
              <a:ext cx="411480" cy="69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ts val="5043"/>
                </a:lnSpc>
              </a:pPr>
              <a:r>
                <a:rPr b="1" lang="en-US" sz="4200" spc="-1" strike="noStrike">
                  <a:solidFill>
                    <a:srgbClr val="2563eb"/>
                  </a:solidFill>
                  <a:latin typeface="Georgia Bold"/>
                  <a:ea typeface="Georgia Bold"/>
                </a:rPr>
                <a:t>›</a:t>
              </a:r>
              <a:endParaRPr b="0" lang="es-ES" sz="4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4" name="Group 75"/>
          <p:cNvGrpSpPr/>
          <p:nvPr/>
        </p:nvGrpSpPr>
        <p:grpSpPr>
          <a:xfrm>
            <a:off x="5929920" y="4659840"/>
            <a:ext cx="411480" cy="693000"/>
            <a:chOff x="5929920" y="4659840"/>
            <a:chExt cx="411480" cy="693000"/>
          </a:xfrm>
        </p:grpSpPr>
        <p:sp>
          <p:nvSpPr>
            <p:cNvPr id="125" name="Freeform 76"/>
            <p:cNvSpPr/>
            <p:nvPr/>
          </p:nvSpPr>
          <p:spPr>
            <a:xfrm>
              <a:off x="5929920" y="4667040"/>
              <a:ext cx="411480" cy="685800"/>
            </a:xfrm>
            <a:custGeom>
              <a:avLst/>
              <a:gdLst>
                <a:gd name="textAreaLeft" fmla="*/ 0 w 411480"/>
                <a:gd name="textAreaRight" fmla="*/ 411840 w 411480"/>
                <a:gd name="textAreaTop" fmla="*/ 0 h 685800"/>
                <a:gd name="textAreaBottom" fmla="*/ 686160 h 685800"/>
              </a:gdLst>
              <a:ahLst/>
              <a:rect l="textAreaLeft" t="textAreaTop" r="textAreaRight" b="textAreaBottom"/>
              <a:pathLst>
                <a:path w="549069" h="915115">
                  <a:moveTo>
                    <a:pt x="0" y="0"/>
                  </a:moveTo>
                  <a:lnTo>
                    <a:pt x="549069" y="0"/>
                  </a:lnTo>
                  <a:lnTo>
                    <a:pt x="549069" y="915115"/>
                  </a:lnTo>
                  <a:lnTo>
                    <a:pt x="0" y="915115"/>
                  </a:lnTo>
                  <a:close/>
                </a:path>
              </a:pathLst>
            </a:custGeom>
            <a:blipFill rotWithShape="0">
              <a:blip r:embed="rId10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6" name="TextBox 77"/>
            <p:cNvSpPr/>
            <p:nvPr/>
          </p:nvSpPr>
          <p:spPr>
            <a:xfrm>
              <a:off x="5929920" y="4659840"/>
              <a:ext cx="411480" cy="69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ts val="5043"/>
                </a:lnSpc>
              </a:pPr>
              <a:r>
                <a:rPr b="1" lang="en-US" sz="4200" spc="-1" strike="noStrike">
                  <a:solidFill>
                    <a:srgbClr val="2563eb"/>
                  </a:solidFill>
                  <a:latin typeface="Georgia Bold"/>
                  <a:ea typeface="Georgia Bold"/>
                </a:rPr>
                <a:t>›</a:t>
              </a:r>
              <a:endParaRPr b="0" lang="es-ES" sz="4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7" name="Group 78"/>
          <p:cNvGrpSpPr/>
          <p:nvPr/>
        </p:nvGrpSpPr>
        <p:grpSpPr>
          <a:xfrm>
            <a:off x="8647920" y="4659840"/>
            <a:ext cx="411480" cy="693000"/>
            <a:chOff x="8647920" y="4659840"/>
            <a:chExt cx="411480" cy="693000"/>
          </a:xfrm>
        </p:grpSpPr>
        <p:sp>
          <p:nvSpPr>
            <p:cNvPr id="128" name="Freeform 79"/>
            <p:cNvSpPr/>
            <p:nvPr/>
          </p:nvSpPr>
          <p:spPr>
            <a:xfrm>
              <a:off x="8647920" y="4667040"/>
              <a:ext cx="411480" cy="685800"/>
            </a:xfrm>
            <a:custGeom>
              <a:avLst/>
              <a:gdLst>
                <a:gd name="textAreaLeft" fmla="*/ 0 w 411480"/>
                <a:gd name="textAreaRight" fmla="*/ 411840 w 411480"/>
                <a:gd name="textAreaTop" fmla="*/ 0 h 685800"/>
                <a:gd name="textAreaBottom" fmla="*/ 686160 h 685800"/>
              </a:gdLst>
              <a:ahLst/>
              <a:rect l="textAreaLeft" t="textAreaTop" r="textAreaRight" b="textAreaBottom"/>
              <a:pathLst>
                <a:path w="549069" h="915115">
                  <a:moveTo>
                    <a:pt x="0" y="0"/>
                  </a:moveTo>
                  <a:lnTo>
                    <a:pt x="549069" y="0"/>
                  </a:lnTo>
                  <a:lnTo>
                    <a:pt x="549069" y="915115"/>
                  </a:lnTo>
                  <a:lnTo>
                    <a:pt x="0" y="915115"/>
                  </a:lnTo>
                  <a:close/>
                </a:path>
              </a:pathLst>
            </a:custGeom>
            <a:blipFill rotWithShape="0">
              <a:blip r:embed="rId1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9" name="TextBox 80"/>
            <p:cNvSpPr/>
            <p:nvPr/>
          </p:nvSpPr>
          <p:spPr>
            <a:xfrm>
              <a:off x="8647920" y="4659840"/>
              <a:ext cx="411480" cy="69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ts val="5043"/>
                </a:lnSpc>
              </a:pPr>
              <a:r>
                <a:rPr b="1" lang="en-US" sz="4200" spc="-1" strike="noStrike">
                  <a:solidFill>
                    <a:srgbClr val="2563eb"/>
                  </a:solidFill>
                  <a:latin typeface="Georgia Bold"/>
                  <a:ea typeface="Georgia Bold"/>
                </a:rPr>
                <a:t>›</a:t>
              </a:r>
              <a:endParaRPr b="0" lang="es-ES" sz="4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0" name="Group 81"/>
          <p:cNvGrpSpPr/>
          <p:nvPr/>
        </p:nvGrpSpPr>
        <p:grpSpPr>
          <a:xfrm>
            <a:off x="11365560" y="4659840"/>
            <a:ext cx="411480" cy="693000"/>
            <a:chOff x="11365560" y="4659840"/>
            <a:chExt cx="411480" cy="693000"/>
          </a:xfrm>
        </p:grpSpPr>
        <p:sp>
          <p:nvSpPr>
            <p:cNvPr id="131" name="Freeform 82"/>
            <p:cNvSpPr/>
            <p:nvPr/>
          </p:nvSpPr>
          <p:spPr>
            <a:xfrm>
              <a:off x="11365560" y="4667040"/>
              <a:ext cx="411480" cy="685800"/>
            </a:xfrm>
            <a:custGeom>
              <a:avLst/>
              <a:gdLst>
                <a:gd name="textAreaLeft" fmla="*/ 0 w 411480"/>
                <a:gd name="textAreaRight" fmla="*/ 411840 w 411480"/>
                <a:gd name="textAreaTop" fmla="*/ 0 h 685800"/>
                <a:gd name="textAreaBottom" fmla="*/ 686160 h 685800"/>
              </a:gdLst>
              <a:ahLst/>
              <a:rect l="textAreaLeft" t="textAreaTop" r="textAreaRight" b="textAreaBottom"/>
              <a:pathLst>
                <a:path w="549069" h="915115">
                  <a:moveTo>
                    <a:pt x="0" y="0"/>
                  </a:moveTo>
                  <a:lnTo>
                    <a:pt x="549069" y="0"/>
                  </a:lnTo>
                  <a:lnTo>
                    <a:pt x="549069" y="915115"/>
                  </a:lnTo>
                  <a:lnTo>
                    <a:pt x="0" y="915115"/>
                  </a:lnTo>
                  <a:close/>
                </a:path>
              </a:pathLst>
            </a:custGeom>
            <a:blipFill rotWithShape="0">
              <a:blip r:embed="rId1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2" name="TextBox 83"/>
            <p:cNvSpPr/>
            <p:nvPr/>
          </p:nvSpPr>
          <p:spPr>
            <a:xfrm>
              <a:off x="11365560" y="4659840"/>
              <a:ext cx="411480" cy="69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ts val="5043"/>
                </a:lnSpc>
              </a:pPr>
              <a:r>
                <a:rPr b="1" lang="en-US" sz="4200" spc="-1" strike="noStrike">
                  <a:solidFill>
                    <a:srgbClr val="2563eb"/>
                  </a:solidFill>
                  <a:latin typeface="Georgia Bold"/>
                  <a:ea typeface="Georgia Bold"/>
                </a:rPr>
                <a:t>›</a:t>
              </a:r>
              <a:endParaRPr b="0" lang="es-ES" sz="4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3" name="Group 84"/>
          <p:cNvGrpSpPr/>
          <p:nvPr/>
        </p:nvGrpSpPr>
        <p:grpSpPr>
          <a:xfrm>
            <a:off x="14083560" y="4659840"/>
            <a:ext cx="411480" cy="693000"/>
            <a:chOff x="14083560" y="4659840"/>
            <a:chExt cx="411480" cy="693000"/>
          </a:xfrm>
        </p:grpSpPr>
        <p:sp>
          <p:nvSpPr>
            <p:cNvPr id="134" name="Freeform 85"/>
            <p:cNvSpPr/>
            <p:nvPr/>
          </p:nvSpPr>
          <p:spPr>
            <a:xfrm>
              <a:off x="14083560" y="4667040"/>
              <a:ext cx="411480" cy="685800"/>
            </a:xfrm>
            <a:custGeom>
              <a:avLst/>
              <a:gdLst>
                <a:gd name="textAreaLeft" fmla="*/ 0 w 411480"/>
                <a:gd name="textAreaRight" fmla="*/ 411840 w 411480"/>
                <a:gd name="textAreaTop" fmla="*/ 0 h 685800"/>
                <a:gd name="textAreaBottom" fmla="*/ 686160 h 685800"/>
              </a:gdLst>
              <a:ahLst/>
              <a:rect l="textAreaLeft" t="textAreaTop" r="textAreaRight" b="textAreaBottom"/>
              <a:pathLst>
                <a:path w="549069" h="915115">
                  <a:moveTo>
                    <a:pt x="0" y="0"/>
                  </a:moveTo>
                  <a:lnTo>
                    <a:pt x="549069" y="0"/>
                  </a:lnTo>
                  <a:lnTo>
                    <a:pt x="549069" y="915115"/>
                  </a:lnTo>
                  <a:lnTo>
                    <a:pt x="0" y="915115"/>
                  </a:lnTo>
                  <a:close/>
                </a:path>
              </a:pathLst>
            </a:custGeom>
            <a:blipFill rotWithShape="0">
              <a:blip r:embed="rId1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5" name="TextBox 86"/>
            <p:cNvSpPr/>
            <p:nvPr/>
          </p:nvSpPr>
          <p:spPr>
            <a:xfrm>
              <a:off x="14083560" y="4659840"/>
              <a:ext cx="411480" cy="69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ts val="5043"/>
                </a:lnSpc>
              </a:pPr>
              <a:r>
                <a:rPr b="1" lang="en-US" sz="4200" spc="-1" strike="noStrike">
                  <a:solidFill>
                    <a:srgbClr val="2563eb"/>
                  </a:solidFill>
                  <a:latin typeface="Georgia Bold"/>
                  <a:ea typeface="Georgia Bold"/>
                </a:rPr>
                <a:t>›</a:t>
              </a:r>
              <a:endParaRPr b="0" lang="es-ES" sz="4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6" name="Group 87"/>
          <p:cNvGrpSpPr/>
          <p:nvPr/>
        </p:nvGrpSpPr>
        <p:grpSpPr>
          <a:xfrm>
            <a:off x="823680" y="7499520"/>
            <a:ext cx="16608960" cy="770040"/>
            <a:chOff x="823680" y="7499520"/>
            <a:chExt cx="16608960" cy="770040"/>
          </a:xfrm>
        </p:grpSpPr>
        <p:sp>
          <p:nvSpPr>
            <p:cNvPr id="137" name="Freeform 88"/>
            <p:cNvSpPr/>
            <p:nvPr/>
          </p:nvSpPr>
          <p:spPr>
            <a:xfrm>
              <a:off x="823680" y="7549560"/>
              <a:ext cx="16608960" cy="720000"/>
            </a:xfrm>
            <a:custGeom>
              <a:avLst/>
              <a:gdLst>
                <a:gd name="textAreaLeft" fmla="*/ 0 w 16608960"/>
                <a:gd name="textAreaRight" fmla="*/ 16609320 w 16608960"/>
                <a:gd name="textAreaTop" fmla="*/ 0 h 720000"/>
                <a:gd name="textAreaBottom" fmla="*/ 720360 h 720000"/>
              </a:gdLst>
              <a:ahLst/>
              <a:rect l="textAreaLeft" t="textAreaTop" r="textAreaRight" b="textAreaBottom"/>
              <a:pathLst>
                <a:path w="22145782" h="960678">
                  <a:moveTo>
                    <a:pt x="0" y="0"/>
                  </a:moveTo>
                  <a:lnTo>
                    <a:pt x="22145782" y="0"/>
                  </a:lnTo>
                  <a:lnTo>
                    <a:pt x="22145782" y="960678"/>
                  </a:lnTo>
                  <a:lnTo>
                    <a:pt x="0" y="960678"/>
                  </a:lnTo>
                  <a:close/>
                </a:path>
              </a:pathLst>
            </a:custGeom>
            <a:blipFill rotWithShape="0">
              <a:blip r:embed="rId1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8" name="TextBox 89"/>
            <p:cNvSpPr/>
            <p:nvPr/>
          </p:nvSpPr>
          <p:spPr>
            <a:xfrm>
              <a:off x="823680" y="7499520"/>
              <a:ext cx="16608960" cy="770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ts val="4323"/>
                </a:lnSpc>
              </a:pPr>
              <a:r>
                <a:rPr b="0" i="1" lang="en-US" sz="3600" spc="-1" strike="noStrike">
                  <a:solidFill>
                    <a:srgbClr val="000000"/>
                  </a:solidFill>
                  <a:latin typeface="Calibri (MS) Italics"/>
                  <a:ea typeface="Calibri (MS) Italics"/>
                </a:rPr>
                <a:t>…</a:t>
              </a:r>
              <a:r>
                <a:rPr b="0" i="1" lang="en-US" sz="3600" spc="-1" strike="noStrike">
                  <a:solidFill>
                    <a:srgbClr val="000000"/>
                  </a:solidFill>
                  <a:latin typeface="Calibri (MS) Italics"/>
                  <a:ea typeface="Calibri (MS) Italics"/>
                </a:rPr>
                <a:t>then Ablation, Conclusions &amp; References.</a:t>
              </a:r>
              <a:endParaRPr b="0" lang="es-ES" sz="36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39" name="TextBox 90"/>
          <p:cNvSpPr/>
          <p:nvPr/>
        </p:nvSpPr>
        <p:spPr>
          <a:xfrm>
            <a:off x="14120640" y="9613440"/>
            <a:ext cx="6797520" cy="39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3078"/>
              </a:lnSpc>
            </a:pPr>
            <a:r>
              <a:rPr b="1" lang="en-US" sz="2200" spc="-1" strike="noStrike">
                <a:solidFill>
                  <a:srgbClr val="4d4b66"/>
                </a:solidFill>
                <a:latin typeface="Montserrat Bold"/>
                <a:ea typeface="Montserrat Bold"/>
              </a:rPr>
              <a:t>2/15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roup 2"/>
          <p:cNvGrpSpPr/>
          <p:nvPr/>
        </p:nvGrpSpPr>
        <p:grpSpPr>
          <a:xfrm>
            <a:off x="823680" y="686160"/>
            <a:ext cx="960480" cy="960480"/>
            <a:chOff x="823680" y="686160"/>
            <a:chExt cx="960480" cy="960480"/>
          </a:xfrm>
        </p:grpSpPr>
        <p:sp>
          <p:nvSpPr>
            <p:cNvPr id="141" name="Freeform 3"/>
            <p:cNvSpPr/>
            <p:nvPr/>
          </p:nvSpPr>
          <p:spPr>
            <a:xfrm>
              <a:off x="823680" y="686160"/>
              <a:ext cx="960480" cy="960480"/>
            </a:xfrm>
            <a:custGeom>
              <a:avLst/>
              <a:gdLst>
                <a:gd name="textAreaLeft" fmla="*/ 0 w 960480"/>
                <a:gd name="textAreaRight" fmla="*/ 960840 w 960480"/>
                <a:gd name="textAreaTop" fmla="*/ 0 h 960480"/>
                <a:gd name="textAreaBottom" fmla="*/ 960840 h 960480"/>
              </a:gdLst>
              <a:ahLst/>
              <a:rect l="textAreaLeft" t="textAreaTop" r="textAreaRight" b="textAreaBottom"/>
              <a:pathLst>
                <a:path w="1281176" h="1281176">
                  <a:moveTo>
                    <a:pt x="0" y="640588"/>
                  </a:moveTo>
                  <a:cubicBezTo>
                    <a:pt x="0" y="286766"/>
                    <a:pt x="286766" y="0"/>
                    <a:pt x="640588" y="0"/>
                  </a:cubicBezTo>
                  <a:cubicBezTo>
                    <a:pt x="994410" y="0"/>
                    <a:pt x="1281176" y="286766"/>
                    <a:pt x="1281176" y="640588"/>
                  </a:cubicBezTo>
                  <a:cubicBezTo>
                    <a:pt x="1281176" y="994410"/>
                    <a:pt x="994410" y="1281176"/>
                    <a:pt x="640588" y="1281176"/>
                  </a:cubicBezTo>
                  <a:cubicBezTo>
                    <a:pt x="286766" y="1281176"/>
                    <a:pt x="0" y="994410"/>
                    <a:pt x="0" y="640588"/>
                  </a:cubicBezTo>
                  <a:close/>
                </a:path>
              </a:pathLst>
            </a:custGeom>
            <a:solidFill>
              <a:srgbClr val="14254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42" name="Group 4"/>
          <p:cNvGrpSpPr/>
          <p:nvPr/>
        </p:nvGrpSpPr>
        <p:grpSpPr>
          <a:xfrm>
            <a:off x="823680" y="686160"/>
            <a:ext cx="960480" cy="960480"/>
            <a:chOff x="823680" y="686160"/>
            <a:chExt cx="960480" cy="960480"/>
          </a:xfrm>
        </p:grpSpPr>
        <p:sp>
          <p:nvSpPr>
            <p:cNvPr id="143" name="Freeform 5"/>
            <p:cNvSpPr/>
            <p:nvPr/>
          </p:nvSpPr>
          <p:spPr>
            <a:xfrm>
              <a:off x="823680" y="686160"/>
              <a:ext cx="960480" cy="960480"/>
            </a:xfrm>
            <a:custGeom>
              <a:avLst/>
              <a:gdLst>
                <a:gd name="textAreaLeft" fmla="*/ 0 w 960480"/>
                <a:gd name="textAreaRight" fmla="*/ 960840 w 960480"/>
                <a:gd name="textAreaTop" fmla="*/ 0 h 960480"/>
                <a:gd name="textAreaBottom" fmla="*/ 960840 h 960480"/>
              </a:gdLst>
              <a:ahLst/>
              <a:rect l="textAreaLeft" t="textAreaTop" r="textAreaRight" b="textAreaBottom"/>
              <a:pathLst>
                <a:path w="1281161" h="1281159">
                  <a:moveTo>
                    <a:pt x="0" y="0"/>
                  </a:moveTo>
                  <a:lnTo>
                    <a:pt x="1281161" y="0"/>
                  </a:lnTo>
                  <a:lnTo>
                    <a:pt x="1281161" y="1281159"/>
                  </a:lnTo>
                  <a:lnTo>
                    <a:pt x="0" y="1281159"/>
                  </a:lnTo>
                  <a:close/>
                </a:path>
              </a:pathLst>
            </a:custGeom>
            <a:blipFill rotWithShape="0">
              <a:blip r:embed="rId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4" name="TextBox 6"/>
            <p:cNvSpPr/>
            <p:nvPr/>
          </p:nvSpPr>
          <p:spPr>
            <a:xfrm>
              <a:off x="823680" y="686160"/>
              <a:ext cx="960480" cy="960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ts val="3963"/>
                </a:lnSpc>
              </a:pPr>
              <a:r>
                <a:rPr b="1" lang="en-US" sz="3300" spc="-1" strike="noStrike">
                  <a:solidFill>
                    <a:srgbClr val="ffffff"/>
                  </a:solidFill>
                  <a:latin typeface="Georgia Bold"/>
                  <a:ea typeface="Georgia Bold"/>
                </a:rPr>
                <a:t>01</a:t>
              </a:r>
              <a:endParaRPr b="0" lang="es-ES" sz="33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5" name="Group 7"/>
          <p:cNvGrpSpPr/>
          <p:nvPr/>
        </p:nvGrpSpPr>
        <p:grpSpPr>
          <a:xfrm>
            <a:off x="2058840" y="624240"/>
            <a:ext cx="14000760" cy="1077480"/>
            <a:chOff x="2058840" y="624240"/>
            <a:chExt cx="14000760" cy="1077480"/>
          </a:xfrm>
        </p:grpSpPr>
        <p:sp>
          <p:nvSpPr>
            <p:cNvPr id="146" name="Freeform 8"/>
            <p:cNvSpPr/>
            <p:nvPr/>
          </p:nvSpPr>
          <p:spPr>
            <a:xfrm>
              <a:off x="2058840" y="631440"/>
              <a:ext cx="14000760" cy="1070280"/>
            </a:xfrm>
            <a:custGeom>
              <a:avLst/>
              <a:gdLst>
                <a:gd name="textAreaLeft" fmla="*/ 0 w 14000760"/>
                <a:gd name="textAreaRight" fmla="*/ 14001120 w 14000760"/>
                <a:gd name="textAreaTop" fmla="*/ 0 h 1070280"/>
                <a:gd name="textAreaBottom" fmla="*/ 1070640 h 1070280"/>
              </a:gdLst>
              <a:ahLst/>
              <a:rect l="textAreaLeft" t="textAreaTop" r="textAreaRight" b="textAreaBottom"/>
              <a:pathLst>
                <a:path w="18668344" h="1427579">
                  <a:moveTo>
                    <a:pt x="0" y="0"/>
                  </a:moveTo>
                  <a:lnTo>
                    <a:pt x="18668344" y="0"/>
                  </a:lnTo>
                  <a:lnTo>
                    <a:pt x="18668344" y="1427579"/>
                  </a:lnTo>
                  <a:lnTo>
                    <a:pt x="0" y="1427579"/>
                  </a:lnTo>
                  <a:close/>
                </a:path>
              </a:pathLst>
            </a:custGeom>
            <a:blipFill rotWithShape="0">
              <a:blip r:embed="rId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7" name="TextBox 9"/>
            <p:cNvSpPr/>
            <p:nvPr/>
          </p:nvSpPr>
          <p:spPr>
            <a:xfrm>
              <a:off x="2058840" y="624240"/>
              <a:ext cx="14000760" cy="1077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6123"/>
                </a:lnSpc>
              </a:pPr>
              <a:r>
                <a:rPr b="1" lang="en-US" sz="5110" spc="-1" strike="noStrike">
                  <a:solidFill>
                    <a:srgbClr val="14254a"/>
                  </a:solidFill>
                  <a:latin typeface="Georgia Bold"/>
                  <a:ea typeface="Georgia Bold"/>
                </a:rPr>
                <a:t>Problem Statement</a:t>
              </a:r>
              <a:endParaRPr b="0" lang="es-ES" sz="511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8" name="Group 10"/>
          <p:cNvGrpSpPr/>
          <p:nvPr/>
        </p:nvGrpSpPr>
        <p:grpSpPr>
          <a:xfrm>
            <a:off x="823680" y="1921680"/>
            <a:ext cx="16650360" cy="29880"/>
            <a:chOff x="823680" y="1921680"/>
            <a:chExt cx="16650360" cy="29880"/>
          </a:xfrm>
        </p:grpSpPr>
        <p:sp>
          <p:nvSpPr>
            <p:cNvPr id="149" name="Freeform 11"/>
            <p:cNvSpPr/>
            <p:nvPr/>
          </p:nvSpPr>
          <p:spPr>
            <a:xfrm>
              <a:off x="823680" y="1921680"/>
              <a:ext cx="16650360" cy="29880"/>
            </a:xfrm>
            <a:custGeom>
              <a:avLst/>
              <a:gdLst>
                <a:gd name="textAreaLeft" fmla="*/ 0 w 16650360"/>
                <a:gd name="textAreaRight" fmla="*/ 16650720 w 16650360"/>
                <a:gd name="textAreaTop" fmla="*/ 0 h 29880"/>
                <a:gd name="textAreaBottom" fmla="*/ 30240 h 29880"/>
              </a:gdLst>
              <a:ahLst/>
              <a:rect l="textAreaLeft" t="textAreaTop" r="textAreaRight" b="textAreaBottom"/>
              <a:pathLst>
                <a:path w="22200743" h="40259">
                  <a:moveTo>
                    <a:pt x="0" y="0"/>
                  </a:moveTo>
                  <a:lnTo>
                    <a:pt x="22200743" y="0"/>
                  </a:lnTo>
                  <a:lnTo>
                    <a:pt x="22200743" y="40259"/>
                  </a:lnTo>
                  <a:lnTo>
                    <a:pt x="0" y="40259"/>
                  </a:lnTo>
                  <a:close/>
                </a:path>
              </a:pathLst>
            </a:custGeom>
            <a:solidFill>
              <a:srgbClr val="d9e1e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760" bIns="-1476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0" name="Group 12"/>
          <p:cNvGrpSpPr/>
          <p:nvPr/>
        </p:nvGrpSpPr>
        <p:grpSpPr>
          <a:xfrm>
            <a:off x="813960" y="2392560"/>
            <a:ext cx="9627480" cy="1913040"/>
            <a:chOff x="813960" y="2392560"/>
            <a:chExt cx="9627480" cy="1913040"/>
          </a:xfrm>
        </p:grpSpPr>
        <p:sp>
          <p:nvSpPr>
            <p:cNvPr id="151" name="Freeform 13"/>
            <p:cNvSpPr/>
            <p:nvPr/>
          </p:nvSpPr>
          <p:spPr>
            <a:xfrm>
              <a:off x="813960" y="2392560"/>
              <a:ext cx="9627480" cy="1913040"/>
            </a:xfrm>
            <a:custGeom>
              <a:avLst/>
              <a:gdLst>
                <a:gd name="textAreaLeft" fmla="*/ 0 w 9627480"/>
                <a:gd name="textAreaRight" fmla="*/ 9627840 w 9627480"/>
                <a:gd name="textAreaTop" fmla="*/ 0 h 1913040"/>
                <a:gd name="textAreaBottom" fmla="*/ 1913400 h 1913040"/>
              </a:gdLst>
              <a:ahLst/>
              <a:rect l="textAreaLeft" t="textAreaTop" r="textAreaRight" b="textAreaBottom"/>
              <a:pathLst>
                <a:path w="12837033" h="2551176">
                  <a:moveTo>
                    <a:pt x="0" y="0"/>
                  </a:moveTo>
                  <a:lnTo>
                    <a:pt x="12837033" y="0"/>
                  </a:lnTo>
                  <a:lnTo>
                    <a:pt x="12837033" y="2551176"/>
                  </a:lnTo>
                  <a:lnTo>
                    <a:pt x="0" y="2551176"/>
                  </a:lnTo>
                  <a:close/>
                </a:path>
              </a:pathLst>
            </a:custGeom>
            <a:solidFill>
              <a:srgbClr val="ffffff"/>
            </a:solidFill>
            <a:ln cap="sq" w="19065">
              <a:solidFill>
                <a:srgbClr val="d9e1e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2" name="Group 14"/>
          <p:cNvGrpSpPr/>
          <p:nvPr/>
        </p:nvGrpSpPr>
        <p:grpSpPr>
          <a:xfrm>
            <a:off x="823680" y="2402280"/>
            <a:ext cx="136800" cy="1893960"/>
            <a:chOff x="823680" y="2402280"/>
            <a:chExt cx="136800" cy="1893960"/>
          </a:xfrm>
        </p:grpSpPr>
        <p:sp>
          <p:nvSpPr>
            <p:cNvPr id="153" name="Freeform 15"/>
            <p:cNvSpPr/>
            <p:nvPr/>
          </p:nvSpPr>
          <p:spPr>
            <a:xfrm>
              <a:off x="823680" y="2402280"/>
              <a:ext cx="136800" cy="1893960"/>
            </a:xfrm>
            <a:custGeom>
              <a:avLst/>
              <a:gdLst>
                <a:gd name="textAreaLeft" fmla="*/ 0 w 136800"/>
                <a:gd name="textAreaRight" fmla="*/ 137160 w 136800"/>
                <a:gd name="textAreaTop" fmla="*/ 0 h 1893960"/>
                <a:gd name="textAreaBottom" fmla="*/ 1894320 h 1893960"/>
              </a:gdLst>
              <a:ahLst/>
              <a:rect l="textAreaLeft" t="textAreaTop" r="textAreaRight" b="textAreaBottom"/>
              <a:pathLst>
                <a:path w="183007" h="2525776">
                  <a:moveTo>
                    <a:pt x="0" y="0"/>
                  </a:moveTo>
                  <a:lnTo>
                    <a:pt x="183007" y="0"/>
                  </a:lnTo>
                  <a:lnTo>
                    <a:pt x="183007" y="2525776"/>
                  </a:lnTo>
                  <a:lnTo>
                    <a:pt x="0" y="2525776"/>
                  </a:lnTo>
                  <a:close/>
                </a:path>
              </a:pathLst>
            </a:custGeom>
            <a:solidFill>
              <a:srgbClr val="0e22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54" name="Group 16"/>
          <p:cNvGrpSpPr/>
          <p:nvPr/>
        </p:nvGrpSpPr>
        <p:grpSpPr>
          <a:xfrm>
            <a:off x="1166760" y="2868840"/>
            <a:ext cx="960480" cy="960480"/>
            <a:chOff x="1166760" y="2868840"/>
            <a:chExt cx="960480" cy="960480"/>
          </a:xfrm>
        </p:grpSpPr>
        <p:sp>
          <p:nvSpPr>
            <p:cNvPr id="155" name="Freeform 17"/>
            <p:cNvSpPr/>
            <p:nvPr/>
          </p:nvSpPr>
          <p:spPr>
            <a:xfrm>
              <a:off x="1166760" y="2868840"/>
              <a:ext cx="960480" cy="960480"/>
            </a:xfrm>
            <a:custGeom>
              <a:avLst/>
              <a:gdLst>
                <a:gd name="textAreaLeft" fmla="*/ 0 w 960480"/>
                <a:gd name="textAreaRight" fmla="*/ 960840 w 960480"/>
                <a:gd name="textAreaTop" fmla="*/ 0 h 960480"/>
                <a:gd name="textAreaBottom" fmla="*/ 960840 h 960480"/>
              </a:gdLst>
              <a:ahLst/>
              <a:rect l="textAreaLeft" t="textAreaTop" r="textAreaRight" b="textAreaBottom"/>
              <a:pathLst>
                <a:path w="1281176" h="1281176">
                  <a:moveTo>
                    <a:pt x="0" y="640588"/>
                  </a:moveTo>
                  <a:cubicBezTo>
                    <a:pt x="0" y="286766"/>
                    <a:pt x="286766" y="0"/>
                    <a:pt x="640588" y="0"/>
                  </a:cubicBezTo>
                  <a:cubicBezTo>
                    <a:pt x="994410" y="0"/>
                    <a:pt x="1281176" y="286766"/>
                    <a:pt x="1281176" y="640588"/>
                  </a:cubicBezTo>
                  <a:cubicBezTo>
                    <a:pt x="1281176" y="994410"/>
                    <a:pt x="994410" y="1281176"/>
                    <a:pt x="640588" y="1281176"/>
                  </a:cubicBezTo>
                  <a:cubicBezTo>
                    <a:pt x="286766" y="1281176"/>
                    <a:pt x="0" y="994410"/>
                    <a:pt x="0" y="640588"/>
                  </a:cubicBezTo>
                  <a:close/>
                </a:path>
              </a:pathLst>
            </a:custGeom>
            <a:solidFill>
              <a:srgbClr val="14254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56" name="Group 18"/>
          <p:cNvGrpSpPr/>
          <p:nvPr/>
        </p:nvGrpSpPr>
        <p:grpSpPr>
          <a:xfrm>
            <a:off x="1372680" y="3074760"/>
            <a:ext cx="548640" cy="548640"/>
            <a:chOff x="1372680" y="3074760"/>
            <a:chExt cx="548640" cy="548640"/>
          </a:xfrm>
        </p:grpSpPr>
        <p:sp>
          <p:nvSpPr>
            <p:cNvPr id="157" name="Freeform 19"/>
            <p:cNvSpPr/>
            <p:nvPr/>
          </p:nvSpPr>
          <p:spPr>
            <a:xfrm>
              <a:off x="1372680" y="3074760"/>
              <a:ext cx="548640" cy="548640"/>
            </a:xfrm>
            <a:custGeom>
              <a:avLst/>
              <a:gdLst>
                <a:gd name="textAreaLeft" fmla="*/ 0 w 548640"/>
                <a:gd name="textAreaRight" fmla="*/ 549000 w 548640"/>
                <a:gd name="textAreaTop" fmla="*/ 0 h 548640"/>
                <a:gd name="textAreaBottom" fmla="*/ 549000 h 548640"/>
              </a:gdLst>
              <a:ahLst/>
              <a:rect l="textAreaLeft" t="textAreaTop" r="textAreaRight" b="textAreaBottom"/>
              <a:pathLst>
                <a:path w="732155" h="732155">
                  <a:moveTo>
                    <a:pt x="0" y="0"/>
                  </a:moveTo>
                  <a:lnTo>
                    <a:pt x="732155" y="0"/>
                  </a:lnTo>
                  <a:lnTo>
                    <a:pt x="732155" y="732155"/>
                  </a:lnTo>
                  <a:lnTo>
                    <a:pt x="0" y="732155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8" name="Group 20"/>
          <p:cNvGrpSpPr/>
          <p:nvPr/>
        </p:nvGrpSpPr>
        <p:grpSpPr>
          <a:xfrm>
            <a:off x="2402280" y="2642040"/>
            <a:ext cx="7823880" cy="693000"/>
            <a:chOff x="2402280" y="2642040"/>
            <a:chExt cx="7823880" cy="693000"/>
          </a:xfrm>
        </p:grpSpPr>
        <p:sp>
          <p:nvSpPr>
            <p:cNvPr id="159" name="Freeform 21"/>
            <p:cNvSpPr/>
            <p:nvPr/>
          </p:nvSpPr>
          <p:spPr>
            <a:xfrm>
              <a:off x="2402280" y="2649240"/>
              <a:ext cx="7823880" cy="685800"/>
            </a:xfrm>
            <a:custGeom>
              <a:avLst/>
              <a:gdLst>
                <a:gd name="textAreaLeft" fmla="*/ 0 w 7823880"/>
                <a:gd name="textAreaRight" fmla="*/ 7824240 w 7823880"/>
                <a:gd name="textAreaTop" fmla="*/ 0 h 685800"/>
                <a:gd name="textAreaBottom" fmla="*/ 686160 h 685800"/>
              </a:gdLst>
              <a:ahLst/>
              <a:rect l="textAreaLeft" t="textAreaTop" r="textAreaRight" b="textAreaBottom"/>
              <a:pathLst>
                <a:path w="10432311" h="915119">
                  <a:moveTo>
                    <a:pt x="0" y="0"/>
                  </a:moveTo>
                  <a:lnTo>
                    <a:pt x="10432311" y="0"/>
                  </a:lnTo>
                  <a:lnTo>
                    <a:pt x="10432311" y="915119"/>
                  </a:lnTo>
                  <a:lnTo>
                    <a:pt x="0" y="915119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0" name="TextBox 22"/>
            <p:cNvSpPr/>
            <p:nvPr/>
          </p:nvSpPr>
          <p:spPr>
            <a:xfrm>
              <a:off x="2402280" y="2642040"/>
              <a:ext cx="7823880" cy="69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4022"/>
                </a:lnSpc>
              </a:pPr>
              <a:r>
                <a:rPr b="1" lang="en-US" sz="3350" spc="-1" strike="noStrike">
                  <a:solidFill>
                    <a:srgbClr val="14254a"/>
                  </a:solidFill>
                  <a:latin typeface="Georgia Bold"/>
                  <a:ea typeface="Georgia Bold"/>
                </a:rPr>
                <a:t>Detectors break in the wild</a:t>
              </a:r>
              <a:endParaRPr b="0" lang="es-ES" sz="33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61" name="TextBox 23"/>
          <p:cNvSpPr/>
          <p:nvPr/>
        </p:nvSpPr>
        <p:spPr>
          <a:xfrm>
            <a:off x="2402280" y="3342960"/>
            <a:ext cx="7823880" cy="85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3362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 (MS)"/>
                <a:ea typeface="Calibri (MS)"/>
              </a:rPr>
              <a:t>Trained on clean images — they fail on real ones.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62" name="Group 24"/>
          <p:cNvGrpSpPr/>
          <p:nvPr/>
        </p:nvGrpSpPr>
        <p:grpSpPr>
          <a:xfrm>
            <a:off x="813960" y="4520160"/>
            <a:ext cx="9627480" cy="1913040"/>
            <a:chOff x="813960" y="4520160"/>
            <a:chExt cx="9627480" cy="1913040"/>
          </a:xfrm>
        </p:grpSpPr>
        <p:sp>
          <p:nvSpPr>
            <p:cNvPr id="163" name="Freeform 25"/>
            <p:cNvSpPr/>
            <p:nvPr/>
          </p:nvSpPr>
          <p:spPr>
            <a:xfrm>
              <a:off x="813960" y="4520160"/>
              <a:ext cx="9627480" cy="1913040"/>
            </a:xfrm>
            <a:custGeom>
              <a:avLst/>
              <a:gdLst>
                <a:gd name="textAreaLeft" fmla="*/ 0 w 9627480"/>
                <a:gd name="textAreaRight" fmla="*/ 9627840 w 9627480"/>
                <a:gd name="textAreaTop" fmla="*/ 0 h 1913040"/>
                <a:gd name="textAreaBottom" fmla="*/ 1913400 h 1913040"/>
              </a:gdLst>
              <a:ahLst/>
              <a:rect l="textAreaLeft" t="textAreaTop" r="textAreaRight" b="textAreaBottom"/>
              <a:pathLst>
                <a:path w="12837033" h="2551176">
                  <a:moveTo>
                    <a:pt x="0" y="0"/>
                  </a:moveTo>
                  <a:lnTo>
                    <a:pt x="12837033" y="0"/>
                  </a:lnTo>
                  <a:lnTo>
                    <a:pt x="12837033" y="2551176"/>
                  </a:lnTo>
                  <a:lnTo>
                    <a:pt x="0" y="2551176"/>
                  </a:lnTo>
                  <a:close/>
                </a:path>
              </a:pathLst>
            </a:custGeom>
            <a:solidFill>
              <a:srgbClr val="ffffff"/>
            </a:solidFill>
            <a:ln cap="sq" w="19065">
              <a:solidFill>
                <a:srgbClr val="d9e1e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4" name="Group 26"/>
          <p:cNvGrpSpPr/>
          <p:nvPr/>
        </p:nvGrpSpPr>
        <p:grpSpPr>
          <a:xfrm>
            <a:off x="823680" y="4529880"/>
            <a:ext cx="136800" cy="1893960"/>
            <a:chOff x="823680" y="4529880"/>
            <a:chExt cx="136800" cy="1893960"/>
          </a:xfrm>
        </p:grpSpPr>
        <p:sp>
          <p:nvSpPr>
            <p:cNvPr id="165" name="Freeform 27"/>
            <p:cNvSpPr/>
            <p:nvPr/>
          </p:nvSpPr>
          <p:spPr>
            <a:xfrm>
              <a:off x="823680" y="4529880"/>
              <a:ext cx="136800" cy="1893960"/>
            </a:xfrm>
            <a:custGeom>
              <a:avLst/>
              <a:gdLst>
                <a:gd name="textAreaLeft" fmla="*/ 0 w 136800"/>
                <a:gd name="textAreaRight" fmla="*/ 137160 w 136800"/>
                <a:gd name="textAreaTop" fmla="*/ 0 h 1893960"/>
                <a:gd name="textAreaBottom" fmla="*/ 1894320 h 1893960"/>
              </a:gdLst>
              <a:ahLst/>
              <a:rect l="textAreaLeft" t="textAreaTop" r="textAreaRight" b="textAreaBottom"/>
              <a:pathLst>
                <a:path w="183007" h="2525776">
                  <a:moveTo>
                    <a:pt x="0" y="0"/>
                  </a:moveTo>
                  <a:lnTo>
                    <a:pt x="183007" y="0"/>
                  </a:lnTo>
                  <a:lnTo>
                    <a:pt x="183007" y="2525776"/>
                  </a:lnTo>
                  <a:lnTo>
                    <a:pt x="0" y="2525776"/>
                  </a:lnTo>
                  <a:close/>
                </a:path>
              </a:pathLst>
            </a:custGeom>
            <a:solidFill>
              <a:srgbClr val="0e22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66" name="Group 28"/>
          <p:cNvGrpSpPr/>
          <p:nvPr/>
        </p:nvGrpSpPr>
        <p:grpSpPr>
          <a:xfrm>
            <a:off x="1166760" y="4996440"/>
            <a:ext cx="960480" cy="960480"/>
            <a:chOff x="1166760" y="4996440"/>
            <a:chExt cx="960480" cy="960480"/>
          </a:xfrm>
        </p:grpSpPr>
        <p:sp>
          <p:nvSpPr>
            <p:cNvPr id="167" name="Freeform 29"/>
            <p:cNvSpPr/>
            <p:nvPr/>
          </p:nvSpPr>
          <p:spPr>
            <a:xfrm>
              <a:off x="1166760" y="4996440"/>
              <a:ext cx="960480" cy="960480"/>
            </a:xfrm>
            <a:custGeom>
              <a:avLst/>
              <a:gdLst>
                <a:gd name="textAreaLeft" fmla="*/ 0 w 960480"/>
                <a:gd name="textAreaRight" fmla="*/ 960840 w 960480"/>
                <a:gd name="textAreaTop" fmla="*/ 0 h 960480"/>
                <a:gd name="textAreaBottom" fmla="*/ 960840 h 960480"/>
              </a:gdLst>
              <a:ahLst/>
              <a:rect l="textAreaLeft" t="textAreaTop" r="textAreaRight" b="textAreaBottom"/>
              <a:pathLst>
                <a:path w="1281176" h="1281176">
                  <a:moveTo>
                    <a:pt x="0" y="640588"/>
                  </a:moveTo>
                  <a:cubicBezTo>
                    <a:pt x="0" y="286766"/>
                    <a:pt x="286766" y="0"/>
                    <a:pt x="640588" y="0"/>
                  </a:cubicBezTo>
                  <a:cubicBezTo>
                    <a:pt x="994410" y="0"/>
                    <a:pt x="1281176" y="286766"/>
                    <a:pt x="1281176" y="640588"/>
                  </a:cubicBezTo>
                  <a:cubicBezTo>
                    <a:pt x="1281176" y="994410"/>
                    <a:pt x="994410" y="1281176"/>
                    <a:pt x="640588" y="1281176"/>
                  </a:cubicBezTo>
                  <a:cubicBezTo>
                    <a:pt x="286766" y="1281176"/>
                    <a:pt x="0" y="994410"/>
                    <a:pt x="0" y="640588"/>
                  </a:cubicBezTo>
                  <a:close/>
                </a:path>
              </a:pathLst>
            </a:custGeom>
            <a:solidFill>
              <a:srgbClr val="14254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68" name="Group 30"/>
          <p:cNvGrpSpPr/>
          <p:nvPr/>
        </p:nvGrpSpPr>
        <p:grpSpPr>
          <a:xfrm>
            <a:off x="1372680" y="5202360"/>
            <a:ext cx="548640" cy="548640"/>
            <a:chOff x="1372680" y="5202360"/>
            <a:chExt cx="548640" cy="548640"/>
          </a:xfrm>
        </p:grpSpPr>
        <p:sp>
          <p:nvSpPr>
            <p:cNvPr id="169" name="Freeform 31"/>
            <p:cNvSpPr/>
            <p:nvPr/>
          </p:nvSpPr>
          <p:spPr>
            <a:xfrm>
              <a:off x="1372680" y="5202360"/>
              <a:ext cx="548640" cy="548640"/>
            </a:xfrm>
            <a:custGeom>
              <a:avLst/>
              <a:gdLst>
                <a:gd name="textAreaLeft" fmla="*/ 0 w 548640"/>
                <a:gd name="textAreaRight" fmla="*/ 549000 w 548640"/>
                <a:gd name="textAreaTop" fmla="*/ 0 h 548640"/>
                <a:gd name="textAreaBottom" fmla="*/ 549000 h 548640"/>
              </a:gdLst>
              <a:ahLst/>
              <a:rect l="textAreaLeft" t="textAreaTop" r="textAreaRight" b="textAreaBottom"/>
              <a:pathLst>
                <a:path w="732155" h="732155">
                  <a:moveTo>
                    <a:pt x="0" y="0"/>
                  </a:moveTo>
                  <a:lnTo>
                    <a:pt x="732155" y="0"/>
                  </a:lnTo>
                  <a:lnTo>
                    <a:pt x="732155" y="732155"/>
                  </a:lnTo>
                  <a:lnTo>
                    <a:pt x="0" y="732155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5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0" name="Group 32"/>
          <p:cNvGrpSpPr/>
          <p:nvPr/>
        </p:nvGrpSpPr>
        <p:grpSpPr>
          <a:xfrm>
            <a:off x="2402280" y="4769640"/>
            <a:ext cx="7823880" cy="693000"/>
            <a:chOff x="2402280" y="4769640"/>
            <a:chExt cx="7823880" cy="693000"/>
          </a:xfrm>
        </p:grpSpPr>
        <p:sp>
          <p:nvSpPr>
            <p:cNvPr id="171" name="Freeform 33"/>
            <p:cNvSpPr/>
            <p:nvPr/>
          </p:nvSpPr>
          <p:spPr>
            <a:xfrm>
              <a:off x="2402280" y="4776840"/>
              <a:ext cx="7823880" cy="685800"/>
            </a:xfrm>
            <a:custGeom>
              <a:avLst/>
              <a:gdLst>
                <a:gd name="textAreaLeft" fmla="*/ 0 w 7823880"/>
                <a:gd name="textAreaRight" fmla="*/ 7824240 w 7823880"/>
                <a:gd name="textAreaTop" fmla="*/ 0 h 685800"/>
                <a:gd name="textAreaBottom" fmla="*/ 686160 h 685800"/>
              </a:gdLst>
              <a:ahLst/>
              <a:rect l="textAreaLeft" t="textAreaTop" r="textAreaRight" b="textAreaBottom"/>
              <a:pathLst>
                <a:path w="10432311" h="915119">
                  <a:moveTo>
                    <a:pt x="0" y="0"/>
                  </a:moveTo>
                  <a:lnTo>
                    <a:pt x="10432311" y="0"/>
                  </a:lnTo>
                  <a:lnTo>
                    <a:pt x="10432311" y="915119"/>
                  </a:lnTo>
                  <a:lnTo>
                    <a:pt x="0" y="915119"/>
                  </a:lnTo>
                  <a:close/>
                </a:path>
              </a:pathLst>
            </a:custGeom>
            <a:blipFill rotWithShape="0">
              <a:blip r:embed="rId6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2" name="TextBox 34"/>
            <p:cNvSpPr/>
            <p:nvPr/>
          </p:nvSpPr>
          <p:spPr>
            <a:xfrm>
              <a:off x="2402280" y="4769640"/>
              <a:ext cx="7823880" cy="69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4022"/>
                </a:lnSpc>
              </a:pPr>
              <a:r>
                <a:rPr b="1" lang="en-US" sz="3350" spc="-1" strike="noStrike">
                  <a:solidFill>
                    <a:srgbClr val="14254a"/>
                  </a:solidFill>
                  <a:latin typeface="Georgia Bold"/>
                  <a:ea typeface="Georgia Bold"/>
                </a:rPr>
                <a:t>Edits hide the clues</a:t>
              </a:r>
              <a:endParaRPr b="0" lang="es-ES" sz="33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73" name="TextBox 35"/>
          <p:cNvSpPr/>
          <p:nvPr/>
        </p:nvSpPr>
        <p:spPr>
          <a:xfrm>
            <a:off x="2402280" y="5470560"/>
            <a:ext cx="7823880" cy="85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3362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 (MS)"/>
                <a:ea typeface="Calibri (MS)"/>
              </a:rPr>
              <a:t>Compression &amp; re-photos erase AI fingerprints.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74" name="Group 36"/>
          <p:cNvGrpSpPr/>
          <p:nvPr/>
        </p:nvGrpSpPr>
        <p:grpSpPr>
          <a:xfrm>
            <a:off x="813960" y="6647760"/>
            <a:ext cx="9627480" cy="1913040"/>
            <a:chOff x="813960" y="6647760"/>
            <a:chExt cx="9627480" cy="1913040"/>
          </a:xfrm>
        </p:grpSpPr>
        <p:sp>
          <p:nvSpPr>
            <p:cNvPr id="175" name="Freeform 37"/>
            <p:cNvSpPr/>
            <p:nvPr/>
          </p:nvSpPr>
          <p:spPr>
            <a:xfrm>
              <a:off x="813960" y="6647760"/>
              <a:ext cx="9627480" cy="1913040"/>
            </a:xfrm>
            <a:custGeom>
              <a:avLst/>
              <a:gdLst>
                <a:gd name="textAreaLeft" fmla="*/ 0 w 9627480"/>
                <a:gd name="textAreaRight" fmla="*/ 9627840 w 9627480"/>
                <a:gd name="textAreaTop" fmla="*/ 0 h 1913040"/>
                <a:gd name="textAreaBottom" fmla="*/ 1913400 h 1913040"/>
              </a:gdLst>
              <a:ahLst/>
              <a:rect l="textAreaLeft" t="textAreaTop" r="textAreaRight" b="textAreaBottom"/>
              <a:pathLst>
                <a:path w="12837033" h="2551176">
                  <a:moveTo>
                    <a:pt x="0" y="0"/>
                  </a:moveTo>
                  <a:lnTo>
                    <a:pt x="12837033" y="0"/>
                  </a:lnTo>
                  <a:lnTo>
                    <a:pt x="12837033" y="2551176"/>
                  </a:lnTo>
                  <a:lnTo>
                    <a:pt x="0" y="2551176"/>
                  </a:lnTo>
                  <a:close/>
                </a:path>
              </a:pathLst>
            </a:custGeom>
            <a:solidFill>
              <a:srgbClr val="ffffff"/>
            </a:solidFill>
            <a:ln cap="sq" w="19065">
              <a:solidFill>
                <a:srgbClr val="d9e1e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6" name="Group 38"/>
          <p:cNvGrpSpPr/>
          <p:nvPr/>
        </p:nvGrpSpPr>
        <p:grpSpPr>
          <a:xfrm>
            <a:off x="823680" y="6657480"/>
            <a:ext cx="136800" cy="1893960"/>
            <a:chOff x="823680" y="6657480"/>
            <a:chExt cx="136800" cy="1893960"/>
          </a:xfrm>
        </p:grpSpPr>
        <p:sp>
          <p:nvSpPr>
            <p:cNvPr id="177" name="Freeform 39"/>
            <p:cNvSpPr/>
            <p:nvPr/>
          </p:nvSpPr>
          <p:spPr>
            <a:xfrm>
              <a:off x="823680" y="6657480"/>
              <a:ext cx="136800" cy="1893960"/>
            </a:xfrm>
            <a:custGeom>
              <a:avLst/>
              <a:gdLst>
                <a:gd name="textAreaLeft" fmla="*/ 0 w 136800"/>
                <a:gd name="textAreaRight" fmla="*/ 137160 w 136800"/>
                <a:gd name="textAreaTop" fmla="*/ 0 h 1893960"/>
                <a:gd name="textAreaBottom" fmla="*/ 1894320 h 1893960"/>
              </a:gdLst>
              <a:ahLst/>
              <a:rect l="textAreaLeft" t="textAreaTop" r="textAreaRight" b="textAreaBottom"/>
              <a:pathLst>
                <a:path w="183007" h="2525776">
                  <a:moveTo>
                    <a:pt x="0" y="0"/>
                  </a:moveTo>
                  <a:lnTo>
                    <a:pt x="183007" y="0"/>
                  </a:lnTo>
                  <a:lnTo>
                    <a:pt x="183007" y="2525776"/>
                  </a:lnTo>
                  <a:lnTo>
                    <a:pt x="0" y="2525776"/>
                  </a:lnTo>
                  <a:close/>
                </a:path>
              </a:pathLst>
            </a:custGeom>
            <a:solidFill>
              <a:srgbClr val="0e22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78" name="Group 40"/>
          <p:cNvGrpSpPr/>
          <p:nvPr/>
        </p:nvGrpSpPr>
        <p:grpSpPr>
          <a:xfrm>
            <a:off x="1166760" y="7124040"/>
            <a:ext cx="960480" cy="960480"/>
            <a:chOff x="1166760" y="7124040"/>
            <a:chExt cx="960480" cy="960480"/>
          </a:xfrm>
        </p:grpSpPr>
        <p:sp>
          <p:nvSpPr>
            <p:cNvPr id="179" name="Freeform 41"/>
            <p:cNvSpPr/>
            <p:nvPr/>
          </p:nvSpPr>
          <p:spPr>
            <a:xfrm>
              <a:off x="1166760" y="7124040"/>
              <a:ext cx="960480" cy="960480"/>
            </a:xfrm>
            <a:custGeom>
              <a:avLst/>
              <a:gdLst>
                <a:gd name="textAreaLeft" fmla="*/ 0 w 960480"/>
                <a:gd name="textAreaRight" fmla="*/ 960840 w 960480"/>
                <a:gd name="textAreaTop" fmla="*/ 0 h 960480"/>
                <a:gd name="textAreaBottom" fmla="*/ 960840 h 960480"/>
              </a:gdLst>
              <a:ahLst/>
              <a:rect l="textAreaLeft" t="textAreaTop" r="textAreaRight" b="textAreaBottom"/>
              <a:pathLst>
                <a:path w="1281176" h="1281176">
                  <a:moveTo>
                    <a:pt x="0" y="640588"/>
                  </a:moveTo>
                  <a:cubicBezTo>
                    <a:pt x="0" y="286766"/>
                    <a:pt x="286766" y="0"/>
                    <a:pt x="640588" y="0"/>
                  </a:cubicBezTo>
                  <a:cubicBezTo>
                    <a:pt x="994410" y="0"/>
                    <a:pt x="1281176" y="286766"/>
                    <a:pt x="1281176" y="640588"/>
                  </a:cubicBezTo>
                  <a:cubicBezTo>
                    <a:pt x="1281176" y="994410"/>
                    <a:pt x="994410" y="1281176"/>
                    <a:pt x="640588" y="1281176"/>
                  </a:cubicBezTo>
                  <a:cubicBezTo>
                    <a:pt x="286766" y="1281176"/>
                    <a:pt x="0" y="994410"/>
                    <a:pt x="0" y="640588"/>
                  </a:cubicBezTo>
                  <a:close/>
                </a:path>
              </a:pathLst>
            </a:custGeom>
            <a:solidFill>
              <a:srgbClr val="14254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80" name="Group 42"/>
          <p:cNvGrpSpPr/>
          <p:nvPr/>
        </p:nvGrpSpPr>
        <p:grpSpPr>
          <a:xfrm>
            <a:off x="1372680" y="7329960"/>
            <a:ext cx="548640" cy="548640"/>
            <a:chOff x="1372680" y="7329960"/>
            <a:chExt cx="548640" cy="548640"/>
          </a:xfrm>
        </p:grpSpPr>
        <p:sp>
          <p:nvSpPr>
            <p:cNvPr id="181" name="Freeform 43"/>
            <p:cNvSpPr/>
            <p:nvPr/>
          </p:nvSpPr>
          <p:spPr>
            <a:xfrm>
              <a:off x="1372680" y="7329960"/>
              <a:ext cx="548640" cy="548640"/>
            </a:xfrm>
            <a:custGeom>
              <a:avLst/>
              <a:gdLst>
                <a:gd name="textAreaLeft" fmla="*/ 0 w 548640"/>
                <a:gd name="textAreaRight" fmla="*/ 549000 w 548640"/>
                <a:gd name="textAreaTop" fmla="*/ 0 h 548640"/>
                <a:gd name="textAreaBottom" fmla="*/ 549000 h 548640"/>
              </a:gdLst>
              <a:ahLst/>
              <a:rect l="textAreaLeft" t="textAreaTop" r="textAreaRight" b="textAreaBottom"/>
              <a:pathLst>
                <a:path w="732155" h="732155">
                  <a:moveTo>
                    <a:pt x="0" y="0"/>
                  </a:moveTo>
                  <a:lnTo>
                    <a:pt x="732155" y="0"/>
                  </a:lnTo>
                  <a:lnTo>
                    <a:pt x="732155" y="732155"/>
                  </a:lnTo>
                  <a:lnTo>
                    <a:pt x="0" y="732155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7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82" name="Group 44"/>
          <p:cNvGrpSpPr/>
          <p:nvPr/>
        </p:nvGrpSpPr>
        <p:grpSpPr>
          <a:xfrm>
            <a:off x="2402280" y="6897240"/>
            <a:ext cx="7823880" cy="693000"/>
            <a:chOff x="2402280" y="6897240"/>
            <a:chExt cx="7823880" cy="693000"/>
          </a:xfrm>
        </p:grpSpPr>
        <p:sp>
          <p:nvSpPr>
            <p:cNvPr id="183" name="Freeform 45"/>
            <p:cNvSpPr/>
            <p:nvPr/>
          </p:nvSpPr>
          <p:spPr>
            <a:xfrm>
              <a:off x="2402280" y="6904440"/>
              <a:ext cx="7823880" cy="685800"/>
            </a:xfrm>
            <a:custGeom>
              <a:avLst/>
              <a:gdLst>
                <a:gd name="textAreaLeft" fmla="*/ 0 w 7823880"/>
                <a:gd name="textAreaRight" fmla="*/ 7824240 w 7823880"/>
                <a:gd name="textAreaTop" fmla="*/ 0 h 685800"/>
                <a:gd name="textAreaBottom" fmla="*/ 686160 h 685800"/>
              </a:gdLst>
              <a:ahLst/>
              <a:rect l="textAreaLeft" t="textAreaTop" r="textAreaRight" b="textAreaBottom"/>
              <a:pathLst>
                <a:path w="10432311" h="915119">
                  <a:moveTo>
                    <a:pt x="0" y="0"/>
                  </a:moveTo>
                  <a:lnTo>
                    <a:pt x="10432311" y="0"/>
                  </a:lnTo>
                  <a:lnTo>
                    <a:pt x="10432311" y="915119"/>
                  </a:lnTo>
                  <a:lnTo>
                    <a:pt x="0" y="915119"/>
                  </a:lnTo>
                  <a:close/>
                </a:path>
              </a:pathLst>
            </a:custGeom>
            <a:blipFill rotWithShape="0">
              <a:blip r:embed="rId8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4" name="TextBox 46"/>
            <p:cNvSpPr/>
            <p:nvPr/>
          </p:nvSpPr>
          <p:spPr>
            <a:xfrm>
              <a:off x="2402280" y="6897240"/>
              <a:ext cx="7823880" cy="69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4022"/>
                </a:lnSpc>
              </a:pPr>
              <a:r>
                <a:rPr b="1" lang="en-US" sz="3350" spc="-1" strike="noStrike">
                  <a:solidFill>
                    <a:srgbClr val="14254a"/>
                  </a:solidFill>
                  <a:latin typeface="Georgia Bold"/>
                  <a:ea typeface="Georgia Bold"/>
                </a:rPr>
                <a:t>Two questions at once</a:t>
              </a:r>
              <a:endParaRPr b="0" lang="es-ES" sz="33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85" name="TextBox 47"/>
          <p:cNvSpPr/>
          <p:nvPr/>
        </p:nvSpPr>
        <p:spPr>
          <a:xfrm>
            <a:off x="2402280" y="7598160"/>
            <a:ext cx="7823880" cy="42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3362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Calibri (MS)"/>
                <a:ea typeface="Calibri (MS)"/>
              </a:rPr>
              <a:t>Is it fake? And what was done to it?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86" name="Group 48"/>
          <p:cNvGrpSpPr/>
          <p:nvPr/>
        </p:nvGrpSpPr>
        <p:grpSpPr>
          <a:xfrm>
            <a:off x="10912680" y="2402280"/>
            <a:ext cx="6561000" cy="6492240"/>
            <a:chOff x="10912680" y="2402280"/>
            <a:chExt cx="6561000" cy="6492240"/>
          </a:xfrm>
        </p:grpSpPr>
        <p:sp>
          <p:nvSpPr>
            <p:cNvPr id="187" name="Freeform 49"/>
            <p:cNvSpPr/>
            <p:nvPr/>
          </p:nvSpPr>
          <p:spPr>
            <a:xfrm>
              <a:off x="10912680" y="2402280"/>
              <a:ext cx="6561000" cy="6492240"/>
            </a:xfrm>
            <a:custGeom>
              <a:avLst/>
              <a:gdLst>
                <a:gd name="textAreaLeft" fmla="*/ 0 w 6561000"/>
                <a:gd name="textAreaRight" fmla="*/ 6561360 w 6561000"/>
                <a:gd name="textAreaTop" fmla="*/ 0 h 6492240"/>
                <a:gd name="textAreaBottom" fmla="*/ 6492600 h 6492240"/>
              </a:gdLst>
              <a:ahLst/>
              <a:rect l="textAreaLeft" t="textAreaTop" r="textAreaRight" b="textAreaBottom"/>
              <a:pathLst>
                <a:path w="8748522" h="8656955">
                  <a:moveTo>
                    <a:pt x="0" y="0"/>
                  </a:moveTo>
                  <a:lnTo>
                    <a:pt x="8748522" y="0"/>
                  </a:lnTo>
                  <a:lnTo>
                    <a:pt x="8748522" y="8656955"/>
                  </a:lnTo>
                  <a:lnTo>
                    <a:pt x="0" y="8656955"/>
                  </a:lnTo>
                  <a:close/>
                </a:path>
              </a:pathLst>
            </a:custGeom>
            <a:solidFill>
              <a:srgbClr val="0e22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88" name="Group 50"/>
          <p:cNvGrpSpPr/>
          <p:nvPr/>
        </p:nvGrpSpPr>
        <p:grpSpPr>
          <a:xfrm>
            <a:off x="11461680" y="2976840"/>
            <a:ext cx="5627520" cy="591840"/>
            <a:chOff x="11461680" y="2976840"/>
            <a:chExt cx="5627520" cy="591840"/>
          </a:xfrm>
        </p:grpSpPr>
        <p:sp>
          <p:nvSpPr>
            <p:cNvPr id="189" name="Freeform 51"/>
            <p:cNvSpPr/>
            <p:nvPr/>
          </p:nvSpPr>
          <p:spPr>
            <a:xfrm>
              <a:off x="11461680" y="3020040"/>
              <a:ext cx="5627520" cy="548640"/>
            </a:xfrm>
            <a:custGeom>
              <a:avLst/>
              <a:gdLst>
                <a:gd name="textAreaLeft" fmla="*/ 0 w 5627520"/>
                <a:gd name="textAreaRight" fmla="*/ 5627880 w 5627520"/>
                <a:gd name="textAreaTop" fmla="*/ 0 h 548640"/>
                <a:gd name="textAreaBottom" fmla="*/ 549000 h 548640"/>
              </a:gdLst>
              <a:ahLst/>
              <a:rect l="textAreaLeft" t="textAreaTop" r="textAreaRight" b="textAreaBottom"/>
              <a:pathLst>
                <a:path w="7503943" h="732092">
                  <a:moveTo>
                    <a:pt x="0" y="0"/>
                  </a:moveTo>
                  <a:lnTo>
                    <a:pt x="7503943" y="0"/>
                  </a:lnTo>
                  <a:lnTo>
                    <a:pt x="7503943" y="732092"/>
                  </a:lnTo>
                  <a:lnTo>
                    <a:pt x="0" y="732092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0" name="TextBox 52"/>
            <p:cNvSpPr/>
            <p:nvPr/>
          </p:nvSpPr>
          <p:spPr>
            <a:xfrm>
              <a:off x="11461680" y="2976840"/>
              <a:ext cx="5627520" cy="591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2701"/>
                </a:lnSpc>
              </a:pPr>
              <a:r>
                <a:rPr b="1" lang="en-US" sz="2250" spc="299" strike="noStrike">
                  <a:solidFill>
                    <a:srgbClr val="ffffff"/>
                  </a:solidFill>
                  <a:latin typeface="Calibri (MS) Bold"/>
                  <a:ea typeface="Calibri (MS) Bold"/>
                </a:rPr>
                <a:t>THE CHALLENGE</a:t>
              </a:r>
              <a:endParaRPr b="0" lang="es-ES" sz="22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1" name="Group 53"/>
          <p:cNvGrpSpPr/>
          <p:nvPr/>
        </p:nvGrpSpPr>
        <p:grpSpPr>
          <a:xfrm>
            <a:off x="11461680" y="3876480"/>
            <a:ext cx="5559120" cy="2780640"/>
            <a:chOff x="11461680" y="3876480"/>
            <a:chExt cx="5559120" cy="2780640"/>
          </a:xfrm>
        </p:grpSpPr>
        <p:sp>
          <p:nvSpPr>
            <p:cNvPr id="192" name="Freeform 54"/>
            <p:cNvSpPr/>
            <p:nvPr/>
          </p:nvSpPr>
          <p:spPr>
            <a:xfrm>
              <a:off x="11461680" y="3912120"/>
              <a:ext cx="5559120" cy="2745000"/>
            </a:xfrm>
            <a:custGeom>
              <a:avLst/>
              <a:gdLst>
                <a:gd name="textAreaLeft" fmla="*/ 0 w 5559120"/>
                <a:gd name="textAreaRight" fmla="*/ 5559480 w 5559120"/>
                <a:gd name="textAreaTop" fmla="*/ 0 h 2745000"/>
                <a:gd name="textAreaBottom" fmla="*/ 2745360 h 2745000"/>
              </a:gdLst>
              <a:ahLst/>
              <a:rect l="textAreaLeft" t="textAreaTop" r="textAreaRight" b="textAreaBottom"/>
              <a:pathLst>
                <a:path w="7412431" h="3660460">
                  <a:moveTo>
                    <a:pt x="0" y="0"/>
                  </a:moveTo>
                  <a:lnTo>
                    <a:pt x="7412431" y="0"/>
                  </a:lnTo>
                  <a:lnTo>
                    <a:pt x="7412431" y="3660460"/>
                  </a:lnTo>
                  <a:lnTo>
                    <a:pt x="0" y="3660460"/>
                  </a:lnTo>
                  <a:close/>
                </a:path>
              </a:pathLst>
            </a:custGeom>
            <a:blipFill rotWithShape="0">
              <a:blip r:embed="rId9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3" name="TextBox 55"/>
            <p:cNvSpPr/>
            <p:nvPr/>
          </p:nvSpPr>
          <p:spPr>
            <a:xfrm>
              <a:off x="11461680" y="3876480"/>
              <a:ext cx="5559120" cy="2780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5253"/>
                </a:lnSpc>
              </a:pPr>
              <a:r>
                <a:rPr b="1" lang="en-US" sz="4059" spc="-1" strike="noStrike">
                  <a:solidFill>
                    <a:srgbClr val="ffffff"/>
                  </a:solidFill>
                  <a:latin typeface="Georgia Bold"/>
                  <a:ea typeface="Georgia Bold"/>
                </a:rPr>
                <a:t>Spot AI images that</a:t>
              </a:r>
              <a:endParaRPr b="0" lang="es-ES" sz="4059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ts val="5253"/>
                </a:lnSpc>
              </a:pPr>
              <a:r>
                <a:rPr b="1" lang="en-US" sz="4059" spc="-1" strike="noStrike">
                  <a:solidFill>
                    <a:srgbClr val="ffffff"/>
                  </a:solidFill>
                  <a:latin typeface="Georgia Bold"/>
                  <a:ea typeface="Georgia Bold"/>
                </a:rPr>
                <a:t>stay reliable in the</a:t>
              </a:r>
              <a:endParaRPr b="0" lang="es-ES" sz="4059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ts val="5253"/>
                </a:lnSpc>
              </a:pPr>
              <a:r>
                <a:rPr b="1" lang="en-US" sz="4059" spc="-1" strike="noStrike">
                  <a:solidFill>
                    <a:srgbClr val="ffffff"/>
                  </a:solidFill>
                  <a:latin typeface="Georgia Bold"/>
                  <a:ea typeface="Georgia Bold"/>
                </a:rPr>
                <a:t>real world.</a:t>
              </a:r>
              <a:endParaRPr b="0" lang="es-ES" sz="4059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4" name="Group 56"/>
          <p:cNvGrpSpPr/>
          <p:nvPr/>
        </p:nvGrpSpPr>
        <p:grpSpPr>
          <a:xfrm>
            <a:off x="11461680" y="6968880"/>
            <a:ext cx="5428800" cy="47160"/>
            <a:chOff x="11461680" y="6968880"/>
            <a:chExt cx="5428800" cy="47160"/>
          </a:xfrm>
        </p:grpSpPr>
        <p:sp>
          <p:nvSpPr>
            <p:cNvPr id="195" name="Freeform 57"/>
            <p:cNvSpPr/>
            <p:nvPr/>
          </p:nvSpPr>
          <p:spPr>
            <a:xfrm>
              <a:off x="11461680" y="6968880"/>
              <a:ext cx="5428800" cy="47160"/>
            </a:xfrm>
            <a:custGeom>
              <a:avLst/>
              <a:gdLst>
                <a:gd name="textAreaLeft" fmla="*/ 0 w 5428800"/>
                <a:gd name="textAreaRight" fmla="*/ 5429160 w 5428800"/>
                <a:gd name="textAreaTop" fmla="*/ 0 h 47160"/>
                <a:gd name="textAreaBottom" fmla="*/ 47520 h 47160"/>
              </a:gdLst>
              <a:ahLst/>
              <a:rect l="textAreaLeft" t="textAreaTop" r="textAreaRight" b="textAreaBottom"/>
              <a:pathLst>
                <a:path w="2562352" h="22457">
                  <a:moveTo>
                    <a:pt x="0" y="0"/>
                  </a:moveTo>
                  <a:lnTo>
                    <a:pt x="2562352" y="0"/>
                  </a:lnTo>
                  <a:lnTo>
                    <a:pt x="2562352" y="22457"/>
                  </a:lnTo>
                  <a:lnTo>
                    <a:pt x="0" y="22457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520" bIns="252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6" name="Group 58"/>
          <p:cNvGrpSpPr/>
          <p:nvPr/>
        </p:nvGrpSpPr>
        <p:grpSpPr>
          <a:xfrm>
            <a:off x="11461680" y="7438320"/>
            <a:ext cx="5559120" cy="1140480"/>
            <a:chOff x="11461680" y="7438320"/>
            <a:chExt cx="5559120" cy="1140480"/>
          </a:xfrm>
        </p:grpSpPr>
        <p:sp>
          <p:nvSpPr>
            <p:cNvPr id="197" name="Freeform 59"/>
            <p:cNvSpPr/>
            <p:nvPr/>
          </p:nvSpPr>
          <p:spPr>
            <a:xfrm>
              <a:off x="11461680" y="7481160"/>
              <a:ext cx="5559120" cy="1097640"/>
            </a:xfrm>
            <a:custGeom>
              <a:avLst/>
              <a:gdLst>
                <a:gd name="textAreaLeft" fmla="*/ 0 w 5559120"/>
                <a:gd name="textAreaRight" fmla="*/ 5559480 w 5559120"/>
                <a:gd name="textAreaTop" fmla="*/ 0 h 1097640"/>
                <a:gd name="textAreaBottom" fmla="*/ 1098000 h 1097640"/>
              </a:gdLst>
              <a:ahLst/>
              <a:rect l="textAreaLeft" t="textAreaTop" r="textAreaRight" b="textAreaBottom"/>
              <a:pathLst>
                <a:path w="7412431" h="1464185">
                  <a:moveTo>
                    <a:pt x="0" y="0"/>
                  </a:moveTo>
                  <a:lnTo>
                    <a:pt x="7412431" y="0"/>
                  </a:lnTo>
                  <a:lnTo>
                    <a:pt x="7412431" y="1464185"/>
                  </a:lnTo>
                  <a:lnTo>
                    <a:pt x="0" y="1464185"/>
                  </a:lnTo>
                  <a:close/>
                </a:path>
              </a:pathLst>
            </a:custGeom>
            <a:blipFill rotWithShape="0">
              <a:blip r:embed="rId10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8" name="TextBox 60"/>
            <p:cNvSpPr/>
            <p:nvPr/>
          </p:nvSpPr>
          <p:spPr>
            <a:xfrm>
              <a:off x="11461680" y="7438320"/>
              <a:ext cx="5559120" cy="1140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3183"/>
                </a:lnSpc>
              </a:pPr>
              <a:r>
                <a:rPr b="0" i="1" lang="en-US" sz="2650" spc="-1" strike="noStrike">
                  <a:solidFill>
                    <a:srgbClr val="ffffff"/>
                  </a:solidFill>
                  <a:latin typeface="Calibri (MS) Italics"/>
                  <a:ea typeface="Calibri (MS) Italics"/>
                </a:rPr>
                <a:t>Lab accuracy isn't real-world robustness.</a:t>
              </a:r>
              <a:endParaRPr b="0" lang="es-ES" sz="26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99" name="TextBox 61"/>
          <p:cNvSpPr/>
          <p:nvPr/>
        </p:nvSpPr>
        <p:spPr>
          <a:xfrm>
            <a:off x="14120640" y="9613440"/>
            <a:ext cx="6797520" cy="39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3078"/>
              </a:lnSpc>
            </a:pPr>
            <a:r>
              <a:rPr b="1" lang="en-US" sz="2200" spc="-1" strike="noStrike">
                <a:solidFill>
                  <a:srgbClr val="4d4b66"/>
                </a:solidFill>
                <a:latin typeface="Montserrat Bold"/>
                <a:ea typeface="Montserrat Bold"/>
              </a:rPr>
              <a:t>3/15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" name="Group 2"/>
          <p:cNvGrpSpPr/>
          <p:nvPr/>
        </p:nvGrpSpPr>
        <p:grpSpPr>
          <a:xfrm>
            <a:off x="823680" y="686160"/>
            <a:ext cx="960480" cy="960480"/>
            <a:chOff x="823680" y="686160"/>
            <a:chExt cx="960480" cy="960480"/>
          </a:xfrm>
        </p:grpSpPr>
        <p:sp>
          <p:nvSpPr>
            <p:cNvPr id="201" name="Freeform 3"/>
            <p:cNvSpPr/>
            <p:nvPr/>
          </p:nvSpPr>
          <p:spPr>
            <a:xfrm>
              <a:off x="823680" y="686160"/>
              <a:ext cx="960480" cy="960480"/>
            </a:xfrm>
            <a:custGeom>
              <a:avLst/>
              <a:gdLst>
                <a:gd name="textAreaLeft" fmla="*/ 0 w 960480"/>
                <a:gd name="textAreaRight" fmla="*/ 960840 w 960480"/>
                <a:gd name="textAreaTop" fmla="*/ 0 h 960480"/>
                <a:gd name="textAreaBottom" fmla="*/ 960840 h 960480"/>
              </a:gdLst>
              <a:ahLst/>
              <a:rect l="textAreaLeft" t="textAreaTop" r="textAreaRight" b="textAreaBottom"/>
              <a:pathLst>
                <a:path w="1281176" h="1281176">
                  <a:moveTo>
                    <a:pt x="0" y="640588"/>
                  </a:moveTo>
                  <a:cubicBezTo>
                    <a:pt x="0" y="286766"/>
                    <a:pt x="286766" y="0"/>
                    <a:pt x="640588" y="0"/>
                  </a:cubicBezTo>
                  <a:cubicBezTo>
                    <a:pt x="994410" y="0"/>
                    <a:pt x="1281176" y="286766"/>
                    <a:pt x="1281176" y="640588"/>
                  </a:cubicBezTo>
                  <a:cubicBezTo>
                    <a:pt x="1281176" y="994410"/>
                    <a:pt x="994410" y="1281176"/>
                    <a:pt x="640588" y="1281176"/>
                  </a:cubicBezTo>
                  <a:cubicBezTo>
                    <a:pt x="286766" y="1281176"/>
                    <a:pt x="0" y="994410"/>
                    <a:pt x="0" y="640588"/>
                  </a:cubicBezTo>
                  <a:close/>
                </a:path>
              </a:pathLst>
            </a:custGeom>
            <a:solidFill>
              <a:srgbClr val="14254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02" name="Group 4"/>
          <p:cNvGrpSpPr/>
          <p:nvPr/>
        </p:nvGrpSpPr>
        <p:grpSpPr>
          <a:xfrm>
            <a:off x="823680" y="686160"/>
            <a:ext cx="960480" cy="960480"/>
            <a:chOff x="823680" y="686160"/>
            <a:chExt cx="960480" cy="960480"/>
          </a:xfrm>
        </p:grpSpPr>
        <p:sp>
          <p:nvSpPr>
            <p:cNvPr id="203" name="Freeform 5"/>
            <p:cNvSpPr/>
            <p:nvPr/>
          </p:nvSpPr>
          <p:spPr>
            <a:xfrm>
              <a:off x="823680" y="686160"/>
              <a:ext cx="960480" cy="960480"/>
            </a:xfrm>
            <a:custGeom>
              <a:avLst/>
              <a:gdLst>
                <a:gd name="textAreaLeft" fmla="*/ 0 w 960480"/>
                <a:gd name="textAreaRight" fmla="*/ 960840 w 960480"/>
                <a:gd name="textAreaTop" fmla="*/ 0 h 960480"/>
                <a:gd name="textAreaBottom" fmla="*/ 960840 h 960480"/>
              </a:gdLst>
              <a:ahLst/>
              <a:rect l="textAreaLeft" t="textAreaTop" r="textAreaRight" b="textAreaBottom"/>
              <a:pathLst>
                <a:path w="1281161" h="1281159">
                  <a:moveTo>
                    <a:pt x="0" y="0"/>
                  </a:moveTo>
                  <a:lnTo>
                    <a:pt x="1281161" y="0"/>
                  </a:lnTo>
                  <a:lnTo>
                    <a:pt x="1281161" y="1281159"/>
                  </a:lnTo>
                  <a:lnTo>
                    <a:pt x="0" y="1281159"/>
                  </a:lnTo>
                  <a:close/>
                </a:path>
              </a:pathLst>
            </a:custGeom>
            <a:blipFill rotWithShape="0">
              <a:blip r:embed="rId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4" name="TextBox 6"/>
            <p:cNvSpPr/>
            <p:nvPr/>
          </p:nvSpPr>
          <p:spPr>
            <a:xfrm>
              <a:off x="823680" y="686160"/>
              <a:ext cx="960480" cy="960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ts val="3963"/>
                </a:lnSpc>
              </a:pPr>
              <a:r>
                <a:rPr b="1" lang="en-US" sz="3300" spc="-1" strike="noStrike">
                  <a:solidFill>
                    <a:srgbClr val="ffffff"/>
                  </a:solidFill>
                  <a:latin typeface="Georgia Bold"/>
                  <a:ea typeface="Georgia Bold"/>
                </a:rPr>
                <a:t>02</a:t>
              </a:r>
              <a:endParaRPr b="0" lang="es-ES" sz="33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5" name="Group 7"/>
          <p:cNvGrpSpPr/>
          <p:nvPr/>
        </p:nvGrpSpPr>
        <p:grpSpPr>
          <a:xfrm>
            <a:off x="2058840" y="624240"/>
            <a:ext cx="14000760" cy="1077480"/>
            <a:chOff x="2058840" y="624240"/>
            <a:chExt cx="14000760" cy="1077480"/>
          </a:xfrm>
        </p:grpSpPr>
        <p:sp>
          <p:nvSpPr>
            <p:cNvPr id="206" name="Freeform 8"/>
            <p:cNvSpPr/>
            <p:nvPr/>
          </p:nvSpPr>
          <p:spPr>
            <a:xfrm>
              <a:off x="2058840" y="631440"/>
              <a:ext cx="14000760" cy="1070280"/>
            </a:xfrm>
            <a:custGeom>
              <a:avLst/>
              <a:gdLst>
                <a:gd name="textAreaLeft" fmla="*/ 0 w 14000760"/>
                <a:gd name="textAreaRight" fmla="*/ 14001120 w 14000760"/>
                <a:gd name="textAreaTop" fmla="*/ 0 h 1070280"/>
                <a:gd name="textAreaBottom" fmla="*/ 1070640 h 1070280"/>
              </a:gdLst>
              <a:ahLst/>
              <a:rect l="textAreaLeft" t="textAreaTop" r="textAreaRight" b="textAreaBottom"/>
              <a:pathLst>
                <a:path w="18668344" h="1427579">
                  <a:moveTo>
                    <a:pt x="0" y="0"/>
                  </a:moveTo>
                  <a:lnTo>
                    <a:pt x="18668344" y="0"/>
                  </a:lnTo>
                  <a:lnTo>
                    <a:pt x="18668344" y="1427579"/>
                  </a:lnTo>
                  <a:lnTo>
                    <a:pt x="0" y="1427579"/>
                  </a:lnTo>
                  <a:close/>
                </a:path>
              </a:pathLst>
            </a:custGeom>
            <a:blipFill rotWithShape="0">
              <a:blip r:embed="rId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7" name="TextBox 9"/>
            <p:cNvSpPr/>
            <p:nvPr/>
          </p:nvSpPr>
          <p:spPr>
            <a:xfrm>
              <a:off x="2058840" y="624240"/>
              <a:ext cx="14000760" cy="1077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6123"/>
                </a:lnSpc>
              </a:pPr>
              <a:r>
                <a:rPr b="1" lang="en-US" sz="5110" spc="-1" strike="noStrike">
                  <a:solidFill>
                    <a:srgbClr val="14254a"/>
                  </a:solidFill>
                  <a:latin typeface="Georgia Bold"/>
                  <a:ea typeface="Georgia Bold"/>
                </a:rPr>
                <a:t>State of the Art</a:t>
              </a:r>
              <a:endParaRPr b="0" lang="es-ES" sz="511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8" name="Group 10"/>
          <p:cNvGrpSpPr/>
          <p:nvPr/>
        </p:nvGrpSpPr>
        <p:grpSpPr>
          <a:xfrm>
            <a:off x="823680" y="1921680"/>
            <a:ext cx="16650360" cy="29880"/>
            <a:chOff x="823680" y="1921680"/>
            <a:chExt cx="16650360" cy="29880"/>
          </a:xfrm>
        </p:grpSpPr>
        <p:sp>
          <p:nvSpPr>
            <p:cNvPr id="209" name="Freeform 11"/>
            <p:cNvSpPr/>
            <p:nvPr/>
          </p:nvSpPr>
          <p:spPr>
            <a:xfrm>
              <a:off x="823680" y="1921680"/>
              <a:ext cx="16650360" cy="29880"/>
            </a:xfrm>
            <a:custGeom>
              <a:avLst/>
              <a:gdLst>
                <a:gd name="textAreaLeft" fmla="*/ 0 w 16650360"/>
                <a:gd name="textAreaRight" fmla="*/ 16650720 w 16650360"/>
                <a:gd name="textAreaTop" fmla="*/ 0 h 29880"/>
                <a:gd name="textAreaBottom" fmla="*/ 30240 h 29880"/>
              </a:gdLst>
              <a:ahLst/>
              <a:rect l="textAreaLeft" t="textAreaTop" r="textAreaRight" b="textAreaBottom"/>
              <a:pathLst>
                <a:path w="22200743" h="40259">
                  <a:moveTo>
                    <a:pt x="0" y="0"/>
                  </a:moveTo>
                  <a:lnTo>
                    <a:pt x="22200743" y="0"/>
                  </a:lnTo>
                  <a:lnTo>
                    <a:pt x="22200743" y="40259"/>
                  </a:lnTo>
                  <a:lnTo>
                    <a:pt x="0" y="40259"/>
                  </a:lnTo>
                  <a:close/>
                </a:path>
              </a:pathLst>
            </a:custGeom>
            <a:solidFill>
              <a:srgbClr val="d9e1e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760" bIns="-1476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0" name="Group 12"/>
          <p:cNvGrpSpPr/>
          <p:nvPr/>
        </p:nvGrpSpPr>
        <p:grpSpPr>
          <a:xfrm>
            <a:off x="813960" y="2667240"/>
            <a:ext cx="5317200" cy="4685760"/>
            <a:chOff x="813960" y="2667240"/>
            <a:chExt cx="5317200" cy="4685760"/>
          </a:xfrm>
        </p:grpSpPr>
        <p:sp>
          <p:nvSpPr>
            <p:cNvPr id="211" name="Freeform 13"/>
            <p:cNvSpPr/>
            <p:nvPr/>
          </p:nvSpPr>
          <p:spPr>
            <a:xfrm>
              <a:off x="813960" y="2667240"/>
              <a:ext cx="5317200" cy="4685760"/>
            </a:xfrm>
            <a:custGeom>
              <a:avLst/>
              <a:gdLst>
                <a:gd name="textAreaLeft" fmla="*/ 0 w 5317200"/>
                <a:gd name="textAreaRight" fmla="*/ 5317560 w 5317200"/>
                <a:gd name="textAreaTop" fmla="*/ 0 h 4685760"/>
                <a:gd name="textAreaBottom" fmla="*/ 4686120 h 4685760"/>
              </a:gdLst>
              <a:ahLst/>
              <a:rect l="textAreaLeft" t="textAreaTop" r="textAreaRight" b="textAreaBottom"/>
              <a:pathLst>
                <a:path w="7090156" h="6248146">
                  <a:moveTo>
                    <a:pt x="0" y="0"/>
                  </a:moveTo>
                  <a:lnTo>
                    <a:pt x="7090156" y="0"/>
                  </a:lnTo>
                  <a:lnTo>
                    <a:pt x="7090156" y="6248146"/>
                  </a:lnTo>
                  <a:lnTo>
                    <a:pt x="0" y="6248146"/>
                  </a:lnTo>
                  <a:close/>
                </a:path>
              </a:pathLst>
            </a:custGeom>
            <a:solidFill>
              <a:srgbClr val="f7f9fc"/>
            </a:solidFill>
            <a:ln cap="sq" w="19065">
              <a:solidFill>
                <a:srgbClr val="d9e1e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2" name="Group 14"/>
          <p:cNvGrpSpPr/>
          <p:nvPr/>
        </p:nvGrpSpPr>
        <p:grpSpPr>
          <a:xfrm>
            <a:off x="823680" y="2676600"/>
            <a:ext cx="136800" cy="4666680"/>
            <a:chOff x="823680" y="2676600"/>
            <a:chExt cx="136800" cy="4666680"/>
          </a:xfrm>
        </p:grpSpPr>
        <p:sp>
          <p:nvSpPr>
            <p:cNvPr id="213" name="Freeform 15"/>
            <p:cNvSpPr/>
            <p:nvPr/>
          </p:nvSpPr>
          <p:spPr>
            <a:xfrm>
              <a:off x="823680" y="2676600"/>
              <a:ext cx="136800" cy="4666680"/>
            </a:xfrm>
            <a:custGeom>
              <a:avLst/>
              <a:gdLst>
                <a:gd name="textAreaLeft" fmla="*/ 0 w 136800"/>
                <a:gd name="textAreaRight" fmla="*/ 137160 w 136800"/>
                <a:gd name="textAreaTop" fmla="*/ 0 h 4666680"/>
                <a:gd name="textAreaBottom" fmla="*/ 4667040 h 4666680"/>
              </a:gdLst>
              <a:ahLst/>
              <a:rect l="textAreaLeft" t="textAreaTop" r="textAreaRight" b="textAreaBottom"/>
              <a:pathLst>
                <a:path w="183007" h="6222746">
                  <a:moveTo>
                    <a:pt x="0" y="0"/>
                  </a:moveTo>
                  <a:lnTo>
                    <a:pt x="183007" y="0"/>
                  </a:lnTo>
                  <a:lnTo>
                    <a:pt x="183007" y="6222746"/>
                  </a:lnTo>
                  <a:lnTo>
                    <a:pt x="0" y="6222746"/>
                  </a:lnTo>
                  <a:close/>
                </a:path>
              </a:pathLst>
            </a:custGeom>
            <a:solidFill>
              <a:srgbClr val="0e22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14" name="Group 16"/>
          <p:cNvGrpSpPr/>
          <p:nvPr/>
        </p:nvGrpSpPr>
        <p:grpSpPr>
          <a:xfrm>
            <a:off x="1235520" y="3157200"/>
            <a:ext cx="1166400" cy="1166400"/>
            <a:chOff x="1235520" y="3157200"/>
            <a:chExt cx="1166400" cy="1166400"/>
          </a:xfrm>
        </p:grpSpPr>
        <p:sp>
          <p:nvSpPr>
            <p:cNvPr id="215" name="Freeform 17"/>
            <p:cNvSpPr/>
            <p:nvPr/>
          </p:nvSpPr>
          <p:spPr>
            <a:xfrm>
              <a:off x="1235520" y="3157200"/>
              <a:ext cx="1166400" cy="1166400"/>
            </a:xfrm>
            <a:custGeom>
              <a:avLst/>
              <a:gdLst>
                <a:gd name="textAreaLeft" fmla="*/ 0 w 1166400"/>
                <a:gd name="textAreaRight" fmla="*/ 1166760 w 1166400"/>
                <a:gd name="textAreaTop" fmla="*/ 0 h 1166400"/>
                <a:gd name="textAreaBottom" fmla="*/ 1166760 h 1166400"/>
              </a:gdLst>
              <a:ahLst/>
              <a:rect l="textAreaLeft" t="textAreaTop" r="textAreaRight" b="textAreaBottom"/>
              <a:pathLst>
                <a:path w="1555750" h="1555750">
                  <a:moveTo>
                    <a:pt x="0" y="777875"/>
                  </a:moveTo>
                  <a:cubicBezTo>
                    <a:pt x="0" y="348234"/>
                    <a:pt x="348234" y="0"/>
                    <a:pt x="777875" y="0"/>
                  </a:cubicBezTo>
                  <a:cubicBezTo>
                    <a:pt x="1207516" y="0"/>
                    <a:pt x="1555750" y="348234"/>
                    <a:pt x="1555750" y="777875"/>
                  </a:cubicBezTo>
                  <a:cubicBezTo>
                    <a:pt x="1555750" y="1207516"/>
                    <a:pt x="1207389" y="1555750"/>
                    <a:pt x="777875" y="1555750"/>
                  </a:cubicBezTo>
                  <a:cubicBezTo>
                    <a:pt x="348361" y="1555750"/>
                    <a:pt x="0" y="1207389"/>
                    <a:pt x="0" y="777875"/>
                  </a:cubicBezTo>
                  <a:close/>
                </a:path>
              </a:pathLst>
            </a:custGeom>
            <a:solidFill>
              <a:srgbClr val="14254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16" name="Group 18"/>
          <p:cNvGrpSpPr/>
          <p:nvPr/>
        </p:nvGrpSpPr>
        <p:grpSpPr>
          <a:xfrm>
            <a:off x="1537560" y="3459240"/>
            <a:ext cx="562320" cy="562320"/>
            <a:chOff x="1537560" y="3459240"/>
            <a:chExt cx="562320" cy="562320"/>
          </a:xfrm>
        </p:grpSpPr>
        <p:sp>
          <p:nvSpPr>
            <p:cNvPr id="217" name="Freeform 19"/>
            <p:cNvSpPr/>
            <p:nvPr/>
          </p:nvSpPr>
          <p:spPr>
            <a:xfrm>
              <a:off x="1537560" y="3459240"/>
              <a:ext cx="562320" cy="562320"/>
            </a:xfrm>
            <a:custGeom>
              <a:avLst/>
              <a:gdLst>
                <a:gd name="textAreaLeft" fmla="*/ 0 w 562320"/>
                <a:gd name="textAreaRight" fmla="*/ 562680 w 562320"/>
                <a:gd name="textAreaTop" fmla="*/ 0 h 562320"/>
                <a:gd name="textAreaBottom" fmla="*/ 562680 h 562320"/>
              </a:gdLst>
              <a:ahLst/>
              <a:rect l="textAreaLeft" t="textAreaTop" r="textAreaRight" b="textAreaBottom"/>
              <a:pathLst>
                <a:path w="750443" h="750443">
                  <a:moveTo>
                    <a:pt x="0" y="0"/>
                  </a:moveTo>
                  <a:lnTo>
                    <a:pt x="750443" y="0"/>
                  </a:lnTo>
                  <a:lnTo>
                    <a:pt x="750443" y="750443"/>
                  </a:lnTo>
                  <a:lnTo>
                    <a:pt x="0" y="750443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18" name="TextBox 20"/>
          <p:cNvSpPr/>
          <p:nvPr/>
        </p:nvSpPr>
        <p:spPr>
          <a:xfrm>
            <a:off x="1235520" y="4598280"/>
            <a:ext cx="4529520" cy="55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4382"/>
              </a:lnSpc>
            </a:pPr>
            <a:r>
              <a:rPr b="1" lang="en-US" sz="3650" spc="-1" strike="noStrike">
                <a:solidFill>
                  <a:srgbClr val="14254a"/>
                </a:solidFill>
                <a:latin typeface="Georgia Bold"/>
                <a:ea typeface="Georgia Bold"/>
              </a:rPr>
              <a:t>Forensic cues</a:t>
            </a:r>
            <a:endParaRPr b="0" lang="es-ES" sz="3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Box 21"/>
          <p:cNvSpPr/>
          <p:nvPr/>
        </p:nvSpPr>
        <p:spPr>
          <a:xfrm>
            <a:off x="1235520" y="5326920"/>
            <a:ext cx="4529520" cy="10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3963"/>
              </a:lnSpc>
            </a:pPr>
            <a:r>
              <a:rPr b="0" lang="en-US" sz="3000" spc="-1" strike="noStrike">
                <a:solidFill>
                  <a:srgbClr val="000000"/>
                </a:solidFill>
                <a:latin typeface="Calibri (MS)"/>
                <a:ea typeface="Calibri (MS)"/>
              </a:rPr>
              <a:t>Compression grids, FFT &amp; noise signatures.</a:t>
            </a:r>
            <a:endParaRPr b="0" lang="es-ES" sz="30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20" name="Group 22"/>
          <p:cNvGrpSpPr/>
          <p:nvPr/>
        </p:nvGrpSpPr>
        <p:grpSpPr>
          <a:xfrm>
            <a:off x="6400800" y="2667240"/>
            <a:ext cx="5317200" cy="4685760"/>
            <a:chOff x="6400800" y="2667240"/>
            <a:chExt cx="5317200" cy="4685760"/>
          </a:xfrm>
        </p:grpSpPr>
        <p:sp>
          <p:nvSpPr>
            <p:cNvPr id="221" name="Freeform 23"/>
            <p:cNvSpPr/>
            <p:nvPr/>
          </p:nvSpPr>
          <p:spPr>
            <a:xfrm>
              <a:off x="6400800" y="2667240"/>
              <a:ext cx="5317200" cy="4685760"/>
            </a:xfrm>
            <a:custGeom>
              <a:avLst/>
              <a:gdLst>
                <a:gd name="textAreaLeft" fmla="*/ 0 w 5317200"/>
                <a:gd name="textAreaRight" fmla="*/ 5317560 w 5317200"/>
                <a:gd name="textAreaTop" fmla="*/ 0 h 4685760"/>
                <a:gd name="textAreaBottom" fmla="*/ 4686120 h 4685760"/>
              </a:gdLst>
              <a:ahLst/>
              <a:rect l="textAreaLeft" t="textAreaTop" r="textAreaRight" b="textAreaBottom"/>
              <a:pathLst>
                <a:path w="7090156" h="6248146">
                  <a:moveTo>
                    <a:pt x="0" y="0"/>
                  </a:moveTo>
                  <a:lnTo>
                    <a:pt x="7090156" y="0"/>
                  </a:lnTo>
                  <a:lnTo>
                    <a:pt x="7090156" y="6248146"/>
                  </a:lnTo>
                  <a:lnTo>
                    <a:pt x="0" y="6248146"/>
                  </a:lnTo>
                  <a:close/>
                </a:path>
              </a:pathLst>
            </a:custGeom>
            <a:solidFill>
              <a:srgbClr val="f7f9fc"/>
            </a:solidFill>
            <a:ln cap="sq" w="19065">
              <a:solidFill>
                <a:srgbClr val="d9e1e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2" name="Group 24"/>
          <p:cNvGrpSpPr/>
          <p:nvPr/>
        </p:nvGrpSpPr>
        <p:grpSpPr>
          <a:xfrm>
            <a:off x="6410520" y="2676600"/>
            <a:ext cx="136800" cy="4666680"/>
            <a:chOff x="6410520" y="2676600"/>
            <a:chExt cx="136800" cy="4666680"/>
          </a:xfrm>
        </p:grpSpPr>
        <p:sp>
          <p:nvSpPr>
            <p:cNvPr id="223" name="Freeform 25"/>
            <p:cNvSpPr/>
            <p:nvPr/>
          </p:nvSpPr>
          <p:spPr>
            <a:xfrm>
              <a:off x="6410520" y="2676600"/>
              <a:ext cx="136800" cy="4666680"/>
            </a:xfrm>
            <a:custGeom>
              <a:avLst/>
              <a:gdLst>
                <a:gd name="textAreaLeft" fmla="*/ 0 w 136800"/>
                <a:gd name="textAreaRight" fmla="*/ 137160 w 136800"/>
                <a:gd name="textAreaTop" fmla="*/ 0 h 4666680"/>
                <a:gd name="textAreaBottom" fmla="*/ 4667040 h 4666680"/>
              </a:gdLst>
              <a:ahLst/>
              <a:rect l="textAreaLeft" t="textAreaTop" r="textAreaRight" b="textAreaBottom"/>
              <a:pathLst>
                <a:path w="183007" h="6222746">
                  <a:moveTo>
                    <a:pt x="0" y="0"/>
                  </a:moveTo>
                  <a:lnTo>
                    <a:pt x="183007" y="0"/>
                  </a:lnTo>
                  <a:lnTo>
                    <a:pt x="183007" y="6222746"/>
                  </a:lnTo>
                  <a:lnTo>
                    <a:pt x="0" y="6222746"/>
                  </a:lnTo>
                  <a:close/>
                </a:path>
              </a:pathLst>
            </a:custGeom>
            <a:solidFill>
              <a:srgbClr val="0e22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24" name="Group 26"/>
          <p:cNvGrpSpPr/>
          <p:nvPr/>
        </p:nvGrpSpPr>
        <p:grpSpPr>
          <a:xfrm>
            <a:off x="6822360" y="3157200"/>
            <a:ext cx="1166400" cy="1166400"/>
            <a:chOff x="6822360" y="3157200"/>
            <a:chExt cx="1166400" cy="1166400"/>
          </a:xfrm>
        </p:grpSpPr>
        <p:sp>
          <p:nvSpPr>
            <p:cNvPr id="225" name="Freeform 27"/>
            <p:cNvSpPr/>
            <p:nvPr/>
          </p:nvSpPr>
          <p:spPr>
            <a:xfrm>
              <a:off x="6822360" y="3157200"/>
              <a:ext cx="1166400" cy="1166400"/>
            </a:xfrm>
            <a:custGeom>
              <a:avLst/>
              <a:gdLst>
                <a:gd name="textAreaLeft" fmla="*/ 0 w 1166400"/>
                <a:gd name="textAreaRight" fmla="*/ 1166760 w 1166400"/>
                <a:gd name="textAreaTop" fmla="*/ 0 h 1166400"/>
                <a:gd name="textAreaBottom" fmla="*/ 1166760 h 1166400"/>
              </a:gdLst>
              <a:ahLst/>
              <a:rect l="textAreaLeft" t="textAreaTop" r="textAreaRight" b="textAreaBottom"/>
              <a:pathLst>
                <a:path w="1555750" h="1555750">
                  <a:moveTo>
                    <a:pt x="0" y="777875"/>
                  </a:moveTo>
                  <a:cubicBezTo>
                    <a:pt x="0" y="348234"/>
                    <a:pt x="348234" y="0"/>
                    <a:pt x="777875" y="0"/>
                  </a:cubicBezTo>
                  <a:cubicBezTo>
                    <a:pt x="1207516" y="0"/>
                    <a:pt x="1555750" y="348234"/>
                    <a:pt x="1555750" y="777875"/>
                  </a:cubicBezTo>
                  <a:cubicBezTo>
                    <a:pt x="1555750" y="1207516"/>
                    <a:pt x="1207389" y="1555750"/>
                    <a:pt x="777875" y="1555750"/>
                  </a:cubicBezTo>
                  <a:cubicBezTo>
                    <a:pt x="348361" y="1555750"/>
                    <a:pt x="0" y="1207389"/>
                    <a:pt x="0" y="777875"/>
                  </a:cubicBezTo>
                  <a:close/>
                </a:path>
              </a:pathLst>
            </a:custGeom>
            <a:solidFill>
              <a:srgbClr val="14254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26" name="Group 28"/>
          <p:cNvGrpSpPr/>
          <p:nvPr/>
        </p:nvGrpSpPr>
        <p:grpSpPr>
          <a:xfrm>
            <a:off x="7124040" y="3459240"/>
            <a:ext cx="562320" cy="562320"/>
            <a:chOff x="7124040" y="3459240"/>
            <a:chExt cx="562320" cy="562320"/>
          </a:xfrm>
        </p:grpSpPr>
        <p:sp>
          <p:nvSpPr>
            <p:cNvPr id="227" name="Freeform 29"/>
            <p:cNvSpPr/>
            <p:nvPr/>
          </p:nvSpPr>
          <p:spPr>
            <a:xfrm>
              <a:off x="7124040" y="3459240"/>
              <a:ext cx="562320" cy="562320"/>
            </a:xfrm>
            <a:custGeom>
              <a:avLst/>
              <a:gdLst>
                <a:gd name="textAreaLeft" fmla="*/ 0 w 562320"/>
                <a:gd name="textAreaRight" fmla="*/ 562680 w 562320"/>
                <a:gd name="textAreaTop" fmla="*/ 0 h 562320"/>
                <a:gd name="textAreaBottom" fmla="*/ 562680 h 562320"/>
              </a:gdLst>
              <a:ahLst/>
              <a:rect l="textAreaLeft" t="textAreaTop" r="textAreaRight" b="textAreaBottom"/>
              <a:pathLst>
                <a:path w="750443" h="750443">
                  <a:moveTo>
                    <a:pt x="0" y="0"/>
                  </a:moveTo>
                  <a:lnTo>
                    <a:pt x="750443" y="0"/>
                  </a:lnTo>
                  <a:lnTo>
                    <a:pt x="750443" y="750443"/>
                  </a:lnTo>
                  <a:lnTo>
                    <a:pt x="0" y="750443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28" name="TextBox 30"/>
          <p:cNvSpPr/>
          <p:nvPr/>
        </p:nvSpPr>
        <p:spPr>
          <a:xfrm>
            <a:off x="6822360" y="4598280"/>
            <a:ext cx="4529520" cy="55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4382"/>
              </a:lnSpc>
            </a:pPr>
            <a:r>
              <a:rPr b="1" lang="en-US" sz="3650" spc="-1" strike="noStrike">
                <a:solidFill>
                  <a:srgbClr val="14254a"/>
                </a:solidFill>
                <a:latin typeface="Georgia Bold"/>
                <a:ea typeface="Georgia Bold"/>
              </a:rPr>
              <a:t>Deep detectors</a:t>
            </a:r>
            <a:endParaRPr b="0" lang="es-ES" sz="3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Box 31"/>
          <p:cNvSpPr/>
          <p:nvPr/>
        </p:nvSpPr>
        <p:spPr>
          <a:xfrm>
            <a:off x="6822360" y="5326920"/>
            <a:ext cx="4529520" cy="10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3963"/>
              </a:lnSpc>
            </a:pPr>
            <a:r>
              <a:rPr b="0" lang="en-US" sz="3000" spc="-1" strike="noStrike">
                <a:solidFill>
                  <a:srgbClr val="000000"/>
                </a:solidFill>
                <a:latin typeface="Calibri (MS)"/>
                <a:ea typeface="Calibri (MS)"/>
              </a:rPr>
              <a:t>CNNs &amp; transformers learn AI fingerprints.</a:t>
            </a:r>
            <a:endParaRPr b="0" lang="es-ES" sz="30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30" name="Group 32"/>
          <p:cNvGrpSpPr/>
          <p:nvPr/>
        </p:nvGrpSpPr>
        <p:grpSpPr>
          <a:xfrm>
            <a:off x="11987640" y="2667240"/>
            <a:ext cx="5317200" cy="4685760"/>
            <a:chOff x="11987640" y="2667240"/>
            <a:chExt cx="5317200" cy="4685760"/>
          </a:xfrm>
        </p:grpSpPr>
        <p:sp>
          <p:nvSpPr>
            <p:cNvPr id="231" name="Freeform 33"/>
            <p:cNvSpPr/>
            <p:nvPr/>
          </p:nvSpPr>
          <p:spPr>
            <a:xfrm>
              <a:off x="11987640" y="2667240"/>
              <a:ext cx="5317200" cy="4685760"/>
            </a:xfrm>
            <a:custGeom>
              <a:avLst/>
              <a:gdLst>
                <a:gd name="textAreaLeft" fmla="*/ 0 w 5317200"/>
                <a:gd name="textAreaRight" fmla="*/ 5317560 w 5317200"/>
                <a:gd name="textAreaTop" fmla="*/ 0 h 4685760"/>
                <a:gd name="textAreaBottom" fmla="*/ 4686120 h 4685760"/>
              </a:gdLst>
              <a:ahLst/>
              <a:rect l="textAreaLeft" t="textAreaTop" r="textAreaRight" b="textAreaBottom"/>
              <a:pathLst>
                <a:path w="7090156" h="6248146">
                  <a:moveTo>
                    <a:pt x="0" y="0"/>
                  </a:moveTo>
                  <a:lnTo>
                    <a:pt x="7090156" y="0"/>
                  </a:lnTo>
                  <a:lnTo>
                    <a:pt x="7090156" y="6248146"/>
                  </a:lnTo>
                  <a:lnTo>
                    <a:pt x="0" y="6248146"/>
                  </a:lnTo>
                  <a:close/>
                </a:path>
              </a:pathLst>
            </a:custGeom>
            <a:solidFill>
              <a:srgbClr val="f7f9fc"/>
            </a:solidFill>
            <a:ln cap="sq" w="19065">
              <a:solidFill>
                <a:srgbClr val="d9e1e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2" name="Group 34"/>
          <p:cNvGrpSpPr/>
          <p:nvPr/>
        </p:nvGrpSpPr>
        <p:grpSpPr>
          <a:xfrm>
            <a:off x="11997000" y="2676600"/>
            <a:ext cx="136800" cy="4666680"/>
            <a:chOff x="11997000" y="2676600"/>
            <a:chExt cx="136800" cy="4666680"/>
          </a:xfrm>
        </p:grpSpPr>
        <p:sp>
          <p:nvSpPr>
            <p:cNvPr id="233" name="Freeform 35"/>
            <p:cNvSpPr/>
            <p:nvPr/>
          </p:nvSpPr>
          <p:spPr>
            <a:xfrm>
              <a:off x="11997000" y="2676600"/>
              <a:ext cx="136800" cy="4666680"/>
            </a:xfrm>
            <a:custGeom>
              <a:avLst/>
              <a:gdLst>
                <a:gd name="textAreaLeft" fmla="*/ 0 w 136800"/>
                <a:gd name="textAreaRight" fmla="*/ 137160 w 136800"/>
                <a:gd name="textAreaTop" fmla="*/ 0 h 4666680"/>
                <a:gd name="textAreaBottom" fmla="*/ 4667040 h 4666680"/>
              </a:gdLst>
              <a:ahLst/>
              <a:rect l="textAreaLeft" t="textAreaTop" r="textAreaRight" b="textAreaBottom"/>
              <a:pathLst>
                <a:path w="183007" h="6222746">
                  <a:moveTo>
                    <a:pt x="0" y="0"/>
                  </a:moveTo>
                  <a:lnTo>
                    <a:pt x="183007" y="0"/>
                  </a:lnTo>
                  <a:lnTo>
                    <a:pt x="183007" y="6222746"/>
                  </a:lnTo>
                  <a:lnTo>
                    <a:pt x="0" y="6222746"/>
                  </a:lnTo>
                  <a:close/>
                </a:path>
              </a:pathLst>
            </a:custGeom>
            <a:solidFill>
              <a:srgbClr val="0e22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34" name="Group 36"/>
          <p:cNvGrpSpPr/>
          <p:nvPr/>
        </p:nvGrpSpPr>
        <p:grpSpPr>
          <a:xfrm>
            <a:off x="12408840" y="3157200"/>
            <a:ext cx="1166400" cy="1166400"/>
            <a:chOff x="12408840" y="3157200"/>
            <a:chExt cx="1166400" cy="1166400"/>
          </a:xfrm>
        </p:grpSpPr>
        <p:sp>
          <p:nvSpPr>
            <p:cNvPr id="235" name="Freeform 37"/>
            <p:cNvSpPr/>
            <p:nvPr/>
          </p:nvSpPr>
          <p:spPr>
            <a:xfrm>
              <a:off x="12408840" y="3157200"/>
              <a:ext cx="1166400" cy="1166400"/>
            </a:xfrm>
            <a:custGeom>
              <a:avLst/>
              <a:gdLst>
                <a:gd name="textAreaLeft" fmla="*/ 0 w 1166400"/>
                <a:gd name="textAreaRight" fmla="*/ 1166760 w 1166400"/>
                <a:gd name="textAreaTop" fmla="*/ 0 h 1166400"/>
                <a:gd name="textAreaBottom" fmla="*/ 1166760 h 1166400"/>
              </a:gdLst>
              <a:ahLst/>
              <a:rect l="textAreaLeft" t="textAreaTop" r="textAreaRight" b="textAreaBottom"/>
              <a:pathLst>
                <a:path w="1555750" h="1555750">
                  <a:moveTo>
                    <a:pt x="0" y="777875"/>
                  </a:moveTo>
                  <a:cubicBezTo>
                    <a:pt x="0" y="348234"/>
                    <a:pt x="348234" y="0"/>
                    <a:pt x="777875" y="0"/>
                  </a:cubicBezTo>
                  <a:cubicBezTo>
                    <a:pt x="1207516" y="0"/>
                    <a:pt x="1555750" y="348234"/>
                    <a:pt x="1555750" y="777875"/>
                  </a:cubicBezTo>
                  <a:cubicBezTo>
                    <a:pt x="1555750" y="1207516"/>
                    <a:pt x="1207389" y="1555750"/>
                    <a:pt x="777875" y="1555750"/>
                  </a:cubicBezTo>
                  <a:cubicBezTo>
                    <a:pt x="348361" y="1555750"/>
                    <a:pt x="0" y="1207389"/>
                    <a:pt x="0" y="777875"/>
                  </a:cubicBezTo>
                  <a:close/>
                </a:path>
              </a:pathLst>
            </a:custGeom>
            <a:solidFill>
              <a:srgbClr val="14254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36" name="Group 38"/>
          <p:cNvGrpSpPr/>
          <p:nvPr/>
        </p:nvGrpSpPr>
        <p:grpSpPr>
          <a:xfrm>
            <a:off x="12710880" y="3459240"/>
            <a:ext cx="562320" cy="562320"/>
            <a:chOff x="12710880" y="3459240"/>
            <a:chExt cx="562320" cy="562320"/>
          </a:xfrm>
        </p:grpSpPr>
        <p:sp>
          <p:nvSpPr>
            <p:cNvPr id="237" name="Freeform 39"/>
            <p:cNvSpPr/>
            <p:nvPr/>
          </p:nvSpPr>
          <p:spPr>
            <a:xfrm>
              <a:off x="12710880" y="3459240"/>
              <a:ext cx="562320" cy="562320"/>
            </a:xfrm>
            <a:custGeom>
              <a:avLst/>
              <a:gdLst>
                <a:gd name="textAreaLeft" fmla="*/ 0 w 562320"/>
                <a:gd name="textAreaRight" fmla="*/ 562680 w 562320"/>
                <a:gd name="textAreaTop" fmla="*/ 0 h 562320"/>
                <a:gd name="textAreaBottom" fmla="*/ 562680 h 562320"/>
              </a:gdLst>
              <a:ahLst/>
              <a:rect l="textAreaLeft" t="textAreaTop" r="textAreaRight" b="textAreaBottom"/>
              <a:pathLst>
                <a:path w="750443" h="750443">
                  <a:moveTo>
                    <a:pt x="0" y="0"/>
                  </a:moveTo>
                  <a:lnTo>
                    <a:pt x="750443" y="0"/>
                  </a:lnTo>
                  <a:lnTo>
                    <a:pt x="750443" y="750443"/>
                  </a:lnTo>
                  <a:lnTo>
                    <a:pt x="0" y="750443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5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38" name="TextBox 40"/>
          <p:cNvSpPr/>
          <p:nvPr/>
        </p:nvSpPr>
        <p:spPr>
          <a:xfrm>
            <a:off x="12408840" y="4598280"/>
            <a:ext cx="4529520" cy="55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4382"/>
              </a:lnSpc>
            </a:pPr>
            <a:r>
              <a:rPr b="1" lang="en-US" sz="3650" spc="-1" strike="noStrike">
                <a:solidFill>
                  <a:srgbClr val="14254a"/>
                </a:solidFill>
                <a:latin typeface="Georgia Bold"/>
                <a:ea typeface="Georgia Bold"/>
              </a:rPr>
              <a:t>Robustness tests</a:t>
            </a:r>
            <a:endParaRPr b="0" lang="es-ES" sz="3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Box 41"/>
          <p:cNvSpPr/>
          <p:nvPr/>
        </p:nvSpPr>
        <p:spPr>
          <a:xfrm>
            <a:off x="12408840" y="5326920"/>
            <a:ext cx="4529520" cy="100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3963"/>
              </a:lnSpc>
            </a:pPr>
            <a:r>
              <a:rPr b="0" lang="en-US" sz="3000" spc="-1" strike="noStrike">
                <a:solidFill>
                  <a:srgbClr val="000000"/>
                </a:solidFill>
                <a:latin typeface="Calibri (MS)"/>
                <a:ea typeface="Calibri (MS)"/>
              </a:rPr>
              <a:t>RRDataset stresses models with real edits.</a:t>
            </a:r>
            <a:endParaRPr b="0" lang="es-ES" sz="30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40" name="Group 42"/>
          <p:cNvGrpSpPr/>
          <p:nvPr/>
        </p:nvGrpSpPr>
        <p:grpSpPr>
          <a:xfrm>
            <a:off x="823680" y="7893000"/>
            <a:ext cx="16650360" cy="1303560"/>
            <a:chOff x="823680" y="7893000"/>
            <a:chExt cx="16650360" cy="1303560"/>
          </a:xfrm>
        </p:grpSpPr>
        <p:sp>
          <p:nvSpPr>
            <p:cNvPr id="241" name="Freeform 43"/>
            <p:cNvSpPr/>
            <p:nvPr/>
          </p:nvSpPr>
          <p:spPr>
            <a:xfrm>
              <a:off x="823680" y="7893000"/>
              <a:ext cx="16650360" cy="1303560"/>
            </a:xfrm>
            <a:custGeom>
              <a:avLst/>
              <a:gdLst>
                <a:gd name="textAreaLeft" fmla="*/ 0 w 16650360"/>
                <a:gd name="textAreaRight" fmla="*/ 16650720 w 16650360"/>
                <a:gd name="textAreaTop" fmla="*/ 0 h 1303560"/>
                <a:gd name="textAreaBottom" fmla="*/ 1303920 h 1303560"/>
              </a:gdLst>
              <a:ahLst/>
              <a:rect l="textAreaLeft" t="textAreaTop" r="textAreaRight" b="textAreaBottom"/>
              <a:pathLst>
                <a:path w="22200743" h="1738757">
                  <a:moveTo>
                    <a:pt x="0" y="0"/>
                  </a:moveTo>
                  <a:lnTo>
                    <a:pt x="22200743" y="0"/>
                  </a:lnTo>
                  <a:lnTo>
                    <a:pt x="22200743" y="1738757"/>
                  </a:lnTo>
                  <a:lnTo>
                    <a:pt x="0" y="1738757"/>
                  </a:lnTo>
                  <a:close/>
                </a:path>
              </a:pathLst>
            </a:custGeom>
            <a:solidFill>
              <a:srgbClr val="eef2f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42" name="Group 44"/>
          <p:cNvGrpSpPr/>
          <p:nvPr/>
        </p:nvGrpSpPr>
        <p:grpSpPr>
          <a:xfrm>
            <a:off x="823680" y="7893000"/>
            <a:ext cx="136800" cy="1303560"/>
            <a:chOff x="823680" y="7893000"/>
            <a:chExt cx="136800" cy="1303560"/>
          </a:xfrm>
        </p:grpSpPr>
        <p:sp>
          <p:nvSpPr>
            <p:cNvPr id="243" name="Freeform 45"/>
            <p:cNvSpPr/>
            <p:nvPr/>
          </p:nvSpPr>
          <p:spPr>
            <a:xfrm>
              <a:off x="823680" y="7893000"/>
              <a:ext cx="136800" cy="1303560"/>
            </a:xfrm>
            <a:custGeom>
              <a:avLst/>
              <a:gdLst>
                <a:gd name="textAreaLeft" fmla="*/ 0 w 136800"/>
                <a:gd name="textAreaRight" fmla="*/ 137160 w 136800"/>
                <a:gd name="textAreaTop" fmla="*/ 0 h 1303560"/>
                <a:gd name="textAreaBottom" fmla="*/ 1303920 h 1303560"/>
              </a:gdLst>
              <a:ahLst/>
              <a:rect l="textAreaLeft" t="textAreaTop" r="textAreaRight" b="textAreaBottom"/>
              <a:pathLst>
                <a:path w="183007" h="1738757">
                  <a:moveTo>
                    <a:pt x="0" y="0"/>
                  </a:moveTo>
                  <a:lnTo>
                    <a:pt x="183007" y="0"/>
                  </a:lnTo>
                  <a:lnTo>
                    <a:pt x="183007" y="1738757"/>
                  </a:lnTo>
                  <a:lnTo>
                    <a:pt x="0" y="1738757"/>
                  </a:lnTo>
                  <a:close/>
                </a:path>
              </a:pathLst>
            </a:custGeom>
            <a:solidFill>
              <a:srgbClr val="0e22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44" name="Group 46"/>
          <p:cNvGrpSpPr/>
          <p:nvPr/>
        </p:nvGrpSpPr>
        <p:grpSpPr>
          <a:xfrm>
            <a:off x="1303920" y="7842960"/>
            <a:ext cx="15922800" cy="1353600"/>
            <a:chOff x="1303920" y="7842960"/>
            <a:chExt cx="15922800" cy="1353600"/>
          </a:xfrm>
        </p:grpSpPr>
        <p:sp>
          <p:nvSpPr>
            <p:cNvPr id="245" name="Freeform 47"/>
            <p:cNvSpPr/>
            <p:nvPr/>
          </p:nvSpPr>
          <p:spPr>
            <a:xfrm>
              <a:off x="1303920" y="7893000"/>
              <a:ext cx="15922800" cy="1303560"/>
            </a:xfrm>
            <a:custGeom>
              <a:avLst/>
              <a:gdLst>
                <a:gd name="textAreaLeft" fmla="*/ 0 w 15922800"/>
                <a:gd name="textAreaRight" fmla="*/ 15923160 w 15922800"/>
                <a:gd name="textAreaTop" fmla="*/ 0 h 1303560"/>
                <a:gd name="textAreaBottom" fmla="*/ 1303920 h 1303560"/>
              </a:gdLst>
              <a:ahLst/>
              <a:rect l="textAreaLeft" t="textAreaTop" r="textAreaRight" b="textAreaBottom"/>
              <a:pathLst>
                <a:path w="21230667" h="1738718">
                  <a:moveTo>
                    <a:pt x="0" y="0"/>
                  </a:moveTo>
                  <a:lnTo>
                    <a:pt x="21230667" y="0"/>
                  </a:lnTo>
                  <a:lnTo>
                    <a:pt x="21230667" y="1738718"/>
                  </a:lnTo>
                  <a:lnTo>
                    <a:pt x="0" y="1738718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46" name="TextBox 48"/>
            <p:cNvSpPr/>
            <p:nvPr/>
          </p:nvSpPr>
          <p:spPr>
            <a:xfrm>
              <a:off x="1303920" y="7842960"/>
              <a:ext cx="15922800" cy="1353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3963"/>
                </a:lnSpc>
              </a:pPr>
              <a:r>
                <a:rPr b="1" lang="en-US" sz="3300" spc="-1" strike="noStrike">
                  <a:solidFill>
                    <a:srgbClr val="000000"/>
                  </a:solidFill>
                  <a:latin typeface="Calibri (MS) Bold"/>
                  <a:ea typeface="Calibri (MS) Bold"/>
                </a:rPr>
                <a:t>Our gap:</a:t>
              </a:r>
              <a:r>
                <a:rPr b="1" lang="en-US" sz="3300" spc="-1" strike="noStrike">
                  <a:solidFill>
                    <a:srgbClr val="2563eb"/>
                  </a:solidFill>
                  <a:latin typeface="Calibri (MS) Bold"/>
                  <a:ea typeface="Calibri (MS) Bold"/>
                </a:rPr>
                <a:t>  </a:t>
              </a:r>
              <a:r>
                <a:rPr b="0" lang="en-US" sz="3300" spc="-1" strike="noStrike">
                  <a:solidFill>
                    <a:srgbClr val="14254a"/>
                  </a:solidFill>
                  <a:latin typeface="Calibri (MS)"/>
                  <a:ea typeface="Calibri (MS)"/>
                </a:rPr>
                <a:t>high lab accuracy, but breaks in the wild.</a:t>
              </a:r>
              <a:endParaRPr b="0" lang="es-ES" sz="33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47" name="TextBox 49"/>
          <p:cNvSpPr/>
          <p:nvPr/>
        </p:nvSpPr>
        <p:spPr>
          <a:xfrm>
            <a:off x="14120640" y="9613440"/>
            <a:ext cx="6797520" cy="39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3078"/>
              </a:lnSpc>
            </a:pPr>
            <a:r>
              <a:rPr b="1" lang="en-US" sz="2200" spc="-1" strike="noStrike">
                <a:solidFill>
                  <a:srgbClr val="4d4b66"/>
                </a:solidFill>
                <a:latin typeface="Montserrat Bold"/>
                <a:ea typeface="Montserrat Bold"/>
              </a:rPr>
              <a:t>4/15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Freeform 2"/>
          <p:cNvSpPr/>
          <p:nvPr/>
        </p:nvSpPr>
        <p:spPr>
          <a:xfrm>
            <a:off x="540000" y="2700000"/>
            <a:ext cx="16740000" cy="7020000"/>
          </a:xfrm>
          <a:custGeom>
            <a:avLst/>
            <a:gdLst>
              <a:gd name="textAreaLeft" fmla="*/ 0 w 16740000"/>
              <a:gd name="textAreaRight" fmla="*/ 16740360 w 16740000"/>
              <a:gd name="textAreaTop" fmla="*/ 0 h 7020000"/>
              <a:gd name="textAreaBottom" fmla="*/ 7020360 h 7020000"/>
            </a:gdLst>
            <a:ahLst/>
            <a:rect l="textAreaLeft" t="textAreaTop" r="textAreaRight" b="textAreaBottom"/>
            <a:pathLst>
              <a:path w="19510971" h="8102762">
                <a:moveTo>
                  <a:pt x="0" y="0"/>
                </a:moveTo>
                <a:lnTo>
                  <a:pt x="19510971" y="0"/>
                </a:lnTo>
                <a:lnTo>
                  <a:pt x="19510971" y="8102763"/>
                </a:lnTo>
                <a:lnTo>
                  <a:pt x="0" y="810276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Freeform 3"/>
          <p:cNvSpPr/>
          <p:nvPr/>
        </p:nvSpPr>
        <p:spPr>
          <a:xfrm>
            <a:off x="1800000" y="4500000"/>
            <a:ext cx="1817280" cy="2108160"/>
          </a:xfrm>
          <a:custGeom>
            <a:avLst/>
            <a:gdLst>
              <a:gd name="textAreaLeft" fmla="*/ 0 w 1817280"/>
              <a:gd name="textAreaRight" fmla="*/ 1817640 w 1817280"/>
              <a:gd name="textAreaTop" fmla="*/ 0 h 2108160"/>
              <a:gd name="textAreaBottom" fmla="*/ 2108520 h 2108160"/>
            </a:gdLst>
            <a:ahLst/>
            <a:rect l="textAreaLeft" t="textAreaTop" r="textAreaRight" b="textAreaBottom"/>
            <a:pathLst>
              <a:path w="1817534" h="2108533">
                <a:moveTo>
                  <a:pt x="0" y="0"/>
                </a:moveTo>
                <a:lnTo>
                  <a:pt x="1817534" y="0"/>
                </a:lnTo>
                <a:lnTo>
                  <a:pt x="1817534" y="2108532"/>
                </a:lnTo>
                <a:lnTo>
                  <a:pt x="0" y="210853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Freeform 4"/>
          <p:cNvSpPr/>
          <p:nvPr/>
        </p:nvSpPr>
        <p:spPr>
          <a:xfrm>
            <a:off x="1597320" y="5974920"/>
            <a:ext cx="965880" cy="445320"/>
          </a:xfrm>
          <a:custGeom>
            <a:avLst/>
            <a:gdLst>
              <a:gd name="textAreaLeft" fmla="*/ 0 w 965880"/>
              <a:gd name="textAreaRight" fmla="*/ 966240 w 965880"/>
              <a:gd name="textAreaTop" fmla="*/ 0 h 445320"/>
              <a:gd name="textAreaBottom" fmla="*/ 445680 h 445320"/>
            </a:gdLst>
            <a:ahLst/>
            <a:rect l="textAreaLeft" t="textAreaTop" r="textAreaRight" b="textAreaBottom"/>
            <a:pathLst>
              <a:path w="966261" h="445762">
                <a:moveTo>
                  <a:pt x="0" y="0"/>
                </a:moveTo>
                <a:lnTo>
                  <a:pt x="966261" y="0"/>
                </a:lnTo>
                <a:lnTo>
                  <a:pt x="966261" y="445762"/>
                </a:lnTo>
                <a:lnTo>
                  <a:pt x="0" y="44576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51" name="Group 5"/>
          <p:cNvGrpSpPr/>
          <p:nvPr/>
        </p:nvGrpSpPr>
        <p:grpSpPr>
          <a:xfrm>
            <a:off x="2080440" y="624240"/>
            <a:ext cx="15433560" cy="1077480"/>
            <a:chOff x="2080440" y="624240"/>
            <a:chExt cx="15433560" cy="1077480"/>
          </a:xfrm>
        </p:grpSpPr>
        <p:sp>
          <p:nvSpPr>
            <p:cNvPr id="252" name="Freeform 6"/>
            <p:cNvSpPr/>
            <p:nvPr/>
          </p:nvSpPr>
          <p:spPr>
            <a:xfrm>
              <a:off x="2080440" y="631440"/>
              <a:ext cx="15433560" cy="1070280"/>
            </a:xfrm>
            <a:custGeom>
              <a:avLst/>
              <a:gdLst>
                <a:gd name="textAreaLeft" fmla="*/ 0 w 15433560"/>
                <a:gd name="textAreaRight" fmla="*/ 15433920 w 15433560"/>
                <a:gd name="textAreaTop" fmla="*/ 0 h 1070280"/>
                <a:gd name="textAreaBottom" fmla="*/ 1070640 h 1070280"/>
              </a:gdLst>
              <a:ahLst/>
              <a:rect l="textAreaLeft" t="textAreaTop" r="textAreaRight" b="textAreaBottom"/>
              <a:pathLst>
                <a:path w="20578573" h="1427577">
                  <a:moveTo>
                    <a:pt x="0" y="0"/>
                  </a:moveTo>
                  <a:lnTo>
                    <a:pt x="20578573" y="0"/>
                  </a:lnTo>
                  <a:lnTo>
                    <a:pt x="20578573" y="1427577"/>
                  </a:lnTo>
                  <a:lnTo>
                    <a:pt x="0" y="1427577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3" name="TextBox 7"/>
            <p:cNvSpPr/>
            <p:nvPr/>
          </p:nvSpPr>
          <p:spPr>
            <a:xfrm>
              <a:off x="2080440" y="624240"/>
              <a:ext cx="15433560" cy="1077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6123"/>
                </a:lnSpc>
              </a:pPr>
              <a:r>
                <a:rPr b="1" lang="en-US" sz="5110" spc="-1" strike="noStrike">
                  <a:solidFill>
                    <a:srgbClr val="14254a"/>
                  </a:solidFill>
                  <a:latin typeface="Georgia Bold"/>
                  <a:ea typeface="Georgia Bold"/>
                </a:rPr>
                <a:t>Proposed method: ConvNext-Tiny Multi-task</a:t>
              </a:r>
              <a:endParaRPr b="0" lang="es-ES" sz="511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54" name="Group 8"/>
          <p:cNvGrpSpPr/>
          <p:nvPr/>
        </p:nvGrpSpPr>
        <p:grpSpPr>
          <a:xfrm>
            <a:off x="823680" y="686160"/>
            <a:ext cx="960480" cy="960480"/>
            <a:chOff x="823680" y="686160"/>
            <a:chExt cx="960480" cy="960480"/>
          </a:xfrm>
        </p:grpSpPr>
        <p:sp>
          <p:nvSpPr>
            <p:cNvPr id="255" name="Freeform 9"/>
            <p:cNvSpPr/>
            <p:nvPr/>
          </p:nvSpPr>
          <p:spPr>
            <a:xfrm>
              <a:off x="823680" y="686160"/>
              <a:ext cx="960480" cy="960480"/>
            </a:xfrm>
            <a:custGeom>
              <a:avLst/>
              <a:gdLst>
                <a:gd name="textAreaLeft" fmla="*/ 0 w 960480"/>
                <a:gd name="textAreaRight" fmla="*/ 960840 w 960480"/>
                <a:gd name="textAreaTop" fmla="*/ 0 h 960480"/>
                <a:gd name="textAreaBottom" fmla="*/ 960840 h 960480"/>
              </a:gdLst>
              <a:ahLst/>
              <a:rect l="textAreaLeft" t="textAreaTop" r="textAreaRight" b="textAreaBottom"/>
              <a:pathLst>
                <a:path w="1281176" h="1281176">
                  <a:moveTo>
                    <a:pt x="0" y="640588"/>
                  </a:moveTo>
                  <a:cubicBezTo>
                    <a:pt x="0" y="286766"/>
                    <a:pt x="286766" y="0"/>
                    <a:pt x="640588" y="0"/>
                  </a:cubicBezTo>
                  <a:cubicBezTo>
                    <a:pt x="994410" y="0"/>
                    <a:pt x="1281176" y="286766"/>
                    <a:pt x="1281176" y="640588"/>
                  </a:cubicBezTo>
                  <a:cubicBezTo>
                    <a:pt x="1281176" y="994410"/>
                    <a:pt x="994410" y="1281176"/>
                    <a:pt x="640588" y="1281176"/>
                  </a:cubicBezTo>
                  <a:cubicBezTo>
                    <a:pt x="286766" y="1281176"/>
                    <a:pt x="0" y="994410"/>
                    <a:pt x="0" y="640588"/>
                  </a:cubicBezTo>
                  <a:close/>
                </a:path>
              </a:pathLst>
            </a:custGeom>
            <a:solidFill>
              <a:srgbClr val="14254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56" name="Group 10"/>
          <p:cNvGrpSpPr/>
          <p:nvPr/>
        </p:nvGrpSpPr>
        <p:grpSpPr>
          <a:xfrm>
            <a:off x="823680" y="686160"/>
            <a:ext cx="960480" cy="960480"/>
            <a:chOff x="823680" y="686160"/>
            <a:chExt cx="960480" cy="960480"/>
          </a:xfrm>
        </p:grpSpPr>
        <p:sp>
          <p:nvSpPr>
            <p:cNvPr id="257" name="Freeform 11"/>
            <p:cNvSpPr/>
            <p:nvPr/>
          </p:nvSpPr>
          <p:spPr>
            <a:xfrm>
              <a:off x="823680" y="686160"/>
              <a:ext cx="960480" cy="960480"/>
            </a:xfrm>
            <a:custGeom>
              <a:avLst/>
              <a:gdLst>
                <a:gd name="textAreaLeft" fmla="*/ 0 w 960480"/>
                <a:gd name="textAreaRight" fmla="*/ 960840 w 960480"/>
                <a:gd name="textAreaTop" fmla="*/ 0 h 960480"/>
                <a:gd name="textAreaBottom" fmla="*/ 960840 h 960480"/>
              </a:gdLst>
              <a:ahLst/>
              <a:rect l="textAreaLeft" t="textAreaTop" r="textAreaRight" b="textAreaBottom"/>
              <a:pathLst>
                <a:path w="1281161" h="1281159">
                  <a:moveTo>
                    <a:pt x="0" y="0"/>
                  </a:moveTo>
                  <a:lnTo>
                    <a:pt x="1281161" y="0"/>
                  </a:lnTo>
                  <a:lnTo>
                    <a:pt x="1281161" y="1281159"/>
                  </a:lnTo>
                  <a:lnTo>
                    <a:pt x="0" y="1281159"/>
                  </a:lnTo>
                  <a:close/>
                </a:path>
              </a:pathLst>
            </a:custGeom>
            <a:blipFill rotWithShape="0">
              <a:blip r:embed="rId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8" name="TextBox 12"/>
            <p:cNvSpPr/>
            <p:nvPr/>
          </p:nvSpPr>
          <p:spPr>
            <a:xfrm>
              <a:off x="823680" y="686160"/>
              <a:ext cx="960480" cy="960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ts val="3963"/>
                </a:lnSpc>
              </a:pPr>
              <a:r>
                <a:rPr b="1" lang="en-US" sz="3300" spc="-1" strike="noStrike">
                  <a:solidFill>
                    <a:srgbClr val="ffffff"/>
                  </a:solidFill>
                  <a:latin typeface="Georgia Bold"/>
                  <a:ea typeface="Georgia Bold"/>
                </a:rPr>
                <a:t>03</a:t>
              </a:r>
              <a:endParaRPr b="0" lang="es-ES" sz="33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59" name="TextBox 13"/>
          <p:cNvSpPr/>
          <p:nvPr/>
        </p:nvSpPr>
        <p:spPr>
          <a:xfrm>
            <a:off x="14120640" y="9613440"/>
            <a:ext cx="6797520" cy="39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3078"/>
              </a:lnSpc>
            </a:pPr>
            <a:r>
              <a:rPr b="1" lang="en-US" sz="2200" spc="-1" strike="noStrike">
                <a:solidFill>
                  <a:srgbClr val="4d4b66"/>
                </a:solidFill>
                <a:latin typeface="Montserrat Bold"/>
                <a:ea typeface="Montserrat Bold"/>
              </a:rPr>
              <a:t>5/15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Freeform 2"/>
          <p:cNvSpPr/>
          <p:nvPr/>
        </p:nvSpPr>
        <p:spPr>
          <a:xfrm>
            <a:off x="629280" y="9822600"/>
            <a:ext cx="17370720" cy="464040"/>
          </a:xfrm>
          <a:custGeom>
            <a:avLst/>
            <a:gdLst>
              <a:gd name="textAreaLeft" fmla="*/ 0 w 17370720"/>
              <a:gd name="textAreaRight" fmla="*/ 17371080 w 17370720"/>
              <a:gd name="textAreaTop" fmla="*/ 0 h 464040"/>
              <a:gd name="textAreaBottom" fmla="*/ 464400 h 464040"/>
            </a:gdLst>
            <a:ahLst/>
            <a:rect l="textAreaLeft" t="textAreaTop" r="textAreaRight" b="textAreaBottom"/>
            <a:pathLst>
              <a:path w="19246751" h="464256">
                <a:moveTo>
                  <a:pt x="0" y="0"/>
                </a:moveTo>
                <a:lnTo>
                  <a:pt x="19246751" y="0"/>
                </a:lnTo>
                <a:lnTo>
                  <a:pt x="19246751" y="464256"/>
                </a:lnTo>
                <a:lnTo>
                  <a:pt x="0" y="46425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61" name="Group 3"/>
          <p:cNvGrpSpPr/>
          <p:nvPr/>
        </p:nvGrpSpPr>
        <p:grpSpPr>
          <a:xfrm>
            <a:off x="823680" y="686160"/>
            <a:ext cx="960480" cy="960480"/>
            <a:chOff x="823680" y="686160"/>
            <a:chExt cx="960480" cy="960480"/>
          </a:xfrm>
        </p:grpSpPr>
        <p:sp>
          <p:nvSpPr>
            <p:cNvPr id="262" name="Freeform 4"/>
            <p:cNvSpPr/>
            <p:nvPr/>
          </p:nvSpPr>
          <p:spPr>
            <a:xfrm>
              <a:off x="823680" y="686160"/>
              <a:ext cx="960480" cy="960480"/>
            </a:xfrm>
            <a:custGeom>
              <a:avLst/>
              <a:gdLst>
                <a:gd name="textAreaLeft" fmla="*/ 0 w 960480"/>
                <a:gd name="textAreaRight" fmla="*/ 960840 w 960480"/>
                <a:gd name="textAreaTop" fmla="*/ 0 h 960480"/>
                <a:gd name="textAreaBottom" fmla="*/ 960840 h 960480"/>
              </a:gdLst>
              <a:ahLst/>
              <a:rect l="textAreaLeft" t="textAreaTop" r="textAreaRight" b="textAreaBottom"/>
              <a:pathLst>
                <a:path w="1281176" h="1281176">
                  <a:moveTo>
                    <a:pt x="0" y="640588"/>
                  </a:moveTo>
                  <a:cubicBezTo>
                    <a:pt x="0" y="286766"/>
                    <a:pt x="286766" y="0"/>
                    <a:pt x="640588" y="0"/>
                  </a:cubicBezTo>
                  <a:cubicBezTo>
                    <a:pt x="994410" y="0"/>
                    <a:pt x="1281176" y="286766"/>
                    <a:pt x="1281176" y="640588"/>
                  </a:cubicBezTo>
                  <a:cubicBezTo>
                    <a:pt x="1281176" y="994410"/>
                    <a:pt x="994410" y="1281176"/>
                    <a:pt x="640588" y="1281176"/>
                  </a:cubicBezTo>
                  <a:cubicBezTo>
                    <a:pt x="286766" y="1281176"/>
                    <a:pt x="0" y="994410"/>
                    <a:pt x="0" y="640588"/>
                  </a:cubicBezTo>
                  <a:close/>
                </a:path>
              </a:pathLst>
            </a:custGeom>
            <a:solidFill>
              <a:srgbClr val="14254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63" name="Group 5"/>
          <p:cNvGrpSpPr/>
          <p:nvPr/>
        </p:nvGrpSpPr>
        <p:grpSpPr>
          <a:xfrm>
            <a:off x="823680" y="686160"/>
            <a:ext cx="960480" cy="960480"/>
            <a:chOff x="823680" y="686160"/>
            <a:chExt cx="960480" cy="960480"/>
          </a:xfrm>
        </p:grpSpPr>
        <p:sp>
          <p:nvSpPr>
            <p:cNvPr id="264" name="Freeform 6"/>
            <p:cNvSpPr/>
            <p:nvPr/>
          </p:nvSpPr>
          <p:spPr>
            <a:xfrm>
              <a:off x="823680" y="686160"/>
              <a:ext cx="960480" cy="960480"/>
            </a:xfrm>
            <a:custGeom>
              <a:avLst/>
              <a:gdLst>
                <a:gd name="textAreaLeft" fmla="*/ 0 w 960480"/>
                <a:gd name="textAreaRight" fmla="*/ 960840 w 960480"/>
                <a:gd name="textAreaTop" fmla="*/ 0 h 960480"/>
                <a:gd name="textAreaBottom" fmla="*/ 960840 h 960480"/>
              </a:gdLst>
              <a:ahLst/>
              <a:rect l="textAreaLeft" t="textAreaTop" r="textAreaRight" b="textAreaBottom"/>
              <a:pathLst>
                <a:path w="1281161" h="1281159">
                  <a:moveTo>
                    <a:pt x="0" y="0"/>
                  </a:moveTo>
                  <a:lnTo>
                    <a:pt x="1281161" y="0"/>
                  </a:lnTo>
                  <a:lnTo>
                    <a:pt x="1281161" y="1281159"/>
                  </a:lnTo>
                  <a:lnTo>
                    <a:pt x="0" y="1281159"/>
                  </a:lnTo>
                  <a:close/>
                </a:path>
              </a:pathLst>
            </a:custGeom>
            <a:blipFill rotWithShape="0">
              <a:blip r:embed="rId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5" name="TextBox 7"/>
            <p:cNvSpPr/>
            <p:nvPr/>
          </p:nvSpPr>
          <p:spPr>
            <a:xfrm>
              <a:off x="823680" y="686160"/>
              <a:ext cx="960480" cy="960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ts val="3963"/>
                </a:lnSpc>
              </a:pPr>
              <a:r>
                <a:rPr b="1" lang="en-US" sz="3300" spc="-1" strike="noStrike">
                  <a:solidFill>
                    <a:srgbClr val="ffffff"/>
                  </a:solidFill>
                  <a:latin typeface="Georgia Bold"/>
                  <a:ea typeface="Georgia Bold"/>
                </a:rPr>
                <a:t>04</a:t>
              </a:r>
              <a:endParaRPr b="0" lang="es-ES" sz="33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6" name="Group 8"/>
          <p:cNvGrpSpPr/>
          <p:nvPr/>
        </p:nvGrpSpPr>
        <p:grpSpPr>
          <a:xfrm>
            <a:off x="2058840" y="624240"/>
            <a:ext cx="14000760" cy="1077480"/>
            <a:chOff x="2058840" y="624240"/>
            <a:chExt cx="14000760" cy="1077480"/>
          </a:xfrm>
        </p:grpSpPr>
        <p:sp>
          <p:nvSpPr>
            <p:cNvPr id="267" name="Freeform 9"/>
            <p:cNvSpPr/>
            <p:nvPr/>
          </p:nvSpPr>
          <p:spPr>
            <a:xfrm>
              <a:off x="2058840" y="631440"/>
              <a:ext cx="14000760" cy="1070280"/>
            </a:xfrm>
            <a:custGeom>
              <a:avLst/>
              <a:gdLst>
                <a:gd name="textAreaLeft" fmla="*/ 0 w 14000760"/>
                <a:gd name="textAreaRight" fmla="*/ 14001120 w 14000760"/>
                <a:gd name="textAreaTop" fmla="*/ 0 h 1070280"/>
                <a:gd name="textAreaBottom" fmla="*/ 1070640 h 1070280"/>
              </a:gdLst>
              <a:ahLst/>
              <a:rect l="textAreaLeft" t="textAreaTop" r="textAreaRight" b="textAreaBottom"/>
              <a:pathLst>
                <a:path w="18668344" h="1427577">
                  <a:moveTo>
                    <a:pt x="0" y="0"/>
                  </a:moveTo>
                  <a:lnTo>
                    <a:pt x="18668344" y="0"/>
                  </a:lnTo>
                  <a:lnTo>
                    <a:pt x="18668344" y="1427577"/>
                  </a:lnTo>
                  <a:lnTo>
                    <a:pt x="0" y="1427577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8" name="TextBox 10"/>
            <p:cNvSpPr/>
            <p:nvPr/>
          </p:nvSpPr>
          <p:spPr>
            <a:xfrm>
              <a:off x="2058840" y="624240"/>
              <a:ext cx="14000760" cy="1077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6123"/>
                </a:lnSpc>
              </a:pPr>
              <a:r>
                <a:rPr b="1" lang="en-US" sz="5110" spc="-1" strike="noStrike">
                  <a:solidFill>
                    <a:srgbClr val="14254a"/>
                  </a:solidFill>
                  <a:latin typeface="Georgia Bold"/>
                  <a:ea typeface="Georgia Bold"/>
                </a:rPr>
                <a:t>Dataset </a:t>
              </a:r>
              <a:endParaRPr b="0" lang="es-ES" sz="511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69" name="Freeform 11"/>
          <p:cNvSpPr/>
          <p:nvPr/>
        </p:nvSpPr>
        <p:spPr>
          <a:xfrm>
            <a:off x="2266920" y="2017080"/>
            <a:ext cx="13038120" cy="5541120"/>
          </a:xfrm>
          <a:custGeom>
            <a:avLst/>
            <a:gdLst>
              <a:gd name="textAreaLeft" fmla="*/ 0 w 13038120"/>
              <a:gd name="textAreaRight" fmla="*/ 13038480 w 13038120"/>
              <a:gd name="textAreaTop" fmla="*/ 0 h 5541120"/>
              <a:gd name="textAreaBottom" fmla="*/ 5541480 h 5541120"/>
            </a:gdLst>
            <a:ahLst/>
            <a:rect l="textAreaLeft" t="textAreaTop" r="textAreaRight" b="textAreaBottom"/>
            <a:pathLst>
              <a:path w="13038434" h="5541334">
                <a:moveTo>
                  <a:pt x="0" y="0"/>
                </a:moveTo>
                <a:lnTo>
                  <a:pt x="13038434" y="0"/>
                </a:lnTo>
                <a:lnTo>
                  <a:pt x="13038434" y="5541334"/>
                </a:lnTo>
                <a:lnTo>
                  <a:pt x="0" y="554133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TextBox 12"/>
          <p:cNvSpPr/>
          <p:nvPr/>
        </p:nvSpPr>
        <p:spPr>
          <a:xfrm>
            <a:off x="773640" y="7740000"/>
            <a:ext cx="16571880" cy="20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489240" indent="-244800">
              <a:lnSpc>
                <a:spcPts val="4054"/>
              </a:lnSpc>
              <a:buClr>
                <a:srgbClr val="14254a"/>
              </a:buClr>
              <a:buFont typeface="Arial"/>
              <a:buChar char="•"/>
            </a:pPr>
            <a:r>
              <a:rPr b="0" lang="en-US" sz="2700" spc="-1" strike="noStrike">
                <a:solidFill>
                  <a:srgbClr val="14254a"/>
                </a:solidFill>
                <a:latin typeface="Calibri (MS)"/>
                <a:ea typeface="Calibri (MS)"/>
              </a:rPr>
              <a:t>Subsampled dataset containing </a:t>
            </a:r>
            <a:r>
              <a:rPr b="1" lang="en-US" sz="2700" spc="-1" strike="noStrike">
                <a:solidFill>
                  <a:srgbClr val="14254a"/>
                </a:solidFill>
                <a:latin typeface="Calibri (MS) Bold"/>
                <a:ea typeface="Calibri (MS) Bold"/>
              </a:rPr>
              <a:t>7,500 balanced images</a:t>
            </a:r>
            <a:endParaRPr b="0" lang="es-ES" sz="2700" spc="-1" strike="noStrike">
              <a:solidFill>
                <a:srgbClr val="000000"/>
              </a:solidFill>
              <a:latin typeface="Arial"/>
            </a:endParaRPr>
          </a:p>
          <a:p>
            <a:pPr lvl="1" marL="489240" indent="-244800">
              <a:lnSpc>
                <a:spcPts val="4054"/>
              </a:lnSpc>
              <a:buClr>
                <a:srgbClr val="14254a"/>
              </a:buClr>
              <a:buFont typeface="Arial"/>
              <a:buChar char="•"/>
            </a:pPr>
            <a:r>
              <a:rPr b="1" lang="en-US" sz="2700" spc="-1" strike="noStrike">
                <a:solidFill>
                  <a:srgbClr val="14254a"/>
                </a:solidFill>
                <a:latin typeface="Calibri (MS) Bold"/>
                <a:ea typeface="Calibri (MS) Bold"/>
              </a:rPr>
              <a:t>6 distinct classes</a:t>
            </a:r>
            <a:r>
              <a:rPr b="0" lang="en-US" sz="2700" spc="-1" strike="noStrike">
                <a:solidFill>
                  <a:srgbClr val="14254a"/>
                </a:solidFill>
                <a:latin typeface="Calibri (MS)"/>
                <a:ea typeface="Calibri (MS)"/>
              </a:rPr>
              <a:t> mapping Authenticity(Real vs Fake_AI) across Trasnformations(Original,Transmitted,Redigitized)</a:t>
            </a:r>
            <a:endParaRPr b="0" lang="es-ES" sz="2700" spc="-1" strike="noStrike">
              <a:solidFill>
                <a:srgbClr val="000000"/>
              </a:solidFill>
              <a:latin typeface="Arial"/>
            </a:endParaRPr>
          </a:p>
          <a:p>
            <a:pPr lvl="1" marL="489240" indent="-244800">
              <a:lnSpc>
                <a:spcPts val="4054"/>
              </a:lnSpc>
              <a:buClr>
                <a:srgbClr val="14254a"/>
              </a:buClr>
              <a:buFont typeface="Arial"/>
              <a:buChar char="•"/>
            </a:pPr>
            <a:r>
              <a:rPr b="0" lang="en-US" sz="2700" spc="-1" strike="noStrike">
                <a:solidFill>
                  <a:srgbClr val="14254a"/>
                </a:solidFill>
                <a:latin typeface="Calibri (MS)"/>
                <a:ea typeface="Calibri (MS)"/>
              </a:rPr>
              <a:t>Balanced splits for robust evaluation(80% Train / 10% Validation / 10% Test</a:t>
            </a:r>
            <a:endParaRPr b="0" lang="es-E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TextBox 13"/>
          <p:cNvSpPr/>
          <p:nvPr/>
        </p:nvSpPr>
        <p:spPr>
          <a:xfrm>
            <a:off x="14120640" y="9613440"/>
            <a:ext cx="6797520" cy="39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3078"/>
              </a:lnSpc>
            </a:pPr>
            <a:r>
              <a:rPr b="1" lang="en-US" sz="2200" spc="-1" strike="noStrike">
                <a:solidFill>
                  <a:srgbClr val="4d4b66"/>
                </a:solidFill>
                <a:latin typeface="Montserrat Bold"/>
                <a:ea typeface="Montserrat Bold"/>
              </a:rPr>
              <a:t>6/15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roup 2"/>
          <p:cNvGrpSpPr/>
          <p:nvPr/>
        </p:nvGrpSpPr>
        <p:grpSpPr>
          <a:xfrm>
            <a:off x="823680" y="686160"/>
            <a:ext cx="960480" cy="960480"/>
            <a:chOff x="823680" y="686160"/>
            <a:chExt cx="960480" cy="960480"/>
          </a:xfrm>
        </p:grpSpPr>
        <p:sp>
          <p:nvSpPr>
            <p:cNvPr id="273" name="Freeform 3"/>
            <p:cNvSpPr/>
            <p:nvPr/>
          </p:nvSpPr>
          <p:spPr>
            <a:xfrm>
              <a:off x="823680" y="686160"/>
              <a:ext cx="960480" cy="960480"/>
            </a:xfrm>
            <a:custGeom>
              <a:avLst/>
              <a:gdLst>
                <a:gd name="textAreaLeft" fmla="*/ 0 w 960480"/>
                <a:gd name="textAreaRight" fmla="*/ 960840 w 960480"/>
                <a:gd name="textAreaTop" fmla="*/ 0 h 960480"/>
                <a:gd name="textAreaBottom" fmla="*/ 960840 h 960480"/>
              </a:gdLst>
              <a:ahLst/>
              <a:rect l="textAreaLeft" t="textAreaTop" r="textAreaRight" b="textAreaBottom"/>
              <a:pathLst>
                <a:path w="1281176" h="1281176">
                  <a:moveTo>
                    <a:pt x="0" y="640588"/>
                  </a:moveTo>
                  <a:cubicBezTo>
                    <a:pt x="0" y="286766"/>
                    <a:pt x="286766" y="0"/>
                    <a:pt x="640588" y="0"/>
                  </a:cubicBezTo>
                  <a:cubicBezTo>
                    <a:pt x="994410" y="0"/>
                    <a:pt x="1281176" y="286766"/>
                    <a:pt x="1281176" y="640588"/>
                  </a:cubicBezTo>
                  <a:cubicBezTo>
                    <a:pt x="1281176" y="994410"/>
                    <a:pt x="994410" y="1281176"/>
                    <a:pt x="640588" y="1281176"/>
                  </a:cubicBezTo>
                  <a:cubicBezTo>
                    <a:pt x="286766" y="1281176"/>
                    <a:pt x="0" y="994410"/>
                    <a:pt x="0" y="640588"/>
                  </a:cubicBezTo>
                  <a:close/>
                </a:path>
              </a:pathLst>
            </a:custGeom>
            <a:solidFill>
              <a:srgbClr val="14254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74" name="Group 4"/>
          <p:cNvGrpSpPr/>
          <p:nvPr/>
        </p:nvGrpSpPr>
        <p:grpSpPr>
          <a:xfrm>
            <a:off x="823680" y="686160"/>
            <a:ext cx="960480" cy="960480"/>
            <a:chOff x="823680" y="686160"/>
            <a:chExt cx="960480" cy="960480"/>
          </a:xfrm>
        </p:grpSpPr>
        <p:sp>
          <p:nvSpPr>
            <p:cNvPr id="275" name="Freeform 5"/>
            <p:cNvSpPr/>
            <p:nvPr/>
          </p:nvSpPr>
          <p:spPr>
            <a:xfrm>
              <a:off x="823680" y="686160"/>
              <a:ext cx="960480" cy="960480"/>
            </a:xfrm>
            <a:custGeom>
              <a:avLst/>
              <a:gdLst>
                <a:gd name="textAreaLeft" fmla="*/ 0 w 960480"/>
                <a:gd name="textAreaRight" fmla="*/ 960840 w 960480"/>
                <a:gd name="textAreaTop" fmla="*/ 0 h 960480"/>
                <a:gd name="textAreaBottom" fmla="*/ 960840 h 960480"/>
              </a:gdLst>
              <a:ahLst/>
              <a:rect l="textAreaLeft" t="textAreaTop" r="textAreaRight" b="textAreaBottom"/>
              <a:pathLst>
                <a:path w="1281161" h="1281159">
                  <a:moveTo>
                    <a:pt x="0" y="0"/>
                  </a:moveTo>
                  <a:lnTo>
                    <a:pt x="1281161" y="0"/>
                  </a:lnTo>
                  <a:lnTo>
                    <a:pt x="1281161" y="1281159"/>
                  </a:lnTo>
                  <a:lnTo>
                    <a:pt x="0" y="1281159"/>
                  </a:lnTo>
                  <a:close/>
                </a:path>
              </a:pathLst>
            </a:custGeom>
            <a:blipFill rotWithShape="0">
              <a:blip r:embed="rId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6" name="TextBox 6"/>
            <p:cNvSpPr/>
            <p:nvPr/>
          </p:nvSpPr>
          <p:spPr>
            <a:xfrm>
              <a:off x="823680" y="686160"/>
              <a:ext cx="960480" cy="960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ts val="3963"/>
                </a:lnSpc>
              </a:pPr>
              <a:r>
                <a:rPr b="1" lang="en-US" sz="3300" spc="-1" strike="noStrike">
                  <a:solidFill>
                    <a:srgbClr val="ffffff"/>
                  </a:solidFill>
                  <a:latin typeface="Georgia Bold"/>
                  <a:ea typeface="Georgia Bold"/>
                </a:rPr>
                <a:t>05</a:t>
              </a:r>
              <a:endParaRPr b="0" lang="es-ES" sz="33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7" name="Group 7"/>
          <p:cNvGrpSpPr/>
          <p:nvPr/>
        </p:nvGrpSpPr>
        <p:grpSpPr>
          <a:xfrm>
            <a:off x="2058840" y="624240"/>
            <a:ext cx="14000760" cy="1077480"/>
            <a:chOff x="2058840" y="624240"/>
            <a:chExt cx="14000760" cy="1077480"/>
          </a:xfrm>
        </p:grpSpPr>
        <p:sp>
          <p:nvSpPr>
            <p:cNvPr id="278" name="Freeform 8"/>
            <p:cNvSpPr/>
            <p:nvPr/>
          </p:nvSpPr>
          <p:spPr>
            <a:xfrm>
              <a:off x="2058840" y="631440"/>
              <a:ext cx="14000760" cy="1070280"/>
            </a:xfrm>
            <a:custGeom>
              <a:avLst/>
              <a:gdLst>
                <a:gd name="textAreaLeft" fmla="*/ 0 w 14000760"/>
                <a:gd name="textAreaRight" fmla="*/ 14001120 w 14000760"/>
                <a:gd name="textAreaTop" fmla="*/ 0 h 1070280"/>
                <a:gd name="textAreaBottom" fmla="*/ 1070640 h 1070280"/>
              </a:gdLst>
              <a:ahLst/>
              <a:rect l="textAreaLeft" t="textAreaTop" r="textAreaRight" b="textAreaBottom"/>
              <a:pathLst>
                <a:path w="18668344" h="1427579">
                  <a:moveTo>
                    <a:pt x="0" y="0"/>
                  </a:moveTo>
                  <a:lnTo>
                    <a:pt x="18668344" y="0"/>
                  </a:lnTo>
                  <a:lnTo>
                    <a:pt x="18668344" y="1427579"/>
                  </a:lnTo>
                  <a:lnTo>
                    <a:pt x="0" y="1427579"/>
                  </a:lnTo>
                  <a:close/>
                </a:path>
              </a:pathLst>
            </a:custGeom>
            <a:blipFill rotWithShape="0">
              <a:blip r:embed="rId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9" name="TextBox 9"/>
            <p:cNvSpPr/>
            <p:nvPr/>
          </p:nvSpPr>
          <p:spPr>
            <a:xfrm>
              <a:off x="2058840" y="624240"/>
              <a:ext cx="14000760" cy="1077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6123"/>
                </a:lnSpc>
              </a:pPr>
              <a:r>
                <a:rPr b="1" lang="en-US" sz="5110" spc="-1" strike="noStrike">
                  <a:solidFill>
                    <a:srgbClr val="14254a"/>
                  </a:solidFill>
                  <a:latin typeface="Georgia Bold"/>
                  <a:ea typeface="Georgia Bold"/>
                </a:rPr>
                <a:t>Experimental Setup</a:t>
              </a:r>
              <a:endParaRPr b="0" lang="es-ES" sz="511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0" name="Group 10"/>
          <p:cNvGrpSpPr/>
          <p:nvPr/>
        </p:nvGrpSpPr>
        <p:grpSpPr>
          <a:xfrm>
            <a:off x="823680" y="1921680"/>
            <a:ext cx="16650360" cy="29880"/>
            <a:chOff x="823680" y="1921680"/>
            <a:chExt cx="16650360" cy="29880"/>
          </a:xfrm>
        </p:grpSpPr>
        <p:sp>
          <p:nvSpPr>
            <p:cNvPr id="281" name="Freeform 11"/>
            <p:cNvSpPr/>
            <p:nvPr/>
          </p:nvSpPr>
          <p:spPr>
            <a:xfrm>
              <a:off x="823680" y="1921680"/>
              <a:ext cx="16650360" cy="29880"/>
            </a:xfrm>
            <a:custGeom>
              <a:avLst/>
              <a:gdLst>
                <a:gd name="textAreaLeft" fmla="*/ 0 w 16650360"/>
                <a:gd name="textAreaRight" fmla="*/ 16650720 w 16650360"/>
                <a:gd name="textAreaTop" fmla="*/ 0 h 29880"/>
                <a:gd name="textAreaBottom" fmla="*/ 30240 h 29880"/>
              </a:gdLst>
              <a:ahLst/>
              <a:rect l="textAreaLeft" t="textAreaTop" r="textAreaRight" b="textAreaBottom"/>
              <a:pathLst>
                <a:path w="22200743" h="40259">
                  <a:moveTo>
                    <a:pt x="0" y="0"/>
                  </a:moveTo>
                  <a:lnTo>
                    <a:pt x="22200743" y="0"/>
                  </a:lnTo>
                  <a:lnTo>
                    <a:pt x="22200743" y="40259"/>
                  </a:lnTo>
                  <a:lnTo>
                    <a:pt x="0" y="40259"/>
                  </a:lnTo>
                  <a:close/>
                </a:path>
              </a:pathLst>
            </a:custGeom>
            <a:solidFill>
              <a:srgbClr val="d9e1e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760" bIns="-1476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2" name="Group 12"/>
          <p:cNvGrpSpPr/>
          <p:nvPr/>
        </p:nvGrpSpPr>
        <p:grpSpPr>
          <a:xfrm>
            <a:off x="9461880" y="2186640"/>
            <a:ext cx="8021520" cy="1583640"/>
            <a:chOff x="9461880" y="2186640"/>
            <a:chExt cx="8021520" cy="1583640"/>
          </a:xfrm>
        </p:grpSpPr>
        <p:sp>
          <p:nvSpPr>
            <p:cNvPr id="283" name="Freeform 13"/>
            <p:cNvSpPr/>
            <p:nvPr/>
          </p:nvSpPr>
          <p:spPr>
            <a:xfrm>
              <a:off x="9461880" y="2186640"/>
              <a:ext cx="8021520" cy="1583640"/>
            </a:xfrm>
            <a:custGeom>
              <a:avLst/>
              <a:gdLst>
                <a:gd name="textAreaLeft" fmla="*/ 0 w 8021520"/>
                <a:gd name="textAreaRight" fmla="*/ 8021880 w 8021520"/>
                <a:gd name="textAreaTop" fmla="*/ 0 h 1583640"/>
                <a:gd name="textAreaBottom" fmla="*/ 1584000 h 1583640"/>
              </a:gdLst>
              <a:ahLst/>
              <a:rect l="textAreaLeft" t="textAreaTop" r="textAreaRight" b="textAreaBottom"/>
              <a:pathLst>
                <a:path w="10695686" h="2111883">
                  <a:moveTo>
                    <a:pt x="0" y="0"/>
                  </a:moveTo>
                  <a:lnTo>
                    <a:pt x="10695686" y="0"/>
                  </a:lnTo>
                  <a:lnTo>
                    <a:pt x="10695686" y="2111883"/>
                  </a:lnTo>
                  <a:lnTo>
                    <a:pt x="0" y="2111883"/>
                  </a:lnTo>
                  <a:close/>
                </a:path>
              </a:pathLst>
            </a:custGeom>
            <a:solidFill>
              <a:srgbClr val="f7f9fc"/>
            </a:solidFill>
            <a:ln cap="sq" w="19065">
              <a:solidFill>
                <a:srgbClr val="d9e1e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4" name="Group 14"/>
          <p:cNvGrpSpPr/>
          <p:nvPr/>
        </p:nvGrpSpPr>
        <p:grpSpPr>
          <a:xfrm>
            <a:off x="9471600" y="2196360"/>
            <a:ext cx="136800" cy="1564560"/>
            <a:chOff x="9471600" y="2196360"/>
            <a:chExt cx="136800" cy="1564560"/>
          </a:xfrm>
        </p:grpSpPr>
        <p:sp>
          <p:nvSpPr>
            <p:cNvPr id="285" name="Freeform 15"/>
            <p:cNvSpPr/>
            <p:nvPr/>
          </p:nvSpPr>
          <p:spPr>
            <a:xfrm>
              <a:off x="9471600" y="2196360"/>
              <a:ext cx="136800" cy="1564560"/>
            </a:xfrm>
            <a:custGeom>
              <a:avLst/>
              <a:gdLst>
                <a:gd name="textAreaLeft" fmla="*/ 0 w 136800"/>
                <a:gd name="textAreaRight" fmla="*/ 137160 w 136800"/>
                <a:gd name="textAreaTop" fmla="*/ 0 h 1564560"/>
                <a:gd name="textAreaBottom" fmla="*/ 1564920 h 1564560"/>
              </a:gdLst>
              <a:ahLst/>
              <a:rect l="textAreaLeft" t="textAreaTop" r="textAreaRight" b="textAreaBottom"/>
              <a:pathLst>
                <a:path w="183007" h="2086483">
                  <a:moveTo>
                    <a:pt x="0" y="0"/>
                  </a:moveTo>
                  <a:lnTo>
                    <a:pt x="183007" y="0"/>
                  </a:lnTo>
                  <a:lnTo>
                    <a:pt x="183007" y="2086483"/>
                  </a:lnTo>
                  <a:lnTo>
                    <a:pt x="0" y="2086483"/>
                  </a:lnTo>
                  <a:close/>
                </a:path>
              </a:pathLst>
            </a:custGeom>
            <a:solidFill>
              <a:srgbClr val="0e22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86" name="Group 16"/>
          <p:cNvGrpSpPr/>
          <p:nvPr/>
        </p:nvGrpSpPr>
        <p:grpSpPr>
          <a:xfrm>
            <a:off x="9883080" y="2401560"/>
            <a:ext cx="7412040" cy="563040"/>
            <a:chOff x="9883080" y="2401560"/>
            <a:chExt cx="7412040" cy="563040"/>
          </a:xfrm>
        </p:grpSpPr>
        <p:sp>
          <p:nvSpPr>
            <p:cNvPr id="287" name="Freeform 17"/>
            <p:cNvSpPr/>
            <p:nvPr/>
          </p:nvSpPr>
          <p:spPr>
            <a:xfrm>
              <a:off x="9883080" y="2415960"/>
              <a:ext cx="7412040" cy="548640"/>
            </a:xfrm>
            <a:custGeom>
              <a:avLst/>
              <a:gdLst>
                <a:gd name="textAreaLeft" fmla="*/ 0 w 7412040"/>
                <a:gd name="textAreaRight" fmla="*/ 7412400 w 7412040"/>
                <a:gd name="textAreaTop" fmla="*/ 0 h 548640"/>
                <a:gd name="textAreaBottom" fmla="*/ 549000 h 548640"/>
              </a:gdLst>
              <a:ahLst/>
              <a:rect l="textAreaLeft" t="textAreaTop" r="textAreaRight" b="textAreaBottom"/>
              <a:pathLst>
                <a:path w="9883241" h="732092">
                  <a:moveTo>
                    <a:pt x="0" y="0"/>
                  </a:moveTo>
                  <a:lnTo>
                    <a:pt x="9883241" y="0"/>
                  </a:lnTo>
                  <a:lnTo>
                    <a:pt x="9883241" y="732092"/>
                  </a:lnTo>
                  <a:lnTo>
                    <a:pt x="0" y="732092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8" name="TextBox 18"/>
            <p:cNvSpPr/>
            <p:nvPr/>
          </p:nvSpPr>
          <p:spPr>
            <a:xfrm>
              <a:off x="9883080" y="2401560"/>
              <a:ext cx="7412040" cy="563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3243"/>
                </a:lnSpc>
              </a:pPr>
              <a:r>
                <a:rPr b="1" lang="en-US" sz="2700" spc="-1" strike="noStrike">
                  <a:solidFill>
                    <a:srgbClr val="14254a"/>
                  </a:solidFill>
                  <a:latin typeface="Georgia Bold"/>
                  <a:ea typeface="Georgia Bold"/>
                </a:rPr>
                <a:t>Transfer learning</a:t>
              </a:r>
              <a:endParaRPr b="0" lang="es-ES" sz="2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9" name="Group 19"/>
          <p:cNvGrpSpPr/>
          <p:nvPr/>
        </p:nvGrpSpPr>
        <p:grpSpPr>
          <a:xfrm>
            <a:off x="9461880" y="3930120"/>
            <a:ext cx="8021520" cy="1583640"/>
            <a:chOff x="9461880" y="3930120"/>
            <a:chExt cx="8021520" cy="1583640"/>
          </a:xfrm>
        </p:grpSpPr>
        <p:sp>
          <p:nvSpPr>
            <p:cNvPr id="290" name="Freeform 20"/>
            <p:cNvSpPr/>
            <p:nvPr/>
          </p:nvSpPr>
          <p:spPr>
            <a:xfrm>
              <a:off x="9461880" y="3930120"/>
              <a:ext cx="8021520" cy="1583640"/>
            </a:xfrm>
            <a:custGeom>
              <a:avLst/>
              <a:gdLst>
                <a:gd name="textAreaLeft" fmla="*/ 0 w 8021520"/>
                <a:gd name="textAreaRight" fmla="*/ 8021880 w 8021520"/>
                <a:gd name="textAreaTop" fmla="*/ 0 h 1583640"/>
                <a:gd name="textAreaBottom" fmla="*/ 1584000 h 1583640"/>
              </a:gdLst>
              <a:ahLst/>
              <a:rect l="textAreaLeft" t="textAreaTop" r="textAreaRight" b="textAreaBottom"/>
              <a:pathLst>
                <a:path w="10695686" h="2111883">
                  <a:moveTo>
                    <a:pt x="0" y="0"/>
                  </a:moveTo>
                  <a:lnTo>
                    <a:pt x="10695686" y="0"/>
                  </a:lnTo>
                  <a:lnTo>
                    <a:pt x="10695686" y="2111883"/>
                  </a:lnTo>
                  <a:lnTo>
                    <a:pt x="0" y="2111883"/>
                  </a:lnTo>
                  <a:close/>
                </a:path>
              </a:pathLst>
            </a:custGeom>
            <a:solidFill>
              <a:srgbClr val="f7f9fc"/>
            </a:solidFill>
            <a:ln cap="sq" w="19065">
              <a:solidFill>
                <a:srgbClr val="d9e1e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1" name="Group 21"/>
          <p:cNvGrpSpPr/>
          <p:nvPr/>
        </p:nvGrpSpPr>
        <p:grpSpPr>
          <a:xfrm>
            <a:off x="9471600" y="3939480"/>
            <a:ext cx="136800" cy="1564560"/>
            <a:chOff x="9471600" y="3939480"/>
            <a:chExt cx="136800" cy="1564560"/>
          </a:xfrm>
        </p:grpSpPr>
        <p:sp>
          <p:nvSpPr>
            <p:cNvPr id="292" name="Freeform 22"/>
            <p:cNvSpPr/>
            <p:nvPr/>
          </p:nvSpPr>
          <p:spPr>
            <a:xfrm>
              <a:off x="9471600" y="3939480"/>
              <a:ext cx="136800" cy="1564560"/>
            </a:xfrm>
            <a:custGeom>
              <a:avLst/>
              <a:gdLst>
                <a:gd name="textAreaLeft" fmla="*/ 0 w 136800"/>
                <a:gd name="textAreaRight" fmla="*/ 137160 w 136800"/>
                <a:gd name="textAreaTop" fmla="*/ 0 h 1564560"/>
                <a:gd name="textAreaBottom" fmla="*/ 1564920 h 1564560"/>
              </a:gdLst>
              <a:ahLst/>
              <a:rect l="textAreaLeft" t="textAreaTop" r="textAreaRight" b="textAreaBottom"/>
              <a:pathLst>
                <a:path w="183007" h="2086483">
                  <a:moveTo>
                    <a:pt x="0" y="0"/>
                  </a:moveTo>
                  <a:lnTo>
                    <a:pt x="183007" y="0"/>
                  </a:lnTo>
                  <a:lnTo>
                    <a:pt x="183007" y="2086483"/>
                  </a:lnTo>
                  <a:lnTo>
                    <a:pt x="0" y="2086483"/>
                  </a:lnTo>
                  <a:close/>
                </a:path>
              </a:pathLst>
            </a:custGeom>
            <a:solidFill>
              <a:srgbClr val="0e22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93" name="Group 23"/>
          <p:cNvGrpSpPr/>
          <p:nvPr/>
        </p:nvGrpSpPr>
        <p:grpSpPr>
          <a:xfrm>
            <a:off x="9883080" y="4145040"/>
            <a:ext cx="7412040" cy="563040"/>
            <a:chOff x="9883080" y="4145040"/>
            <a:chExt cx="7412040" cy="563040"/>
          </a:xfrm>
        </p:grpSpPr>
        <p:sp>
          <p:nvSpPr>
            <p:cNvPr id="294" name="Freeform 24"/>
            <p:cNvSpPr/>
            <p:nvPr/>
          </p:nvSpPr>
          <p:spPr>
            <a:xfrm>
              <a:off x="9883080" y="4159080"/>
              <a:ext cx="7412040" cy="548640"/>
            </a:xfrm>
            <a:custGeom>
              <a:avLst/>
              <a:gdLst>
                <a:gd name="textAreaLeft" fmla="*/ 0 w 7412040"/>
                <a:gd name="textAreaRight" fmla="*/ 7412400 w 7412040"/>
                <a:gd name="textAreaTop" fmla="*/ 0 h 548640"/>
                <a:gd name="textAreaBottom" fmla="*/ 549000 h 548640"/>
              </a:gdLst>
              <a:ahLst/>
              <a:rect l="textAreaLeft" t="textAreaTop" r="textAreaRight" b="textAreaBottom"/>
              <a:pathLst>
                <a:path w="9883241" h="732092">
                  <a:moveTo>
                    <a:pt x="0" y="0"/>
                  </a:moveTo>
                  <a:lnTo>
                    <a:pt x="9883241" y="0"/>
                  </a:lnTo>
                  <a:lnTo>
                    <a:pt x="9883241" y="732092"/>
                  </a:lnTo>
                  <a:lnTo>
                    <a:pt x="0" y="732092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5" name="TextBox 25"/>
            <p:cNvSpPr/>
            <p:nvPr/>
          </p:nvSpPr>
          <p:spPr>
            <a:xfrm>
              <a:off x="9883080" y="4145040"/>
              <a:ext cx="7412040" cy="563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3243"/>
                </a:lnSpc>
              </a:pPr>
              <a:r>
                <a:rPr b="1" lang="en-US" sz="2700" spc="-1" strike="noStrike">
                  <a:solidFill>
                    <a:srgbClr val="14254a"/>
                  </a:solidFill>
                  <a:latin typeface="Georgia Bold"/>
                  <a:ea typeface="Georgia Bold"/>
                </a:rPr>
                <a:t>Differential LRs</a:t>
              </a:r>
              <a:endParaRPr b="0" lang="es-ES" sz="2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6" name="Group 26"/>
          <p:cNvGrpSpPr/>
          <p:nvPr/>
        </p:nvGrpSpPr>
        <p:grpSpPr>
          <a:xfrm>
            <a:off x="9461880" y="5673240"/>
            <a:ext cx="8021520" cy="1583640"/>
            <a:chOff x="9461880" y="5673240"/>
            <a:chExt cx="8021520" cy="1583640"/>
          </a:xfrm>
        </p:grpSpPr>
        <p:sp>
          <p:nvSpPr>
            <p:cNvPr id="297" name="Freeform 27"/>
            <p:cNvSpPr/>
            <p:nvPr/>
          </p:nvSpPr>
          <p:spPr>
            <a:xfrm>
              <a:off x="9461880" y="5673240"/>
              <a:ext cx="8021520" cy="1583640"/>
            </a:xfrm>
            <a:custGeom>
              <a:avLst/>
              <a:gdLst>
                <a:gd name="textAreaLeft" fmla="*/ 0 w 8021520"/>
                <a:gd name="textAreaRight" fmla="*/ 8021880 w 8021520"/>
                <a:gd name="textAreaTop" fmla="*/ 0 h 1583640"/>
                <a:gd name="textAreaBottom" fmla="*/ 1584000 h 1583640"/>
              </a:gdLst>
              <a:ahLst/>
              <a:rect l="textAreaLeft" t="textAreaTop" r="textAreaRight" b="textAreaBottom"/>
              <a:pathLst>
                <a:path w="10695686" h="2111883">
                  <a:moveTo>
                    <a:pt x="0" y="0"/>
                  </a:moveTo>
                  <a:lnTo>
                    <a:pt x="10695686" y="0"/>
                  </a:lnTo>
                  <a:lnTo>
                    <a:pt x="10695686" y="2111883"/>
                  </a:lnTo>
                  <a:lnTo>
                    <a:pt x="0" y="2111883"/>
                  </a:lnTo>
                  <a:close/>
                </a:path>
              </a:pathLst>
            </a:custGeom>
            <a:solidFill>
              <a:srgbClr val="f7f9fc"/>
            </a:solidFill>
            <a:ln cap="sq" w="19065">
              <a:solidFill>
                <a:srgbClr val="d9e1e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8" name="Group 28"/>
          <p:cNvGrpSpPr/>
          <p:nvPr/>
        </p:nvGrpSpPr>
        <p:grpSpPr>
          <a:xfrm>
            <a:off x="9471600" y="5682960"/>
            <a:ext cx="136800" cy="1564560"/>
            <a:chOff x="9471600" y="5682960"/>
            <a:chExt cx="136800" cy="1564560"/>
          </a:xfrm>
        </p:grpSpPr>
        <p:sp>
          <p:nvSpPr>
            <p:cNvPr id="299" name="Freeform 29"/>
            <p:cNvSpPr/>
            <p:nvPr/>
          </p:nvSpPr>
          <p:spPr>
            <a:xfrm>
              <a:off x="9471600" y="5682960"/>
              <a:ext cx="136800" cy="1564560"/>
            </a:xfrm>
            <a:custGeom>
              <a:avLst/>
              <a:gdLst>
                <a:gd name="textAreaLeft" fmla="*/ 0 w 136800"/>
                <a:gd name="textAreaRight" fmla="*/ 137160 w 136800"/>
                <a:gd name="textAreaTop" fmla="*/ 0 h 1564560"/>
                <a:gd name="textAreaBottom" fmla="*/ 1564920 h 1564560"/>
              </a:gdLst>
              <a:ahLst/>
              <a:rect l="textAreaLeft" t="textAreaTop" r="textAreaRight" b="textAreaBottom"/>
              <a:pathLst>
                <a:path w="183007" h="2086483">
                  <a:moveTo>
                    <a:pt x="0" y="0"/>
                  </a:moveTo>
                  <a:lnTo>
                    <a:pt x="183007" y="0"/>
                  </a:lnTo>
                  <a:lnTo>
                    <a:pt x="183007" y="2086483"/>
                  </a:lnTo>
                  <a:lnTo>
                    <a:pt x="0" y="2086483"/>
                  </a:lnTo>
                  <a:close/>
                </a:path>
              </a:pathLst>
            </a:custGeom>
            <a:solidFill>
              <a:srgbClr val="0e22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00" name="Group 30"/>
          <p:cNvGrpSpPr/>
          <p:nvPr/>
        </p:nvGrpSpPr>
        <p:grpSpPr>
          <a:xfrm>
            <a:off x="9883080" y="5888160"/>
            <a:ext cx="7412040" cy="563040"/>
            <a:chOff x="9883080" y="5888160"/>
            <a:chExt cx="7412040" cy="563040"/>
          </a:xfrm>
        </p:grpSpPr>
        <p:sp>
          <p:nvSpPr>
            <p:cNvPr id="301" name="Freeform 31"/>
            <p:cNvSpPr/>
            <p:nvPr/>
          </p:nvSpPr>
          <p:spPr>
            <a:xfrm>
              <a:off x="9883080" y="5902560"/>
              <a:ext cx="7412040" cy="548640"/>
            </a:xfrm>
            <a:custGeom>
              <a:avLst/>
              <a:gdLst>
                <a:gd name="textAreaLeft" fmla="*/ 0 w 7412040"/>
                <a:gd name="textAreaRight" fmla="*/ 7412400 w 7412040"/>
                <a:gd name="textAreaTop" fmla="*/ 0 h 548640"/>
                <a:gd name="textAreaBottom" fmla="*/ 549000 h 548640"/>
              </a:gdLst>
              <a:ahLst/>
              <a:rect l="textAreaLeft" t="textAreaTop" r="textAreaRight" b="textAreaBottom"/>
              <a:pathLst>
                <a:path w="9883241" h="732092">
                  <a:moveTo>
                    <a:pt x="0" y="0"/>
                  </a:moveTo>
                  <a:lnTo>
                    <a:pt x="9883241" y="0"/>
                  </a:lnTo>
                  <a:lnTo>
                    <a:pt x="9883241" y="732092"/>
                  </a:lnTo>
                  <a:lnTo>
                    <a:pt x="0" y="732092"/>
                  </a:lnTo>
                  <a:close/>
                </a:path>
              </a:pathLst>
            </a:custGeom>
            <a:blipFill rotWithShape="0">
              <a:blip r:embed="rId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2" name="TextBox 32"/>
            <p:cNvSpPr/>
            <p:nvPr/>
          </p:nvSpPr>
          <p:spPr>
            <a:xfrm>
              <a:off x="9883080" y="5888160"/>
              <a:ext cx="7412040" cy="563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3243"/>
                </a:lnSpc>
              </a:pPr>
              <a:r>
                <a:rPr b="1" lang="en-US" sz="2700" spc="-1" strike="noStrike">
                  <a:solidFill>
                    <a:srgbClr val="14254a"/>
                  </a:solidFill>
                  <a:latin typeface="Georgia Bold"/>
                  <a:ea typeface="Georgia Bold"/>
                </a:rPr>
                <a:t>Training</a:t>
              </a:r>
              <a:endParaRPr b="0" lang="es-ES" sz="2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3" name="Group 33"/>
          <p:cNvGrpSpPr/>
          <p:nvPr/>
        </p:nvGrpSpPr>
        <p:grpSpPr>
          <a:xfrm>
            <a:off x="9461880" y="7416720"/>
            <a:ext cx="8021520" cy="1583640"/>
            <a:chOff x="9461880" y="7416720"/>
            <a:chExt cx="8021520" cy="1583640"/>
          </a:xfrm>
        </p:grpSpPr>
        <p:sp>
          <p:nvSpPr>
            <p:cNvPr id="304" name="Freeform 34"/>
            <p:cNvSpPr/>
            <p:nvPr/>
          </p:nvSpPr>
          <p:spPr>
            <a:xfrm>
              <a:off x="9461880" y="7416720"/>
              <a:ext cx="8021520" cy="1583640"/>
            </a:xfrm>
            <a:custGeom>
              <a:avLst/>
              <a:gdLst>
                <a:gd name="textAreaLeft" fmla="*/ 0 w 8021520"/>
                <a:gd name="textAreaRight" fmla="*/ 8021880 w 8021520"/>
                <a:gd name="textAreaTop" fmla="*/ 0 h 1583640"/>
                <a:gd name="textAreaBottom" fmla="*/ 1584000 h 1583640"/>
              </a:gdLst>
              <a:ahLst/>
              <a:rect l="textAreaLeft" t="textAreaTop" r="textAreaRight" b="textAreaBottom"/>
              <a:pathLst>
                <a:path w="10695686" h="2111883">
                  <a:moveTo>
                    <a:pt x="0" y="0"/>
                  </a:moveTo>
                  <a:lnTo>
                    <a:pt x="10695686" y="0"/>
                  </a:lnTo>
                  <a:lnTo>
                    <a:pt x="10695686" y="2111883"/>
                  </a:lnTo>
                  <a:lnTo>
                    <a:pt x="0" y="2111883"/>
                  </a:lnTo>
                  <a:close/>
                </a:path>
              </a:pathLst>
            </a:custGeom>
            <a:solidFill>
              <a:srgbClr val="f7f9fc"/>
            </a:solidFill>
            <a:ln cap="sq" w="19065">
              <a:solidFill>
                <a:srgbClr val="d9e1e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5" name="Group 35"/>
          <p:cNvGrpSpPr/>
          <p:nvPr/>
        </p:nvGrpSpPr>
        <p:grpSpPr>
          <a:xfrm>
            <a:off x="9471600" y="7426080"/>
            <a:ext cx="136800" cy="1564560"/>
            <a:chOff x="9471600" y="7426080"/>
            <a:chExt cx="136800" cy="1564560"/>
          </a:xfrm>
        </p:grpSpPr>
        <p:sp>
          <p:nvSpPr>
            <p:cNvPr id="306" name="Freeform 36"/>
            <p:cNvSpPr/>
            <p:nvPr/>
          </p:nvSpPr>
          <p:spPr>
            <a:xfrm>
              <a:off x="9471600" y="7426080"/>
              <a:ext cx="136800" cy="1564560"/>
            </a:xfrm>
            <a:custGeom>
              <a:avLst/>
              <a:gdLst>
                <a:gd name="textAreaLeft" fmla="*/ 0 w 136800"/>
                <a:gd name="textAreaRight" fmla="*/ 137160 w 136800"/>
                <a:gd name="textAreaTop" fmla="*/ 0 h 1564560"/>
                <a:gd name="textAreaBottom" fmla="*/ 1564920 h 1564560"/>
              </a:gdLst>
              <a:ahLst/>
              <a:rect l="textAreaLeft" t="textAreaTop" r="textAreaRight" b="textAreaBottom"/>
              <a:pathLst>
                <a:path w="183007" h="2086483">
                  <a:moveTo>
                    <a:pt x="0" y="0"/>
                  </a:moveTo>
                  <a:lnTo>
                    <a:pt x="183007" y="0"/>
                  </a:lnTo>
                  <a:lnTo>
                    <a:pt x="183007" y="2086483"/>
                  </a:lnTo>
                  <a:lnTo>
                    <a:pt x="0" y="2086483"/>
                  </a:lnTo>
                  <a:close/>
                </a:path>
              </a:pathLst>
            </a:custGeom>
            <a:solidFill>
              <a:srgbClr val="0e22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07" name="Group 37"/>
          <p:cNvGrpSpPr/>
          <p:nvPr/>
        </p:nvGrpSpPr>
        <p:grpSpPr>
          <a:xfrm>
            <a:off x="9883080" y="7631640"/>
            <a:ext cx="7412040" cy="563040"/>
            <a:chOff x="9883080" y="7631640"/>
            <a:chExt cx="7412040" cy="563040"/>
          </a:xfrm>
        </p:grpSpPr>
        <p:sp>
          <p:nvSpPr>
            <p:cNvPr id="308" name="Freeform 38"/>
            <p:cNvSpPr/>
            <p:nvPr/>
          </p:nvSpPr>
          <p:spPr>
            <a:xfrm>
              <a:off x="9883080" y="7645680"/>
              <a:ext cx="7412040" cy="548640"/>
            </a:xfrm>
            <a:custGeom>
              <a:avLst/>
              <a:gdLst>
                <a:gd name="textAreaLeft" fmla="*/ 0 w 7412040"/>
                <a:gd name="textAreaRight" fmla="*/ 7412400 w 7412040"/>
                <a:gd name="textAreaTop" fmla="*/ 0 h 548640"/>
                <a:gd name="textAreaBottom" fmla="*/ 549000 h 548640"/>
              </a:gdLst>
              <a:ahLst/>
              <a:rect l="textAreaLeft" t="textAreaTop" r="textAreaRight" b="textAreaBottom"/>
              <a:pathLst>
                <a:path w="9883241" h="732092">
                  <a:moveTo>
                    <a:pt x="0" y="0"/>
                  </a:moveTo>
                  <a:lnTo>
                    <a:pt x="9883241" y="0"/>
                  </a:lnTo>
                  <a:lnTo>
                    <a:pt x="9883241" y="732092"/>
                  </a:lnTo>
                  <a:lnTo>
                    <a:pt x="0" y="732092"/>
                  </a:lnTo>
                  <a:close/>
                </a:path>
              </a:pathLst>
            </a:custGeom>
            <a:blipFill rotWithShape="0">
              <a:blip r:embed="rId6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9" name="TextBox 39"/>
            <p:cNvSpPr/>
            <p:nvPr/>
          </p:nvSpPr>
          <p:spPr>
            <a:xfrm>
              <a:off x="9883080" y="7631640"/>
              <a:ext cx="7412040" cy="563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3243"/>
                </a:lnSpc>
              </a:pPr>
              <a:r>
                <a:rPr b="1" lang="en-US" sz="2700" spc="-1" strike="noStrike">
                  <a:solidFill>
                    <a:srgbClr val="14254a"/>
                  </a:solidFill>
                  <a:latin typeface="Georgia Bold"/>
                  <a:ea typeface="Georgia Bold"/>
                </a:rPr>
                <a:t>Forensic preprocess</a:t>
              </a:r>
              <a:endParaRPr b="0" lang="es-ES" sz="2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10" name="Freeform 40"/>
          <p:cNvSpPr/>
          <p:nvPr/>
        </p:nvSpPr>
        <p:spPr>
          <a:xfrm>
            <a:off x="662760" y="2642400"/>
            <a:ext cx="7758360" cy="6007320"/>
          </a:xfrm>
          <a:custGeom>
            <a:avLst/>
            <a:gdLst>
              <a:gd name="textAreaLeft" fmla="*/ 0 w 7758360"/>
              <a:gd name="textAreaRight" fmla="*/ 7758720 w 7758360"/>
              <a:gd name="textAreaTop" fmla="*/ 0 h 6007320"/>
              <a:gd name="textAreaBottom" fmla="*/ 6007680 h 6007320"/>
            </a:gdLst>
            <a:ahLst/>
            <a:rect l="textAreaLeft" t="textAreaTop" r="textAreaRight" b="textAreaBottom"/>
            <a:pathLst>
              <a:path w="7758886" h="6007528">
                <a:moveTo>
                  <a:pt x="0" y="0"/>
                </a:moveTo>
                <a:lnTo>
                  <a:pt x="7758885" y="0"/>
                </a:lnTo>
                <a:lnTo>
                  <a:pt x="7758885" y="6007528"/>
                </a:lnTo>
                <a:lnTo>
                  <a:pt x="0" y="60075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TextBox 41"/>
          <p:cNvSpPr/>
          <p:nvPr/>
        </p:nvSpPr>
        <p:spPr>
          <a:xfrm>
            <a:off x="9883080" y="2962800"/>
            <a:ext cx="7480800" cy="40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3183"/>
              </a:lnSpc>
            </a:pPr>
            <a:r>
              <a:rPr b="0" lang="en-US" sz="2650" spc="-1" strike="noStrike">
                <a:solidFill>
                  <a:srgbClr val="000000"/>
                </a:solidFill>
                <a:latin typeface="Calibri (MS)"/>
                <a:ea typeface="Calibri (MS)"/>
              </a:rPr>
              <a:t>ImageNet backbone, heads from scratch</a:t>
            </a:r>
            <a:endParaRPr b="0" lang="es-ES" sz="2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TextBox 42"/>
          <p:cNvSpPr/>
          <p:nvPr/>
        </p:nvSpPr>
        <p:spPr>
          <a:xfrm>
            <a:off x="9883080" y="4705920"/>
            <a:ext cx="7480800" cy="40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3183"/>
              </a:lnSpc>
            </a:pPr>
            <a:r>
              <a:rPr b="0" lang="en-US" sz="2650" spc="-1" strike="noStrike">
                <a:solidFill>
                  <a:srgbClr val="000000"/>
                </a:solidFill>
                <a:latin typeface="Calibri (MS)"/>
                <a:ea typeface="Calibri (MS)"/>
              </a:rPr>
              <a:t>Backbone 10× slower than heads</a:t>
            </a:r>
            <a:endParaRPr b="0" lang="es-ES" sz="2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TextBox 43"/>
          <p:cNvSpPr/>
          <p:nvPr/>
        </p:nvSpPr>
        <p:spPr>
          <a:xfrm>
            <a:off x="9883080" y="6449400"/>
            <a:ext cx="7480800" cy="40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3183"/>
              </a:lnSpc>
            </a:pPr>
            <a:r>
              <a:rPr b="0" lang="en-US" sz="2650" spc="-1" strike="noStrike">
                <a:solidFill>
                  <a:srgbClr val="000000"/>
                </a:solidFill>
                <a:latin typeface="Calibri (MS)"/>
                <a:ea typeface="Calibri (MS)"/>
              </a:rPr>
              <a:t>20 epochs · batch 32 · LR 1e-4 · cosine</a:t>
            </a:r>
            <a:endParaRPr b="0" lang="es-ES" sz="2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TextBox 44"/>
          <p:cNvSpPr/>
          <p:nvPr/>
        </p:nvSpPr>
        <p:spPr>
          <a:xfrm>
            <a:off x="9883080" y="8192520"/>
            <a:ext cx="7480800" cy="40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3183"/>
              </a:lnSpc>
            </a:pPr>
            <a:r>
              <a:rPr b="0" lang="en-US" sz="2650" spc="-1" strike="noStrike">
                <a:solidFill>
                  <a:srgbClr val="000000"/>
                </a:solidFill>
                <a:latin typeface="Calibri (MS)"/>
                <a:ea typeface="Calibri (MS)"/>
              </a:rPr>
              <a:t>Nearest-neighbor · RandomErasing</a:t>
            </a:r>
            <a:endParaRPr b="0" lang="es-ES" sz="2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TextBox 45"/>
          <p:cNvSpPr/>
          <p:nvPr/>
        </p:nvSpPr>
        <p:spPr>
          <a:xfrm>
            <a:off x="14084640" y="9476640"/>
            <a:ext cx="6797520" cy="39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3078"/>
              </a:lnSpc>
            </a:pPr>
            <a:r>
              <a:rPr b="1" lang="en-US" sz="2200" spc="-1" strike="noStrike">
                <a:solidFill>
                  <a:srgbClr val="4d4b66"/>
                </a:solidFill>
                <a:latin typeface="Montserrat Bold"/>
                <a:ea typeface="Montserrat Bold"/>
              </a:rPr>
              <a:t>7/15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6" name="Group 2"/>
          <p:cNvGrpSpPr/>
          <p:nvPr/>
        </p:nvGrpSpPr>
        <p:grpSpPr>
          <a:xfrm>
            <a:off x="823680" y="686160"/>
            <a:ext cx="960480" cy="960480"/>
            <a:chOff x="823680" y="686160"/>
            <a:chExt cx="960480" cy="960480"/>
          </a:xfrm>
        </p:grpSpPr>
        <p:sp>
          <p:nvSpPr>
            <p:cNvPr id="317" name="Freeform 3"/>
            <p:cNvSpPr/>
            <p:nvPr/>
          </p:nvSpPr>
          <p:spPr>
            <a:xfrm>
              <a:off x="823680" y="686160"/>
              <a:ext cx="960480" cy="960480"/>
            </a:xfrm>
            <a:custGeom>
              <a:avLst/>
              <a:gdLst>
                <a:gd name="textAreaLeft" fmla="*/ 0 w 960480"/>
                <a:gd name="textAreaRight" fmla="*/ 960840 w 960480"/>
                <a:gd name="textAreaTop" fmla="*/ 0 h 960480"/>
                <a:gd name="textAreaBottom" fmla="*/ 960840 h 960480"/>
              </a:gdLst>
              <a:ahLst/>
              <a:rect l="textAreaLeft" t="textAreaTop" r="textAreaRight" b="textAreaBottom"/>
              <a:pathLst>
                <a:path w="1281176" h="1281176">
                  <a:moveTo>
                    <a:pt x="0" y="640588"/>
                  </a:moveTo>
                  <a:cubicBezTo>
                    <a:pt x="0" y="286766"/>
                    <a:pt x="286766" y="0"/>
                    <a:pt x="640588" y="0"/>
                  </a:cubicBezTo>
                  <a:cubicBezTo>
                    <a:pt x="994410" y="0"/>
                    <a:pt x="1281176" y="286766"/>
                    <a:pt x="1281176" y="640588"/>
                  </a:cubicBezTo>
                  <a:cubicBezTo>
                    <a:pt x="1281176" y="994410"/>
                    <a:pt x="994410" y="1281176"/>
                    <a:pt x="640588" y="1281176"/>
                  </a:cubicBezTo>
                  <a:cubicBezTo>
                    <a:pt x="286766" y="1281176"/>
                    <a:pt x="0" y="994410"/>
                    <a:pt x="0" y="640588"/>
                  </a:cubicBezTo>
                  <a:close/>
                </a:path>
              </a:pathLst>
            </a:custGeom>
            <a:solidFill>
              <a:srgbClr val="14254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18" name="Group 4"/>
          <p:cNvGrpSpPr/>
          <p:nvPr/>
        </p:nvGrpSpPr>
        <p:grpSpPr>
          <a:xfrm>
            <a:off x="823680" y="686160"/>
            <a:ext cx="960480" cy="960480"/>
            <a:chOff x="823680" y="686160"/>
            <a:chExt cx="960480" cy="960480"/>
          </a:xfrm>
        </p:grpSpPr>
        <p:sp>
          <p:nvSpPr>
            <p:cNvPr id="319" name="Freeform 5"/>
            <p:cNvSpPr/>
            <p:nvPr/>
          </p:nvSpPr>
          <p:spPr>
            <a:xfrm>
              <a:off x="823680" y="686160"/>
              <a:ext cx="960480" cy="960480"/>
            </a:xfrm>
            <a:custGeom>
              <a:avLst/>
              <a:gdLst>
                <a:gd name="textAreaLeft" fmla="*/ 0 w 960480"/>
                <a:gd name="textAreaRight" fmla="*/ 960840 w 960480"/>
                <a:gd name="textAreaTop" fmla="*/ 0 h 960480"/>
                <a:gd name="textAreaBottom" fmla="*/ 960840 h 960480"/>
              </a:gdLst>
              <a:ahLst/>
              <a:rect l="textAreaLeft" t="textAreaTop" r="textAreaRight" b="textAreaBottom"/>
              <a:pathLst>
                <a:path w="1281161" h="1281159">
                  <a:moveTo>
                    <a:pt x="0" y="0"/>
                  </a:moveTo>
                  <a:lnTo>
                    <a:pt x="1281161" y="0"/>
                  </a:lnTo>
                  <a:lnTo>
                    <a:pt x="1281161" y="1281159"/>
                  </a:lnTo>
                  <a:lnTo>
                    <a:pt x="0" y="1281159"/>
                  </a:lnTo>
                  <a:close/>
                </a:path>
              </a:pathLst>
            </a:custGeom>
            <a:blipFill rotWithShape="0">
              <a:blip r:embed="rId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0" name="TextBox 6"/>
            <p:cNvSpPr/>
            <p:nvPr/>
          </p:nvSpPr>
          <p:spPr>
            <a:xfrm>
              <a:off x="823680" y="686160"/>
              <a:ext cx="960480" cy="960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ts val="3963"/>
                </a:lnSpc>
              </a:pPr>
              <a:r>
                <a:rPr b="1" lang="en-US" sz="3300" spc="-1" strike="noStrike">
                  <a:solidFill>
                    <a:srgbClr val="ffffff"/>
                  </a:solidFill>
                  <a:latin typeface="Georgia Bold"/>
                  <a:ea typeface="Georgia Bold"/>
                </a:rPr>
                <a:t>06</a:t>
              </a:r>
              <a:endParaRPr b="0" lang="es-ES" sz="33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21" name="Group 7"/>
          <p:cNvGrpSpPr/>
          <p:nvPr/>
        </p:nvGrpSpPr>
        <p:grpSpPr>
          <a:xfrm>
            <a:off x="2058840" y="624240"/>
            <a:ext cx="14000760" cy="1077480"/>
            <a:chOff x="2058840" y="624240"/>
            <a:chExt cx="14000760" cy="1077480"/>
          </a:xfrm>
        </p:grpSpPr>
        <p:sp>
          <p:nvSpPr>
            <p:cNvPr id="322" name="Freeform 8"/>
            <p:cNvSpPr/>
            <p:nvPr/>
          </p:nvSpPr>
          <p:spPr>
            <a:xfrm>
              <a:off x="2058840" y="631440"/>
              <a:ext cx="14000760" cy="1070280"/>
            </a:xfrm>
            <a:custGeom>
              <a:avLst/>
              <a:gdLst>
                <a:gd name="textAreaLeft" fmla="*/ 0 w 14000760"/>
                <a:gd name="textAreaRight" fmla="*/ 14001120 w 14000760"/>
                <a:gd name="textAreaTop" fmla="*/ 0 h 1070280"/>
                <a:gd name="textAreaBottom" fmla="*/ 1070640 h 1070280"/>
              </a:gdLst>
              <a:ahLst/>
              <a:rect l="textAreaLeft" t="textAreaTop" r="textAreaRight" b="textAreaBottom"/>
              <a:pathLst>
                <a:path w="18668344" h="1427577">
                  <a:moveTo>
                    <a:pt x="0" y="0"/>
                  </a:moveTo>
                  <a:lnTo>
                    <a:pt x="18668344" y="0"/>
                  </a:lnTo>
                  <a:lnTo>
                    <a:pt x="18668344" y="1427577"/>
                  </a:lnTo>
                  <a:lnTo>
                    <a:pt x="0" y="1427577"/>
                  </a:lnTo>
                  <a:close/>
                </a:path>
              </a:pathLst>
            </a:custGeom>
            <a:blipFill rotWithShape="0">
              <a:blip r:embed="rId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3" name="TextBox 9"/>
            <p:cNvSpPr/>
            <p:nvPr/>
          </p:nvSpPr>
          <p:spPr>
            <a:xfrm>
              <a:off x="2058840" y="624240"/>
              <a:ext cx="14000760" cy="1077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6123"/>
                </a:lnSpc>
              </a:pPr>
              <a:r>
                <a:rPr b="1" lang="en-US" sz="5110" spc="-1" strike="noStrike">
                  <a:solidFill>
                    <a:srgbClr val="14254a"/>
                  </a:solidFill>
                  <a:latin typeface="Georgia Bold"/>
                  <a:ea typeface="Georgia Bold"/>
                </a:rPr>
                <a:t>Metrics</a:t>
              </a:r>
              <a:endParaRPr b="0" lang="es-ES" sz="511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24" name="Freeform 10"/>
          <p:cNvSpPr/>
          <p:nvPr/>
        </p:nvSpPr>
        <p:spPr>
          <a:xfrm>
            <a:off x="5708520" y="3294360"/>
            <a:ext cx="5282280" cy="1048680"/>
          </a:xfrm>
          <a:custGeom>
            <a:avLst/>
            <a:gdLst>
              <a:gd name="textAreaLeft" fmla="*/ 0 w 5282280"/>
              <a:gd name="textAreaRight" fmla="*/ 5282640 w 5282280"/>
              <a:gd name="textAreaTop" fmla="*/ 0 h 1048680"/>
              <a:gd name="textAreaBottom" fmla="*/ 1049040 h 1048680"/>
            </a:gdLst>
            <a:ahLst/>
            <a:rect l="textAreaLeft" t="textAreaTop" r="textAreaRight" b="textAreaBottom"/>
            <a:pathLst>
              <a:path w="5282697" h="1049082">
                <a:moveTo>
                  <a:pt x="0" y="0"/>
                </a:moveTo>
                <a:lnTo>
                  <a:pt x="5282697" y="0"/>
                </a:lnTo>
                <a:lnTo>
                  <a:pt x="5282697" y="1049082"/>
                </a:lnTo>
                <a:lnTo>
                  <a:pt x="0" y="104908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TextBox 11"/>
          <p:cNvSpPr/>
          <p:nvPr/>
        </p:nvSpPr>
        <p:spPr>
          <a:xfrm>
            <a:off x="482040" y="2499840"/>
            <a:ext cx="16942680" cy="10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500400" indent="-250200">
              <a:lnSpc>
                <a:spcPts val="4144"/>
              </a:lnSpc>
              <a:buClr>
                <a:srgbClr val="14254a"/>
              </a:buClr>
              <a:buFont typeface="Arial"/>
              <a:buChar char="•"/>
            </a:pPr>
            <a:r>
              <a:rPr b="0" lang="en-US" sz="2760" spc="-1" strike="noStrike">
                <a:solidFill>
                  <a:srgbClr val="14254a"/>
                </a:solidFill>
                <a:latin typeface="Calibri (MS)"/>
                <a:ea typeface="Calibri (MS)"/>
              </a:rPr>
              <a:t>Global Accuracy: Ratio of correctly predicted authentic and generated images</a:t>
            </a:r>
            <a:endParaRPr b="0" lang="es-ES" sz="276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4144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TextBox 12"/>
          <p:cNvSpPr/>
          <p:nvPr/>
        </p:nvSpPr>
        <p:spPr>
          <a:xfrm>
            <a:off x="1445040" y="4619520"/>
            <a:ext cx="16942680" cy="52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500400" indent="-250200">
              <a:lnSpc>
                <a:spcPts val="4144"/>
              </a:lnSpc>
              <a:buClr>
                <a:srgbClr val="14254a"/>
              </a:buClr>
              <a:buFont typeface="Arial"/>
              <a:buChar char="•"/>
            </a:pPr>
            <a:r>
              <a:rPr b="0" lang="en-US" sz="2760" spc="-1" strike="noStrike">
                <a:solidFill>
                  <a:srgbClr val="14254a"/>
                </a:solidFill>
                <a:latin typeface="Calibri (MS)"/>
                <a:ea typeface="Calibri (MS)"/>
              </a:rPr>
              <a:t>Precision:Minimizes false accusations of AI</a:t>
            </a:r>
            <a:endParaRPr b="0" lang="es-ES" sz="27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TextBox 13"/>
          <p:cNvSpPr/>
          <p:nvPr/>
        </p:nvSpPr>
        <p:spPr>
          <a:xfrm>
            <a:off x="8900280" y="4619520"/>
            <a:ext cx="16942680" cy="52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500400" indent="-250200">
              <a:lnSpc>
                <a:spcPts val="4144"/>
              </a:lnSpc>
              <a:buClr>
                <a:srgbClr val="14254a"/>
              </a:buClr>
              <a:buFont typeface="Arial"/>
              <a:buChar char="•"/>
            </a:pPr>
            <a:r>
              <a:rPr b="0" lang="en-US" sz="2760" spc="-1" strike="noStrike">
                <a:solidFill>
                  <a:srgbClr val="14254a"/>
                </a:solidFill>
                <a:latin typeface="Calibri (MS)"/>
                <a:ea typeface="Calibri (MS)"/>
              </a:rPr>
              <a:t>Recall:Minimizes undetected AI fakes</a:t>
            </a:r>
            <a:endParaRPr b="0" lang="es-ES" sz="27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Freeform 14"/>
          <p:cNvSpPr/>
          <p:nvPr/>
        </p:nvSpPr>
        <p:spPr>
          <a:xfrm>
            <a:off x="3281400" y="5397120"/>
            <a:ext cx="2427120" cy="1014840"/>
          </a:xfrm>
          <a:custGeom>
            <a:avLst/>
            <a:gdLst>
              <a:gd name="textAreaLeft" fmla="*/ 0 w 2427120"/>
              <a:gd name="textAreaRight" fmla="*/ 2427480 w 2427120"/>
              <a:gd name="textAreaTop" fmla="*/ 0 h 1014840"/>
              <a:gd name="textAreaBottom" fmla="*/ 1015200 h 1014840"/>
            </a:gdLst>
            <a:ahLst/>
            <a:rect l="textAreaLeft" t="textAreaTop" r="textAreaRight" b="textAreaBottom"/>
            <a:pathLst>
              <a:path w="2427306" h="1015055">
                <a:moveTo>
                  <a:pt x="0" y="0"/>
                </a:moveTo>
                <a:lnTo>
                  <a:pt x="2427305" y="0"/>
                </a:lnTo>
                <a:lnTo>
                  <a:pt x="2427305" y="1015055"/>
                </a:lnTo>
                <a:lnTo>
                  <a:pt x="0" y="101505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Freeform 15"/>
          <p:cNvSpPr/>
          <p:nvPr/>
        </p:nvSpPr>
        <p:spPr>
          <a:xfrm>
            <a:off x="11050560" y="5397120"/>
            <a:ext cx="2032920" cy="1014840"/>
          </a:xfrm>
          <a:custGeom>
            <a:avLst/>
            <a:gdLst>
              <a:gd name="textAreaLeft" fmla="*/ 0 w 2032920"/>
              <a:gd name="textAreaRight" fmla="*/ 2033280 w 2032920"/>
              <a:gd name="textAreaTop" fmla="*/ 0 h 1014840"/>
              <a:gd name="textAreaBottom" fmla="*/ 1015200 h 1014840"/>
            </a:gdLst>
            <a:ahLst/>
            <a:rect l="textAreaLeft" t="textAreaTop" r="textAreaRight" b="textAreaBottom"/>
            <a:pathLst>
              <a:path w="2033124" h="1015055">
                <a:moveTo>
                  <a:pt x="0" y="0"/>
                </a:moveTo>
                <a:lnTo>
                  <a:pt x="2033124" y="0"/>
                </a:lnTo>
                <a:lnTo>
                  <a:pt x="2033124" y="1015055"/>
                </a:lnTo>
                <a:lnTo>
                  <a:pt x="0" y="101505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TextBox 16"/>
          <p:cNvSpPr/>
          <p:nvPr/>
        </p:nvSpPr>
        <p:spPr>
          <a:xfrm>
            <a:off x="1445040" y="6688080"/>
            <a:ext cx="16942680" cy="52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500400" indent="-250200">
              <a:lnSpc>
                <a:spcPts val="4144"/>
              </a:lnSpc>
              <a:buClr>
                <a:srgbClr val="14254a"/>
              </a:buClr>
              <a:buFont typeface="Arial"/>
              <a:buChar char="•"/>
            </a:pPr>
            <a:r>
              <a:rPr b="0" lang="en-US" sz="2760" spc="-1" strike="noStrike">
                <a:solidFill>
                  <a:srgbClr val="14254a"/>
                </a:solidFill>
                <a:latin typeface="Calibri (MS)"/>
                <a:ea typeface="Calibri (MS)"/>
              </a:rPr>
              <a:t>F1:Harmonic mean for balance</a:t>
            </a:r>
            <a:endParaRPr b="0" lang="es-ES" sz="27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TextBox 17"/>
          <p:cNvSpPr/>
          <p:nvPr/>
        </p:nvSpPr>
        <p:spPr>
          <a:xfrm>
            <a:off x="8900280" y="6688080"/>
            <a:ext cx="16942680" cy="52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500400" indent="-250200">
              <a:lnSpc>
                <a:spcPts val="4144"/>
              </a:lnSpc>
              <a:buClr>
                <a:srgbClr val="14254a"/>
              </a:buClr>
              <a:buFont typeface="Arial"/>
              <a:buChar char="•"/>
            </a:pPr>
            <a:r>
              <a:rPr b="0" lang="en-US" sz="2760" spc="-1" strike="noStrike">
                <a:solidFill>
                  <a:srgbClr val="14254a"/>
                </a:solidFill>
                <a:latin typeface="Calibri (MS)"/>
                <a:ea typeface="Calibri (MS)"/>
              </a:rPr>
              <a:t>AUC-ROC:separablity accross thresholds</a:t>
            </a:r>
            <a:endParaRPr b="0" lang="es-ES" sz="27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Freeform 18"/>
          <p:cNvSpPr/>
          <p:nvPr/>
        </p:nvSpPr>
        <p:spPr>
          <a:xfrm>
            <a:off x="2827080" y="7504560"/>
            <a:ext cx="2881080" cy="1029960"/>
          </a:xfrm>
          <a:custGeom>
            <a:avLst/>
            <a:gdLst>
              <a:gd name="textAreaLeft" fmla="*/ 0 w 2881080"/>
              <a:gd name="textAreaRight" fmla="*/ 2881440 w 2881080"/>
              <a:gd name="textAreaTop" fmla="*/ 0 h 1029960"/>
              <a:gd name="textAreaBottom" fmla="*/ 1030320 h 1029960"/>
            </a:gdLst>
            <a:ahLst/>
            <a:rect l="textAreaLeft" t="textAreaTop" r="textAreaRight" b="textAreaBottom"/>
            <a:pathLst>
              <a:path w="2881471" h="1030148">
                <a:moveTo>
                  <a:pt x="0" y="0"/>
                </a:moveTo>
                <a:lnTo>
                  <a:pt x="2881471" y="0"/>
                </a:lnTo>
                <a:lnTo>
                  <a:pt x="2881471" y="1030149"/>
                </a:lnTo>
                <a:lnTo>
                  <a:pt x="0" y="103014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Freeform 19"/>
          <p:cNvSpPr/>
          <p:nvPr/>
        </p:nvSpPr>
        <p:spPr>
          <a:xfrm>
            <a:off x="10214640" y="7670520"/>
            <a:ext cx="4407840" cy="864000"/>
          </a:xfrm>
          <a:custGeom>
            <a:avLst/>
            <a:gdLst>
              <a:gd name="textAreaLeft" fmla="*/ 0 w 4407840"/>
              <a:gd name="textAreaRight" fmla="*/ 4408200 w 4407840"/>
              <a:gd name="textAreaTop" fmla="*/ 0 h 864000"/>
              <a:gd name="textAreaBottom" fmla="*/ 864360 h 864000"/>
            </a:gdLst>
            <a:ahLst/>
            <a:rect l="textAreaLeft" t="textAreaTop" r="textAreaRight" b="textAreaBottom"/>
            <a:pathLst>
              <a:path w="4408377" h="864441">
                <a:moveTo>
                  <a:pt x="0" y="0"/>
                </a:moveTo>
                <a:lnTo>
                  <a:pt x="4408377" y="0"/>
                </a:lnTo>
                <a:lnTo>
                  <a:pt x="4408377" y="864442"/>
                </a:lnTo>
                <a:lnTo>
                  <a:pt x="0" y="86444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TextBox 20"/>
          <p:cNvSpPr/>
          <p:nvPr/>
        </p:nvSpPr>
        <p:spPr>
          <a:xfrm>
            <a:off x="14120640" y="9613440"/>
            <a:ext cx="6797520" cy="39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3078"/>
              </a:lnSpc>
            </a:pPr>
            <a:r>
              <a:rPr b="1" lang="en-US" sz="2200" spc="-1" strike="noStrike">
                <a:solidFill>
                  <a:srgbClr val="4d4b66"/>
                </a:solidFill>
                <a:latin typeface="Montserrat Bold"/>
                <a:ea typeface="Montserrat Bold"/>
              </a:rPr>
              <a:t>8/15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5" name="Group 2"/>
          <p:cNvGrpSpPr/>
          <p:nvPr/>
        </p:nvGrpSpPr>
        <p:grpSpPr>
          <a:xfrm>
            <a:off x="823680" y="686160"/>
            <a:ext cx="960480" cy="960480"/>
            <a:chOff x="823680" y="686160"/>
            <a:chExt cx="960480" cy="960480"/>
          </a:xfrm>
        </p:grpSpPr>
        <p:sp>
          <p:nvSpPr>
            <p:cNvPr id="336" name="Freeform 3"/>
            <p:cNvSpPr/>
            <p:nvPr/>
          </p:nvSpPr>
          <p:spPr>
            <a:xfrm>
              <a:off x="823680" y="686160"/>
              <a:ext cx="960480" cy="960480"/>
            </a:xfrm>
            <a:custGeom>
              <a:avLst/>
              <a:gdLst>
                <a:gd name="textAreaLeft" fmla="*/ 0 w 960480"/>
                <a:gd name="textAreaRight" fmla="*/ 960840 w 960480"/>
                <a:gd name="textAreaTop" fmla="*/ 0 h 960480"/>
                <a:gd name="textAreaBottom" fmla="*/ 960840 h 960480"/>
              </a:gdLst>
              <a:ahLst/>
              <a:rect l="textAreaLeft" t="textAreaTop" r="textAreaRight" b="textAreaBottom"/>
              <a:pathLst>
                <a:path w="1281176" h="1281176">
                  <a:moveTo>
                    <a:pt x="0" y="640588"/>
                  </a:moveTo>
                  <a:cubicBezTo>
                    <a:pt x="0" y="286766"/>
                    <a:pt x="286766" y="0"/>
                    <a:pt x="640588" y="0"/>
                  </a:cubicBezTo>
                  <a:cubicBezTo>
                    <a:pt x="994410" y="0"/>
                    <a:pt x="1281176" y="286766"/>
                    <a:pt x="1281176" y="640588"/>
                  </a:cubicBezTo>
                  <a:cubicBezTo>
                    <a:pt x="1281176" y="994410"/>
                    <a:pt x="994410" y="1281176"/>
                    <a:pt x="640588" y="1281176"/>
                  </a:cubicBezTo>
                  <a:cubicBezTo>
                    <a:pt x="286766" y="1281176"/>
                    <a:pt x="0" y="994410"/>
                    <a:pt x="0" y="640588"/>
                  </a:cubicBezTo>
                  <a:close/>
                </a:path>
              </a:pathLst>
            </a:custGeom>
            <a:solidFill>
              <a:srgbClr val="14254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37" name="Group 4"/>
          <p:cNvGrpSpPr/>
          <p:nvPr/>
        </p:nvGrpSpPr>
        <p:grpSpPr>
          <a:xfrm>
            <a:off x="823680" y="686160"/>
            <a:ext cx="960480" cy="960480"/>
            <a:chOff x="823680" y="686160"/>
            <a:chExt cx="960480" cy="960480"/>
          </a:xfrm>
        </p:grpSpPr>
        <p:sp>
          <p:nvSpPr>
            <p:cNvPr id="338" name="Freeform 5"/>
            <p:cNvSpPr/>
            <p:nvPr/>
          </p:nvSpPr>
          <p:spPr>
            <a:xfrm>
              <a:off x="823680" y="686160"/>
              <a:ext cx="960480" cy="960480"/>
            </a:xfrm>
            <a:custGeom>
              <a:avLst/>
              <a:gdLst>
                <a:gd name="textAreaLeft" fmla="*/ 0 w 960480"/>
                <a:gd name="textAreaRight" fmla="*/ 960840 w 960480"/>
                <a:gd name="textAreaTop" fmla="*/ 0 h 960480"/>
                <a:gd name="textAreaBottom" fmla="*/ 960840 h 960480"/>
              </a:gdLst>
              <a:ahLst/>
              <a:rect l="textAreaLeft" t="textAreaTop" r="textAreaRight" b="textAreaBottom"/>
              <a:pathLst>
                <a:path w="1281161" h="1281159">
                  <a:moveTo>
                    <a:pt x="0" y="0"/>
                  </a:moveTo>
                  <a:lnTo>
                    <a:pt x="1281161" y="0"/>
                  </a:lnTo>
                  <a:lnTo>
                    <a:pt x="1281161" y="1281159"/>
                  </a:lnTo>
                  <a:lnTo>
                    <a:pt x="0" y="1281159"/>
                  </a:lnTo>
                  <a:close/>
                </a:path>
              </a:pathLst>
            </a:custGeom>
            <a:blipFill rotWithShape="0">
              <a:blip r:embed="rId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9" name="TextBox 6"/>
            <p:cNvSpPr/>
            <p:nvPr/>
          </p:nvSpPr>
          <p:spPr>
            <a:xfrm>
              <a:off x="823680" y="686160"/>
              <a:ext cx="960480" cy="960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ts val="3963"/>
                </a:lnSpc>
              </a:pPr>
              <a:r>
                <a:rPr b="1" lang="en-US" sz="3300" spc="-1" strike="noStrike">
                  <a:solidFill>
                    <a:srgbClr val="ffffff"/>
                  </a:solidFill>
                  <a:latin typeface="Georgia Bold"/>
                  <a:ea typeface="Georgia Bold"/>
                </a:rPr>
                <a:t>07</a:t>
              </a:r>
              <a:endParaRPr b="0" lang="es-ES" sz="33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40" name="Group 7"/>
          <p:cNvGrpSpPr/>
          <p:nvPr/>
        </p:nvGrpSpPr>
        <p:grpSpPr>
          <a:xfrm>
            <a:off x="2058840" y="624240"/>
            <a:ext cx="14000760" cy="1077480"/>
            <a:chOff x="2058840" y="624240"/>
            <a:chExt cx="14000760" cy="1077480"/>
          </a:xfrm>
        </p:grpSpPr>
        <p:sp>
          <p:nvSpPr>
            <p:cNvPr id="341" name="Freeform 8"/>
            <p:cNvSpPr/>
            <p:nvPr/>
          </p:nvSpPr>
          <p:spPr>
            <a:xfrm>
              <a:off x="2058840" y="631440"/>
              <a:ext cx="14000760" cy="1070280"/>
            </a:xfrm>
            <a:custGeom>
              <a:avLst/>
              <a:gdLst>
                <a:gd name="textAreaLeft" fmla="*/ 0 w 14000760"/>
                <a:gd name="textAreaRight" fmla="*/ 14001120 w 14000760"/>
                <a:gd name="textAreaTop" fmla="*/ 0 h 1070280"/>
                <a:gd name="textAreaBottom" fmla="*/ 1070640 h 1070280"/>
              </a:gdLst>
              <a:ahLst/>
              <a:rect l="textAreaLeft" t="textAreaTop" r="textAreaRight" b="textAreaBottom"/>
              <a:pathLst>
                <a:path w="18668344" h="1427577">
                  <a:moveTo>
                    <a:pt x="0" y="0"/>
                  </a:moveTo>
                  <a:lnTo>
                    <a:pt x="18668344" y="0"/>
                  </a:lnTo>
                  <a:lnTo>
                    <a:pt x="18668344" y="1427577"/>
                  </a:lnTo>
                  <a:lnTo>
                    <a:pt x="0" y="1427577"/>
                  </a:lnTo>
                  <a:close/>
                </a:path>
              </a:pathLst>
            </a:custGeom>
            <a:blipFill rotWithShape="0">
              <a:blip r:embed="rId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2" name="TextBox 9"/>
            <p:cNvSpPr/>
            <p:nvPr/>
          </p:nvSpPr>
          <p:spPr>
            <a:xfrm>
              <a:off x="2058840" y="624240"/>
              <a:ext cx="14000760" cy="1077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6123"/>
                </a:lnSpc>
              </a:pPr>
              <a:r>
                <a:rPr b="1" lang="en-US" sz="5110" spc="-1" strike="noStrike">
                  <a:solidFill>
                    <a:srgbClr val="14254a"/>
                  </a:solidFill>
                  <a:latin typeface="Georgia Bold"/>
                  <a:ea typeface="Georgia Bold"/>
                </a:rPr>
                <a:t>Metrics</a:t>
              </a:r>
              <a:endParaRPr b="0" lang="es-ES" sz="511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43" name="TextBox 10"/>
          <p:cNvSpPr/>
          <p:nvPr/>
        </p:nvSpPr>
        <p:spPr>
          <a:xfrm>
            <a:off x="482040" y="2499840"/>
            <a:ext cx="16942680" cy="52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500400" indent="-250200">
              <a:lnSpc>
                <a:spcPts val="4144"/>
              </a:lnSpc>
              <a:buClr>
                <a:srgbClr val="14254a"/>
              </a:buClr>
              <a:buFont typeface="Arial"/>
              <a:buChar char="•"/>
            </a:pPr>
            <a:r>
              <a:rPr b="0" lang="en-US" sz="2760" spc="-1" strike="noStrike">
                <a:solidFill>
                  <a:srgbClr val="14254a"/>
                </a:solidFill>
                <a:latin typeface="Calibri (MS)"/>
                <a:ea typeface="Calibri (MS)"/>
              </a:rPr>
              <a:t>Multi-class Accuracy: The proportion of perfectly classified degradation layers</a:t>
            </a:r>
            <a:endParaRPr b="0" lang="es-ES" sz="27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TextBox 11"/>
          <p:cNvSpPr/>
          <p:nvPr/>
        </p:nvSpPr>
        <p:spPr>
          <a:xfrm>
            <a:off x="482040" y="4790160"/>
            <a:ext cx="16942680" cy="52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500400" indent="-250200">
              <a:lnSpc>
                <a:spcPts val="4144"/>
              </a:lnSpc>
              <a:buClr>
                <a:srgbClr val="14254a"/>
              </a:buClr>
              <a:buFont typeface="Arial"/>
              <a:buChar char="•"/>
            </a:pPr>
            <a:r>
              <a:rPr b="0" lang="en-US" sz="2760" spc="-1" strike="noStrike">
                <a:solidFill>
                  <a:srgbClr val="14254a"/>
                </a:solidFill>
                <a:latin typeface="Calibri (MS)"/>
                <a:ea typeface="Calibri (MS)"/>
              </a:rPr>
              <a:t>Macro F1-Score:Computes F1 independently for each class(C) and averages them equally</a:t>
            </a:r>
            <a:endParaRPr b="0" lang="es-ES" sz="27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TextBox 12"/>
          <p:cNvSpPr/>
          <p:nvPr/>
        </p:nvSpPr>
        <p:spPr>
          <a:xfrm>
            <a:off x="6364800" y="7149240"/>
            <a:ext cx="16942680" cy="52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4144"/>
              </a:lnSpc>
            </a:pPr>
            <a:r>
              <a:rPr b="1" lang="en-US" sz="2760" spc="-1" strike="noStrike">
                <a:solidFill>
                  <a:srgbClr val="14254a"/>
                </a:solidFill>
                <a:latin typeface="Calibri (MS) Bold"/>
                <a:ea typeface="Calibri (MS) Bold"/>
              </a:rPr>
              <a:t>Why Macro Averaging?</a:t>
            </a:r>
            <a:endParaRPr b="0" lang="es-ES" sz="27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Freeform 13"/>
          <p:cNvSpPr/>
          <p:nvPr/>
        </p:nvSpPr>
        <p:spPr>
          <a:xfrm>
            <a:off x="5587200" y="3559680"/>
            <a:ext cx="4830120" cy="876600"/>
          </a:xfrm>
          <a:custGeom>
            <a:avLst/>
            <a:gdLst>
              <a:gd name="textAreaLeft" fmla="*/ 0 w 4830120"/>
              <a:gd name="textAreaRight" fmla="*/ 4830480 w 4830120"/>
              <a:gd name="textAreaTop" fmla="*/ 0 h 876600"/>
              <a:gd name="textAreaBottom" fmla="*/ 876960 h 876600"/>
            </a:gdLst>
            <a:ahLst/>
            <a:rect l="textAreaLeft" t="textAreaTop" r="textAreaRight" b="textAreaBottom"/>
            <a:pathLst>
              <a:path w="4830575" h="876873">
                <a:moveTo>
                  <a:pt x="0" y="0"/>
                </a:moveTo>
                <a:lnTo>
                  <a:pt x="4830576" y="0"/>
                </a:lnTo>
                <a:lnTo>
                  <a:pt x="4830576" y="876874"/>
                </a:lnTo>
                <a:lnTo>
                  <a:pt x="0" y="87687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TextBox 14"/>
          <p:cNvSpPr/>
          <p:nvPr/>
        </p:nvSpPr>
        <p:spPr>
          <a:xfrm>
            <a:off x="672480" y="8173080"/>
            <a:ext cx="16942680" cy="157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4144"/>
              </a:lnSpc>
            </a:pPr>
            <a:r>
              <a:rPr b="0" lang="en-US" sz="2760" spc="-1" strike="noStrike">
                <a:solidFill>
                  <a:srgbClr val="14254a"/>
                </a:solidFill>
                <a:latin typeface="Calibri (MS)"/>
                <a:ea typeface="Calibri (MS)"/>
              </a:rPr>
              <a:t>Unlike Micro-F1(biased by majority classes), </a:t>
            </a:r>
            <a:r>
              <a:rPr b="1" lang="en-US" sz="2760" spc="-1" strike="noStrike">
                <a:solidFill>
                  <a:srgbClr val="14254a"/>
                </a:solidFill>
                <a:latin typeface="Calibri (MS) Bold"/>
                <a:ea typeface="Calibri (MS) Bold"/>
              </a:rPr>
              <a:t>Macro-F1 </a:t>
            </a:r>
            <a:r>
              <a:rPr b="0" lang="en-US" sz="2760" spc="-1" strike="noStrike">
                <a:solidFill>
                  <a:srgbClr val="14254a"/>
                </a:solidFill>
                <a:latin typeface="Calibri (MS)"/>
                <a:ea typeface="Calibri (MS)"/>
              </a:rPr>
              <a:t>evaluates, Original,Transmitted and Redigitized with equal weight. THis ensures performance isn’t artificially iflated by simply learning the most common transformation</a:t>
            </a:r>
            <a:endParaRPr b="0" lang="es-ES" sz="27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Freeform 15"/>
          <p:cNvSpPr/>
          <p:nvPr/>
        </p:nvSpPr>
        <p:spPr>
          <a:xfrm>
            <a:off x="5587200" y="5639400"/>
            <a:ext cx="4469760" cy="1046880"/>
          </a:xfrm>
          <a:custGeom>
            <a:avLst/>
            <a:gdLst>
              <a:gd name="textAreaLeft" fmla="*/ 0 w 4469760"/>
              <a:gd name="textAreaRight" fmla="*/ 4470120 w 4469760"/>
              <a:gd name="textAreaTop" fmla="*/ 0 h 1046880"/>
              <a:gd name="textAreaBottom" fmla="*/ 1047240 h 1046880"/>
            </a:gdLst>
            <a:ahLst/>
            <a:rect l="textAreaLeft" t="textAreaTop" r="textAreaRight" b="textAreaBottom"/>
            <a:pathLst>
              <a:path w="4470203" h="1047274">
                <a:moveTo>
                  <a:pt x="0" y="0"/>
                </a:moveTo>
                <a:lnTo>
                  <a:pt x="4470204" y="0"/>
                </a:lnTo>
                <a:lnTo>
                  <a:pt x="4470204" y="1047274"/>
                </a:lnTo>
                <a:lnTo>
                  <a:pt x="0" y="104727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TextBox 16"/>
          <p:cNvSpPr/>
          <p:nvPr/>
        </p:nvSpPr>
        <p:spPr>
          <a:xfrm>
            <a:off x="14130000" y="9613440"/>
            <a:ext cx="6797520" cy="39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3078"/>
              </a:lnSpc>
            </a:pPr>
            <a:r>
              <a:rPr b="1" lang="en-US" sz="2200" spc="-1" strike="noStrike">
                <a:solidFill>
                  <a:srgbClr val="4d4b66"/>
                </a:solidFill>
                <a:latin typeface="Montserrat Bold"/>
                <a:ea typeface="Montserrat Bold"/>
              </a:rPr>
              <a:t>9/15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" name="Group 2"/>
          <p:cNvGrpSpPr/>
          <p:nvPr/>
        </p:nvGrpSpPr>
        <p:grpSpPr>
          <a:xfrm>
            <a:off x="744840" y="566640"/>
            <a:ext cx="1088640" cy="1088640"/>
            <a:chOff x="744840" y="566640"/>
            <a:chExt cx="1088640" cy="1088640"/>
          </a:xfrm>
        </p:grpSpPr>
        <p:sp>
          <p:nvSpPr>
            <p:cNvPr id="351" name="Freeform 3"/>
            <p:cNvSpPr/>
            <p:nvPr/>
          </p:nvSpPr>
          <p:spPr>
            <a:xfrm>
              <a:off x="744840" y="566640"/>
              <a:ext cx="1088640" cy="1088640"/>
            </a:xfrm>
            <a:custGeom>
              <a:avLst/>
              <a:gdLst>
                <a:gd name="textAreaLeft" fmla="*/ 0 w 1088640"/>
                <a:gd name="textAreaRight" fmla="*/ 1089000 w 1088640"/>
                <a:gd name="textAreaTop" fmla="*/ 0 h 1088640"/>
                <a:gd name="textAreaBottom" fmla="*/ 1089000 h 1088640"/>
              </a:gdLst>
              <a:ahLst/>
              <a:rect l="textAreaLeft" t="textAreaTop" r="textAreaRight" b="textAreaBottom"/>
              <a:pathLst>
                <a:path w="1451864" h="1451864">
                  <a:moveTo>
                    <a:pt x="0" y="725932"/>
                  </a:moveTo>
                  <a:cubicBezTo>
                    <a:pt x="0" y="324993"/>
                    <a:pt x="324993" y="0"/>
                    <a:pt x="725932" y="0"/>
                  </a:cubicBezTo>
                  <a:cubicBezTo>
                    <a:pt x="1126871" y="0"/>
                    <a:pt x="1451864" y="324993"/>
                    <a:pt x="1451864" y="725932"/>
                  </a:cubicBezTo>
                  <a:cubicBezTo>
                    <a:pt x="1451864" y="1126871"/>
                    <a:pt x="1126871" y="1451864"/>
                    <a:pt x="725932" y="1451864"/>
                  </a:cubicBezTo>
                  <a:cubicBezTo>
                    <a:pt x="324993" y="1451864"/>
                    <a:pt x="0" y="1126871"/>
                    <a:pt x="0" y="725932"/>
                  </a:cubicBezTo>
                  <a:close/>
                </a:path>
              </a:pathLst>
            </a:custGeom>
            <a:solidFill>
              <a:srgbClr val="13294b"/>
            </a:solidFill>
            <a:ln cap="sq" w="19050">
              <a:solidFill>
                <a:srgbClr val="13294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52" name="Group 4"/>
          <p:cNvGrpSpPr/>
          <p:nvPr/>
        </p:nvGrpSpPr>
        <p:grpSpPr>
          <a:xfrm>
            <a:off x="754560" y="576000"/>
            <a:ext cx="1069560" cy="1069560"/>
            <a:chOff x="754560" y="576000"/>
            <a:chExt cx="1069560" cy="1069560"/>
          </a:xfrm>
        </p:grpSpPr>
        <p:sp>
          <p:nvSpPr>
            <p:cNvPr id="353" name="Freeform 5"/>
            <p:cNvSpPr/>
            <p:nvPr/>
          </p:nvSpPr>
          <p:spPr>
            <a:xfrm>
              <a:off x="754560" y="576000"/>
              <a:ext cx="1069560" cy="1069560"/>
            </a:xfrm>
            <a:custGeom>
              <a:avLst/>
              <a:gdLst>
                <a:gd name="textAreaLeft" fmla="*/ 0 w 1069560"/>
                <a:gd name="textAreaRight" fmla="*/ 1069920 w 1069560"/>
                <a:gd name="textAreaTop" fmla="*/ 0 h 1069560"/>
                <a:gd name="textAreaBottom" fmla="*/ 1069920 h 1069560"/>
              </a:gdLst>
              <a:ahLst/>
              <a:rect l="textAreaLeft" t="textAreaTop" r="textAreaRight" b="textAreaBottom"/>
              <a:pathLst>
                <a:path w="1426464" h="1426464">
                  <a:moveTo>
                    <a:pt x="0" y="0"/>
                  </a:moveTo>
                  <a:lnTo>
                    <a:pt x="1426464" y="0"/>
                  </a:lnTo>
                  <a:lnTo>
                    <a:pt x="1426464" y="1426464"/>
                  </a:lnTo>
                  <a:lnTo>
                    <a:pt x="0" y="1426464"/>
                  </a:lnTo>
                  <a:close/>
                </a:path>
              </a:pathLst>
            </a:custGeom>
            <a:blipFill rotWithShape="0">
              <a:blip r:embed="rId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4" name="TextBox 6"/>
            <p:cNvSpPr/>
            <p:nvPr/>
          </p:nvSpPr>
          <p:spPr>
            <a:xfrm>
              <a:off x="754560" y="576000"/>
              <a:ext cx="1069560" cy="1069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ts val="3960"/>
                </a:lnSpc>
              </a:pPr>
              <a:r>
                <a:rPr b="1" lang="en-US" sz="3300" spc="-1" strike="noStrike">
                  <a:solidFill>
                    <a:srgbClr val="ffffff"/>
                  </a:solidFill>
                  <a:latin typeface="Georgia Bold"/>
                  <a:ea typeface="Georgia Bold"/>
                </a:rPr>
                <a:t>08</a:t>
              </a:r>
              <a:endParaRPr b="0" lang="es-ES" sz="33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5" name="Group 7"/>
          <p:cNvGrpSpPr/>
          <p:nvPr/>
        </p:nvGrpSpPr>
        <p:grpSpPr>
          <a:xfrm>
            <a:off x="2203920" y="438840"/>
            <a:ext cx="14127120" cy="1343880"/>
            <a:chOff x="2203920" y="438840"/>
            <a:chExt cx="14127120" cy="1343880"/>
          </a:xfrm>
        </p:grpSpPr>
        <p:sp>
          <p:nvSpPr>
            <p:cNvPr id="356" name="Freeform 8"/>
            <p:cNvSpPr/>
            <p:nvPr/>
          </p:nvSpPr>
          <p:spPr>
            <a:xfrm>
              <a:off x="2203920" y="438840"/>
              <a:ext cx="14127120" cy="1343880"/>
            </a:xfrm>
            <a:custGeom>
              <a:avLst/>
              <a:gdLst>
                <a:gd name="textAreaLeft" fmla="*/ 0 w 14127120"/>
                <a:gd name="textAreaRight" fmla="*/ 14127480 w 14127120"/>
                <a:gd name="textAreaTop" fmla="*/ 0 h 1343880"/>
                <a:gd name="textAreaBottom" fmla="*/ 1344240 h 1343880"/>
              </a:gdLst>
              <a:ahLst/>
              <a:rect l="textAreaLeft" t="textAreaTop" r="textAreaRight" b="textAreaBottom"/>
              <a:pathLst>
                <a:path w="18836639" h="1792224">
                  <a:moveTo>
                    <a:pt x="0" y="0"/>
                  </a:moveTo>
                  <a:lnTo>
                    <a:pt x="18836639" y="0"/>
                  </a:lnTo>
                  <a:lnTo>
                    <a:pt x="18836639" y="1792224"/>
                  </a:lnTo>
                  <a:lnTo>
                    <a:pt x="0" y="1792224"/>
                  </a:lnTo>
                  <a:close/>
                </a:path>
              </a:pathLst>
            </a:custGeom>
            <a:blipFill rotWithShape="0">
              <a:blip r:embed="rId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7" name="TextBox 9"/>
            <p:cNvSpPr/>
            <p:nvPr/>
          </p:nvSpPr>
          <p:spPr>
            <a:xfrm>
              <a:off x="2203920" y="438840"/>
              <a:ext cx="14127120" cy="1343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6120"/>
                </a:lnSpc>
              </a:pPr>
              <a:r>
                <a:rPr b="1" lang="en-US" sz="5100" spc="-1" strike="noStrike">
                  <a:solidFill>
                    <a:srgbClr val="13294b"/>
                  </a:solidFill>
                  <a:latin typeface="Playfair Display Bold"/>
                  <a:ea typeface="Playfair Display Bold"/>
                </a:rPr>
                <a:t>Model Evaluation</a:t>
              </a:r>
              <a:endParaRPr b="0" lang="es-ES" sz="51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8" name="Group 10"/>
          <p:cNvGrpSpPr/>
          <p:nvPr/>
        </p:nvGrpSpPr>
        <p:grpSpPr>
          <a:xfrm>
            <a:off x="744840" y="1938240"/>
            <a:ext cx="16797600" cy="39240"/>
            <a:chOff x="744840" y="1938240"/>
            <a:chExt cx="16797600" cy="39240"/>
          </a:xfrm>
        </p:grpSpPr>
        <p:sp>
          <p:nvSpPr>
            <p:cNvPr id="359" name="Freeform 11"/>
            <p:cNvSpPr/>
            <p:nvPr/>
          </p:nvSpPr>
          <p:spPr>
            <a:xfrm>
              <a:off x="744840" y="1938240"/>
              <a:ext cx="16797600" cy="39240"/>
            </a:xfrm>
            <a:custGeom>
              <a:avLst/>
              <a:gdLst>
                <a:gd name="textAreaLeft" fmla="*/ 0 w 16797600"/>
                <a:gd name="textAreaRight" fmla="*/ 16797960 w 16797600"/>
                <a:gd name="textAreaTop" fmla="*/ 0 h 39240"/>
                <a:gd name="textAreaBottom" fmla="*/ 39600 h 39240"/>
              </a:gdLst>
              <a:ahLst/>
              <a:rect l="textAreaLeft" t="textAreaTop" r="textAreaRight" b="textAreaBottom"/>
              <a:pathLst>
                <a:path w="22397086" h="52832">
                  <a:moveTo>
                    <a:pt x="0" y="0"/>
                  </a:moveTo>
                  <a:lnTo>
                    <a:pt x="22397086" y="0"/>
                  </a:lnTo>
                  <a:lnTo>
                    <a:pt x="22397086" y="52832"/>
                  </a:lnTo>
                  <a:lnTo>
                    <a:pt x="0" y="52832"/>
                  </a:lnTo>
                  <a:close/>
                </a:path>
              </a:pathLst>
            </a:custGeom>
            <a:solidFill>
              <a:srgbClr val="d8dee8"/>
            </a:solidFill>
            <a:ln cap="sq" w="19050">
              <a:solidFill>
                <a:srgbClr val="d8dee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400" bIns="-54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0" name="Group 12"/>
          <p:cNvGrpSpPr/>
          <p:nvPr/>
        </p:nvGrpSpPr>
        <p:grpSpPr>
          <a:xfrm>
            <a:off x="744840" y="2263680"/>
            <a:ext cx="16783560" cy="2390040"/>
            <a:chOff x="744840" y="2263680"/>
            <a:chExt cx="16783560" cy="2390040"/>
          </a:xfrm>
        </p:grpSpPr>
        <p:sp>
          <p:nvSpPr>
            <p:cNvPr id="361" name="Freeform 13"/>
            <p:cNvSpPr/>
            <p:nvPr/>
          </p:nvSpPr>
          <p:spPr>
            <a:xfrm>
              <a:off x="744840" y="2263680"/>
              <a:ext cx="16783560" cy="2390040"/>
            </a:xfrm>
            <a:custGeom>
              <a:avLst/>
              <a:gdLst>
                <a:gd name="textAreaLeft" fmla="*/ 0 w 16783560"/>
                <a:gd name="textAreaRight" fmla="*/ 16783920 w 16783560"/>
                <a:gd name="textAreaTop" fmla="*/ 0 h 2390040"/>
                <a:gd name="textAreaBottom" fmla="*/ 2390400 h 2390040"/>
              </a:gdLst>
              <a:ahLst/>
              <a:rect l="textAreaLeft" t="textAreaTop" r="textAreaRight" b="textAreaBottom"/>
              <a:pathLst>
                <a:path w="7256780" h="1033452">
                  <a:moveTo>
                    <a:pt x="0" y="0"/>
                  </a:moveTo>
                  <a:lnTo>
                    <a:pt x="7256780" y="0"/>
                  </a:lnTo>
                  <a:lnTo>
                    <a:pt x="7256780" y="1033452"/>
                  </a:lnTo>
                  <a:lnTo>
                    <a:pt x="0" y="1033452"/>
                  </a:lnTo>
                  <a:close/>
                </a:path>
              </a:pathLst>
            </a:custGeom>
            <a:solidFill>
              <a:srgbClr val="f7f9fc"/>
            </a:solidFill>
            <a:ln cap="sq" w="14288">
              <a:solidFill>
                <a:srgbClr val="dde3e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2" name="Group 14"/>
          <p:cNvGrpSpPr/>
          <p:nvPr/>
        </p:nvGrpSpPr>
        <p:grpSpPr>
          <a:xfrm>
            <a:off x="1028880" y="2340720"/>
            <a:ext cx="4673520" cy="511560"/>
            <a:chOff x="1028880" y="2340720"/>
            <a:chExt cx="4673520" cy="511560"/>
          </a:xfrm>
        </p:grpSpPr>
        <p:sp>
          <p:nvSpPr>
            <p:cNvPr id="363" name="Freeform 15"/>
            <p:cNvSpPr/>
            <p:nvPr/>
          </p:nvSpPr>
          <p:spPr>
            <a:xfrm>
              <a:off x="1028880" y="2340720"/>
              <a:ext cx="4673520" cy="511560"/>
            </a:xfrm>
            <a:custGeom>
              <a:avLst/>
              <a:gdLst>
                <a:gd name="textAreaLeft" fmla="*/ 0 w 4673520"/>
                <a:gd name="textAreaRight" fmla="*/ 4673880 w 4673520"/>
                <a:gd name="textAreaTop" fmla="*/ 0 h 511560"/>
                <a:gd name="textAreaBottom" fmla="*/ 511920 h 511560"/>
              </a:gdLst>
              <a:ahLst/>
              <a:rect l="textAreaLeft" t="textAreaTop" r="textAreaRight" b="textAreaBottom"/>
              <a:pathLst>
                <a:path w="6231940" h="682368">
                  <a:moveTo>
                    <a:pt x="0" y="0"/>
                  </a:moveTo>
                  <a:lnTo>
                    <a:pt x="6231940" y="0"/>
                  </a:lnTo>
                  <a:lnTo>
                    <a:pt x="6231940" y="682368"/>
                  </a:lnTo>
                  <a:lnTo>
                    <a:pt x="0" y="682368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4" name="TextBox 16"/>
            <p:cNvSpPr/>
            <p:nvPr/>
          </p:nvSpPr>
          <p:spPr>
            <a:xfrm>
              <a:off x="1028880" y="2340720"/>
              <a:ext cx="4673520" cy="511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2999"/>
                </a:lnSpc>
              </a:pPr>
              <a:r>
                <a:rPr b="1" lang="en-US" sz="2500" spc="-1" strike="noStrike">
                  <a:solidFill>
                    <a:srgbClr val="000000"/>
                  </a:solidFill>
                  <a:latin typeface="Open Sans 1 Bold"/>
                  <a:ea typeface="Open Sans 1 Bold"/>
                </a:rPr>
                <a:t>Main Formula:</a:t>
              </a:r>
              <a:endParaRPr b="0" lang="es-ES" sz="25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5" name="Group 17"/>
          <p:cNvGrpSpPr/>
          <p:nvPr/>
        </p:nvGrpSpPr>
        <p:grpSpPr>
          <a:xfrm>
            <a:off x="13295160" y="7447680"/>
            <a:ext cx="4000680" cy="91080"/>
            <a:chOff x="13295160" y="7447680"/>
            <a:chExt cx="4000680" cy="91080"/>
          </a:xfrm>
        </p:grpSpPr>
        <p:sp>
          <p:nvSpPr>
            <p:cNvPr id="366" name="Freeform 18"/>
            <p:cNvSpPr/>
            <p:nvPr/>
          </p:nvSpPr>
          <p:spPr>
            <a:xfrm>
              <a:off x="13295160" y="7447680"/>
              <a:ext cx="4000680" cy="91080"/>
            </a:xfrm>
            <a:custGeom>
              <a:avLst/>
              <a:gdLst>
                <a:gd name="textAreaLeft" fmla="*/ 0 w 4000680"/>
                <a:gd name="textAreaRight" fmla="*/ 4001040 w 4000680"/>
                <a:gd name="textAreaTop" fmla="*/ 0 h 91080"/>
                <a:gd name="textAreaBottom" fmla="*/ 91440 h 91080"/>
              </a:gdLst>
              <a:ahLst/>
              <a:rect l="textAreaLeft" t="textAreaTop" r="textAreaRight" b="textAreaBottom"/>
              <a:pathLst>
                <a:path w="1488440" h="33983">
                  <a:moveTo>
                    <a:pt x="0" y="0"/>
                  </a:moveTo>
                  <a:lnTo>
                    <a:pt x="1488440" y="0"/>
                  </a:lnTo>
                  <a:lnTo>
                    <a:pt x="1488440" y="33983"/>
                  </a:lnTo>
                  <a:lnTo>
                    <a:pt x="0" y="33983"/>
                  </a:lnTo>
                  <a:close/>
                </a:path>
              </a:pathLst>
            </a:custGeom>
            <a:solidFill>
              <a:srgbClr val="f7f9fc"/>
            </a:solidFill>
            <a:ln cap="sq" w="1905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367" name="Picture 19" descr=""/>
          <p:cNvPicPr/>
          <p:nvPr/>
        </p:nvPicPr>
        <p:blipFill>
          <a:blip r:embed="rId4"/>
          <a:stretch/>
        </p:blipFill>
        <p:spPr>
          <a:xfrm>
            <a:off x="4099680" y="2403000"/>
            <a:ext cx="9738000" cy="2188080"/>
          </a:xfrm>
          <a:prstGeom prst="rect">
            <a:avLst/>
          </a:prstGeom>
          <a:ln w="0">
            <a:noFill/>
          </a:ln>
        </p:spPr>
      </p:pic>
      <p:grpSp>
        <p:nvGrpSpPr>
          <p:cNvPr id="368" name="Group 20"/>
          <p:cNvGrpSpPr/>
          <p:nvPr/>
        </p:nvGrpSpPr>
        <p:grpSpPr>
          <a:xfrm>
            <a:off x="715680" y="2263680"/>
            <a:ext cx="164520" cy="2390040"/>
            <a:chOff x="715680" y="2263680"/>
            <a:chExt cx="164520" cy="2390040"/>
          </a:xfrm>
        </p:grpSpPr>
        <p:sp>
          <p:nvSpPr>
            <p:cNvPr id="369" name="Freeform 21"/>
            <p:cNvSpPr/>
            <p:nvPr/>
          </p:nvSpPr>
          <p:spPr>
            <a:xfrm>
              <a:off x="715680" y="2263680"/>
              <a:ext cx="164520" cy="2390040"/>
            </a:xfrm>
            <a:custGeom>
              <a:avLst/>
              <a:gdLst>
                <a:gd name="textAreaLeft" fmla="*/ 0 w 164520"/>
                <a:gd name="textAreaRight" fmla="*/ 164880 w 164520"/>
                <a:gd name="textAreaTop" fmla="*/ 0 h 2390040"/>
                <a:gd name="textAreaBottom" fmla="*/ 2390400 h 2390040"/>
              </a:gdLst>
              <a:ahLst/>
              <a:rect l="textAreaLeft" t="textAreaTop" r="textAreaRight" b="textAreaBottom"/>
              <a:pathLst>
                <a:path w="180848" h="2622296">
                  <a:moveTo>
                    <a:pt x="0" y="0"/>
                  </a:moveTo>
                  <a:lnTo>
                    <a:pt x="180848" y="0"/>
                  </a:lnTo>
                  <a:lnTo>
                    <a:pt x="180848" y="2622296"/>
                  </a:lnTo>
                  <a:lnTo>
                    <a:pt x="0" y="2622296"/>
                  </a:lnTo>
                  <a:close/>
                </a:path>
              </a:pathLst>
            </a:custGeom>
            <a:solidFill>
              <a:srgbClr val="0e2240"/>
            </a:solidFill>
            <a:ln cap="sq" w="19050">
              <a:solidFill>
                <a:srgbClr val="2d6de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370" name="Freeform 22"/>
          <p:cNvSpPr/>
          <p:nvPr/>
        </p:nvSpPr>
        <p:spPr>
          <a:xfrm>
            <a:off x="1824120" y="5143680"/>
            <a:ext cx="2032560" cy="2032560"/>
          </a:xfrm>
          <a:custGeom>
            <a:avLst/>
            <a:gdLst>
              <a:gd name="textAreaLeft" fmla="*/ 0 w 2032560"/>
              <a:gd name="textAreaRight" fmla="*/ 2032920 w 2032560"/>
              <a:gd name="textAreaTop" fmla="*/ 0 h 2032560"/>
              <a:gd name="textAreaBottom" fmla="*/ 2032920 h 2032560"/>
            </a:gdLst>
            <a:ahLst/>
            <a:rect l="textAreaLeft" t="textAreaTop" r="textAreaRight" b="textAreaBottom"/>
            <a:pathLst>
              <a:path w="2032787" h="2032787">
                <a:moveTo>
                  <a:pt x="0" y="0"/>
                </a:moveTo>
                <a:lnTo>
                  <a:pt x="2032787" y="0"/>
                </a:lnTo>
                <a:lnTo>
                  <a:pt x="2032787" y="2032787"/>
                </a:lnTo>
                <a:lnTo>
                  <a:pt x="0" y="203278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TextBox 23"/>
          <p:cNvSpPr/>
          <p:nvPr/>
        </p:nvSpPr>
        <p:spPr>
          <a:xfrm>
            <a:off x="13304520" y="7937280"/>
            <a:ext cx="385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216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Open Sans 1 Bold"/>
                <a:ea typeface="Open Sans 1 Bold"/>
              </a:rPr>
              <a:t>accuracy never drops below 91%.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TextBox 24"/>
          <p:cNvSpPr/>
          <p:nvPr/>
        </p:nvSpPr>
        <p:spPr>
          <a:xfrm>
            <a:off x="14130000" y="9613440"/>
            <a:ext cx="6797520" cy="39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3078"/>
              </a:lnSpc>
            </a:pPr>
            <a:r>
              <a:rPr b="1" lang="en-US" sz="2200" spc="-1" strike="noStrike">
                <a:solidFill>
                  <a:srgbClr val="4d4b66"/>
                </a:solidFill>
                <a:latin typeface="Montserrat Bold"/>
                <a:ea typeface="Montserrat Bold"/>
              </a:rPr>
              <a:t>10/15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3" name="Picture 25" descr=""/>
          <p:cNvPicPr/>
          <p:nvPr/>
        </p:nvPicPr>
        <p:blipFill>
          <a:blip r:embed="rId6"/>
          <a:stretch/>
        </p:blipFill>
        <p:spPr>
          <a:xfrm>
            <a:off x="1786320" y="5716440"/>
            <a:ext cx="2108160" cy="741600"/>
          </a:xfrm>
          <a:prstGeom prst="rect">
            <a:avLst/>
          </a:prstGeom>
          <a:ln w="0">
            <a:noFill/>
          </a:ln>
        </p:spPr>
      </p:pic>
      <p:sp>
        <p:nvSpPr>
          <p:cNvPr id="374" name="Freeform 26"/>
          <p:cNvSpPr/>
          <p:nvPr/>
        </p:nvSpPr>
        <p:spPr>
          <a:xfrm>
            <a:off x="7952400" y="5143680"/>
            <a:ext cx="2032560" cy="2032560"/>
          </a:xfrm>
          <a:custGeom>
            <a:avLst/>
            <a:gdLst>
              <a:gd name="textAreaLeft" fmla="*/ 0 w 2032560"/>
              <a:gd name="textAreaRight" fmla="*/ 2032920 w 2032560"/>
              <a:gd name="textAreaTop" fmla="*/ 0 h 2032560"/>
              <a:gd name="textAreaBottom" fmla="*/ 2032920 h 2032560"/>
            </a:gdLst>
            <a:ahLst/>
            <a:rect l="textAreaLeft" t="textAreaTop" r="textAreaRight" b="textAreaBottom"/>
            <a:pathLst>
              <a:path w="2032787" h="2032787">
                <a:moveTo>
                  <a:pt x="0" y="0"/>
                </a:moveTo>
                <a:lnTo>
                  <a:pt x="2032788" y="0"/>
                </a:lnTo>
                <a:lnTo>
                  <a:pt x="2032788" y="2032787"/>
                </a:lnTo>
                <a:lnTo>
                  <a:pt x="0" y="203278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Freeform 27"/>
          <p:cNvSpPr/>
          <p:nvPr/>
        </p:nvSpPr>
        <p:spPr>
          <a:xfrm>
            <a:off x="14081040" y="5143680"/>
            <a:ext cx="2032560" cy="2032560"/>
          </a:xfrm>
          <a:custGeom>
            <a:avLst/>
            <a:gdLst>
              <a:gd name="textAreaLeft" fmla="*/ 0 w 2032560"/>
              <a:gd name="textAreaRight" fmla="*/ 2032920 w 2032560"/>
              <a:gd name="textAreaTop" fmla="*/ 0 h 2032560"/>
              <a:gd name="textAreaBottom" fmla="*/ 2032920 h 2032560"/>
            </a:gdLst>
            <a:ahLst/>
            <a:rect l="textAreaLeft" t="textAreaTop" r="textAreaRight" b="textAreaBottom"/>
            <a:pathLst>
              <a:path w="2032787" h="2032787">
                <a:moveTo>
                  <a:pt x="0" y="0"/>
                </a:moveTo>
                <a:lnTo>
                  <a:pt x="2032787" y="0"/>
                </a:lnTo>
                <a:lnTo>
                  <a:pt x="2032787" y="2032787"/>
                </a:lnTo>
                <a:lnTo>
                  <a:pt x="0" y="203278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8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6" name="Picture 28" descr=""/>
          <p:cNvPicPr/>
          <p:nvPr/>
        </p:nvPicPr>
        <p:blipFill>
          <a:blip r:embed="rId9"/>
          <a:stretch/>
        </p:blipFill>
        <p:spPr>
          <a:xfrm>
            <a:off x="7914600" y="5716440"/>
            <a:ext cx="2108160" cy="741600"/>
          </a:xfrm>
          <a:prstGeom prst="rect">
            <a:avLst/>
          </a:prstGeom>
          <a:ln w="0">
            <a:noFill/>
          </a:ln>
        </p:spPr>
      </p:pic>
      <p:pic>
        <p:nvPicPr>
          <p:cNvPr id="377" name="Picture 29" descr=""/>
          <p:cNvPicPr/>
          <p:nvPr/>
        </p:nvPicPr>
        <p:blipFill>
          <a:blip r:embed="rId10"/>
          <a:stretch/>
        </p:blipFill>
        <p:spPr>
          <a:xfrm>
            <a:off x="14043240" y="5788800"/>
            <a:ext cx="2108160" cy="741600"/>
          </a:xfrm>
          <a:prstGeom prst="rect">
            <a:avLst/>
          </a:prstGeom>
          <a:ln w="0">
            <a:noFill/>
          </a:ln>
        </p:spPr>
      </p:pic>
      <p:sp>
        <p:nvSpPr>
          <p:cNvPr id="378" name="TextBox 30"/>
          <p:cNvSpPr/>
          <p:nvPr/>
        </p:nvSpPr>
        <p:spPr>
          <a:xfrm>
            <a:off x="1028880" y="8007120"/>
            <a:ext cx="4236120" cy="183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2886"/>
              </a:lnSpc>
            </a:pPr>
            <a:r>
              <a:rPr b="0" lang="en-US" sz="2060" spc="-1" strike="noStrike">
                <a:solidFill>
                  <a:srgbClr val="000000"/>
                </a:solidFill>
                <a:latin typeface="Open Sans 2"/>
                <a:ea typeface="Open Sans 2"/>
              </a:rPr>
              <a:t>Post-processing classification:</a:t>
            </a:r>
            <a:endParaRPr b="0" lang="es-ES" sz="2060" spc="-1" strike="noStrike">
              <a:solidFill>
                <a:srgbClr val="000000"/>
              </a:solidFill>
              <a:latin typeface="Arial"/>
            </a:endParaRPr>
          </a:p>
          <a:p>
            <a:pPr lvl="2" marL="889920" indent="-296640">
              <a:lnSpc>
                <a:spcPts val="2886"/>
              </a:lnSpc>
              <a:buClr>
                <a:srgbClr val="000000"/>
              </a:buClr>
              <a:buFont typeface="Arial"/>
              <a:buChar char="⚬"/>
            </a:pPr>
            <a:r>
              <a:rPr b="0" lang="en-US" sz="2060" spc="-1" strike="noStrike">
                <a:solidFill>
                  <a:srgbClr val="000000"/>
                </a:solidFill>
                <a:latin typeface="Open Sans 2"/>
                <a:ea typeface="Open Sans 2"/>
              </a:rPr>
              <a:t>Original</a:t>
            </a:r>
            <a:endParaRPr b="0" lang="es-ES" sz="2060" spc="-1" strike="noStrike">
              <a:solidFill>
                <a:srgbClr val="000000"/>
              </a:solidFill>
              <a:latin typeface="Arial"/>
            </a:endParaRPr>
          </a:p>
          <a:p>
            <a:pPr lvl="2" marL="889920" indent="-296640">
              <a:lnSpc>
                <a:spcPts val="2886"/>
              </a:lnSpc>
              <a:buClr>
                <a:srgbClr val="000000"/>
              </a:buClr>
              <a:buFont typeface="Arial"/>
              <a:buChar char="⚬"/>
            </a:pPr>
            <a:r>
              <a:rPr b="0" lang="en-US" sz="2060" spc="-1" strike="noStrike">
                <a:solidFill>
                  <a:srgbClr val="000000"/>
                </a:solidFill>
                <a:latin typeface="Open Sans 2"/>
                <a:ea typeface="Open Sans 2"/>
              </a:rPr>
              <a:t>Transmitted</a:t>
            </a:r>
            <a:endParaRPr b="0" lang="es-ES" sz="2060" spc="-1" strike="noStrike">
              <a:solidFill>
                <a:srgbClr val="000000"/>
              </a:solidFill>
              <a:latin typeface="Arial"/>
            </a:endParaRPr>
          </a:p>
          <a:p>
            <a:pPr lvl="2" marL="889920" indent="-296640">
              <a:lnSpc>
                <a:spcPts val="2886"/>
              </a:lnSpc>
              <a:buClr>
                <a:srgbClr val="000000"/>
              </a:buClr>
              <a:buFont typeface="Arial"/>
              <a:buChar char="⚬"/>
            </a:pPr>
            <a:r>
              <a:rPr b="0" lang="en-US" sz="2060" spc="-1" strike="noStrike">
                <a:solidFill>
                  <a:srgbClr val="000000"/>
                </a:solidFill>
                <a:latin typeface="Open Sans 2"/>
                <a:ea typeface="Open Sans 2"/>
              </a:rPr>
              <a:t>Redigitalized</a:t>
            </a:r>
            <a:endParaRPr b="0" lang="es-ES" sz="206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2886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TextBox 31"/>
          <p:cNvSpPr/>
          <p:nvPr/>
        </p:nvSpPr>
        <p:spPr>
          <a:xfrm>
            <a:off x="880560" y="7319160"/>
            <a:ext cx="6923520" cy="99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3569"/>
              </a:lnSpc>
            </a:pPr>
            <a:r>
              <a:rPr b="1" lang="en-US" sz="2980" spc="-1" strike="noStrike">
                <a:solidFill>
                  <a:srgbClr val="14254a"/>
                </a:solidFill>
                <a:latin typeface="Georgia Bold"/>
                <a:ea typeface="Georgia Bold"/>
              </a:rPr>
              <a:t>Transformation Baseline</a:t>
            </a:r>
            <a:endParaRPr b="0" lang="es-ES" sz="298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4289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TextBox 32"/>
          <p:cNvSpPr/>
          <p:nvPr/>
        </p:nvSpPr>
        <p:spPr>
          <a:xfrm>
            <a:off x="6697440" y="7306920"/>
            <a:ext cx="6923520" cy="14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3569"/>
              </a:lnSpc>
            </a:pPr>
            <a:r>
              <a:rPr b="1" lang="en-US" sz="2980" spc="-1" strike="noStrike">
                <a:solidFill>
                  <a:srgbClr val="14254a"/>
                </a:solidFill>
                <a:latin typeface="Georgia Bold"/>
                <a:ea typeface="Georgia Bold"/>
              </a:rPr>
              <a:t>Joint Multi-Task Learning</a:t>
            </a:r>
            <a:endParaRPr b="0" lang="es-ES" sz="298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3569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4289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TextBox 33"/>
          <p:cNvSpPr/>
          <p:nvPr/>
        </p:nvSpPr>
        <p:spPr>
          <a:xfrm>
            <a:off x="6850800" y="8007120"/>
            <a:ext cx="4236120" cy="14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2886"/>
              </a:lnSpc>
            </a:pPr>
            <a:r>
              <a:rPr b="0" lang="en-US" sz="2060" spc="-1" strike="noStrike">
                <a:solidFill>
                  <a:srgbClr val="000000"/>
                </a:solidFill>
                <a:latin typeface="Open Sans 2"/>
                <a:ea typeface="Open Sans 2"/>
              </a:rPr>
              <a:t>Balanced loss weighting (50 /50 split) during backpropagation.</a:t>
            </a:r>
            <a:endParaRPr b="0" lang="es-ES" sz="206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ts val="2886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2886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TextBox 34"/>
          <p:cNvSpPr/>
          <p:nvPr/>
        </p:nvSpPr>
        <p:spPr>
          <a:xfrm>
            <a:off x="13026600" y="7319160"/>
            <a:ext cx="6923520" cy="19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3569"/>
              </a:lnSpc>
            </a:pPr>
            <a:r>
              <a:rPr b="1" lang="en-US" sz="2980" spc="-1" strike="noStrike">
                <a:solidFill>
                  <a:srgbClr val="14254a"/>
                </a:solidFill>
                <a:latin typeface="Georgia Bold"/>
                <a:ea typeface="Georgia Bold"/>
              </a:rPr>
              <a:t>Authenticity Baseline</a:t>
            </a:r>
            <a:endParaRPr b="0" lang="es-ES" sz="298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3569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3569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4289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TextBox 35"/>
          <p:cNvSpPr/>
          <p:nvPr/>
        </p:nvSpPr>
        <p:spPr>
          <a:xfrm>
            <a:off x="13059360" y="8032680"/>
            <a:ext cx="4236120" cy="14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2886"/>
              </a:lnSpc>
            </a:pPr>
            <a:r>
              <a:rPr b="0" lang="en-US" sz="2060" spc="-1" strike="noStrike">
                <a:solidFill>
                  <a:srgbClr val="000000"/>
                </a:solidFill>
                <a:latin typeface="Open Sans 2"/>
                <a:ea typeface="Open Sans 2"/>
              </a:rPr>
              <a:t>Real vs. Fake_AI classification.</a:t>
            </a:r>
            <a:endParaRPr b="0" lang="es-ES" sz="206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ts val="2886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ts val="2886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2886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4" name="Group 2"/>
          <p:cNvGrpSpPr/>
          <p:nvPr/>
        </p:nvGrpSpPr>
        <p:grpSpPr>
          <a:xfrm>
            <a:off x="711360" y="576000"/>
            <a:ext cx="1088640" cy="1088640"/>
            <a:chOff x="711360" y="576000"/>
            <a:chExt cx="1088640" cy="1088640"/>
          </a:xfrm>
        </p:grpSpPr>
        <p:sp>
          <p:nvSpPr>
            <p:cNvPr id="385" name="Freeform 3"/>
            <p:cNvSpPr/>
            <p:nvPr/>
          </p:nvSpPr>
          <p:spPr>
            <a:xfrm>
              <a:off x="711360" y="576000"/>
              <a:ext cx="1088640" cy="1088640"/>
            </a:xfrm>
            <a:custGeom>
              <a:avLst/>
              <a:gdLst>
                <a:gd name="textAreaLeft" fmla="*/ 0 w 1088640"/>
                <a:gd name="textAreaRight" fmla="*/ 1089000 w 1088640"/>
                <a:gd name="textAreaTop" fmla="*/ 0 h 1088640"/>
                <a:gd name="textAreaBottom" fmla="*/ 1089000 h 1088640"/>
              </a:gdLst>
              <a:ahLst/>
              <a:rect l="textAreaLeft" t="textAreaTop" r="textAreaRight" b="textAreaBottom"/>
              <a:pathLst>
                <a:path w="1451864" h="1451864">
                  <a:moveTo>
                    <a:pt x="0" y="725932"/>
                  </a:moveTo>
                  <a:cubicBezTo>
                    <a:pt x="0" y="324993"/>
                    <a:pt x="324993" y="0"/>
                    <a:pt x="725932" y="0"/>
                  </a:cubicBezTo>
                  <a:cubicBezTo>
                    <a:pt x="1126871" y="0"/>
                    <a:pt x="1451864" y="324993"/>
                    <a:pt x="1451864" y="725932"/>
                  </a:cubicBezTo>
                  <a:cubicBezTo>
                    <a:pt x="1451864" y="1126871"/>
                    <a:pt x="1126871" y="1451864"/>
                    <a:pt x="725932" y="1451864"/>
                  </a:cubicBezTo>
                  <a:cubicBezTo>
                    <a:pt x="324993" y="1451864"/>
                    <a:pt x="0" y="1126871"/>
                    <a:pt x="0" y="725932"/>
                  </a:cubicBezTo>
                  <a:close/>
                </a:path>
              </a:pathLst>
            </a:custGeom>
            <a:solidFill>
              <a:srgbClr val="13294b"/>
            </a:solidFill>
            <a:ln cap="sq" w="19050">
              <a:solidFill>
                <a:srgbClr val="13294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86" name="Group 4"/>
          <p:cNvGrpSpPr/>
          <p:nvPr/>
        </p:nvGrpSpPr>
        <p:grpSpPr>
          <a:xfrm>
            <a:off x="754560" y="576000"/>
            <a:ext cx="1069560" cy="1069560"/>
            <a:chOff x="754560" y="576000"/>
            <a:chExt cx="1069560" cy="1069560"/>
          </a:xfrm>
        </p:grpSpPr>
        <p:sp>
          <p:nvSpPr>
            <p:cNvPr id="387" name="Freeform 5"/>
            <p:cNvSpPr/>
            <p:nvPr/>
          </p:nvSpPr>
          <p:spPr>
            <a:xfrm>
              <a:off x="754560" y="576000"/>
              <a:ext cx="1069560" cy="1069560"/>
            </a:xfrm>
            <a:custGeom>
              <a:avLst/>
              <a:gdLst>
                <a:gd name="textAreaLeft" fmla="*/ 0 w 1069560"/>
                <a:gd name="textAreaRight" fmla="*/ 1069920 w 1069560"/>
                <a:gd name="textAreaTop" fmla="*/ 0 h 1069560"/>
                <a:gd name="textAreaBottom" fmla="*/ 1069920 h 1069560"/>
              </a:gdLst>
              <a:ahLst/>
              <a:rect l="textAreaLeft" t="textAreaTop" r="textAreaRight" b="textAreaBottom"/>
              <a:pathLst>
                <a:path w="1426464" h="1426464">
                  <a:moveTo>
                    <a:pt x="0" y="0"/>
                  </a:moveTo>
                  <a:lnTo>
                    <a:pt x="1426464" y="0"/>
                  </a:lnTo>
                  <a:lnTo>
                    <a:pt x="1426464" y="1426464"/>
                  </a:lnTo>
                  <a:lnTo>
                    <a:pt x="0" y="1426464"/>
                  </a:lnTo>
                  <a:close/>
                </a:path>
              </a:pathLst>
            </a:custGeom>
            <a:blipFill rotWithShape="0">
              <a:blip r:embed="rId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8" name="TextBox 6"/>
            <p:cNvSpPr/>
            <p:nvPr/>
          </p:nvSpPr>
          <p:spPr>
            <a:xfrm>
              <a:off x="754560" y="576000"/>
              <a:ext cx="1069560" cy="1069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ts val="3960"/>
                </a:lnSpc>
              </a:pPr>
              <a:r>
                <a:rPr b="1" lang="en-US" sz="3300" spc="-1" strike="noStrike">
                  <a:solidFill>
                    <a:srgbClr val="ffffff"/>
                  </a:solidFill>
                  <a:latin typeface="Georgia Bold"/>
                  <a:ea typeface="Georgia Bold"/>
                </a:rPr>
                <a:t>08</a:t>
              </a:r>
              <a:endParaRPr b="0" lang="es-ES" sz="33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89" name="Group 7"/>
          <p:cNvGrpSpPr/>
          <p:nvPr/>
        </p:nvGrpSpPr>
        <p:grpSpPr>
          <a:xfrm>
            <a:off x="1895040" y="451800"/>
            <a:ext cx="14127120" cy="1343880"/>
            <a:chOff x="1895040" y="451800"/>
            <a:chExt cx="14127120" cy="1343880"/>
          </a:xfrm>
        </p:grpSpPr>
        <p:sp>
          <p:nvSpPr>
            <p:cNvPr id="390" name="Freeform 8"/>
            <p:cNvSpPr/>
            <p:nvPr/>
          </p:nvSpPr>
          <p:spPr>
            <a:xfrm>
              <a:off x="1895040" y="451800"/>
              <a:ext cx="14127120" cy="1343880"/>
            </a:xfrm>
            <a:custGeom>
              <a:avLst/>
              <a:gdLst>
                <a:gd name="textAreaLeft" fmla="*/ 0 w 14127120"/>
                <a:gd name="textAreaRight" fmla="*/ 14127480 w 14127120"/>
                <a:gd name="textAreaTop" fmla="*/ 0 h 1343880"/>
                <a:gd name="textAreaBottom" fmla="*/ 1344240 h 1343880"/>
              </a:gdLst>
              <a:ahLst/>
              <a:rect l="textAreaLeft" t="textAreaTop" r="textAreaRight" b="textAreaBottom"/>
              <a:pathLst>
                <a:path w="18836639" h="1792224">
                  <a:moveTo>
                    <a:pt x="0" y="0"/>
                  </a:moveTo>
                  <a:lnTo>
                    <a:pt x="18836639" y="0"/>
                  </a:lnTo>
                  <a:lnTo>
                    <a:pt x="18836639" y="1792224"/>
                  </a:lnTo>
                  <a:lnTo>
                    <a:pt x="0" y="1792224"/>
                  </a:lnTo>
                  <a:close/>
                </a:path>
              </a:pathLst>
            </a:custGeom>
            <a:blipFill rotWithShape="0">
              <a:blip r:embed="rId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1" name="TextBox 9"/>
            <p:cNvSpPr/>
            <p:nvPr/>
          </p:nvSpPr>
          <p:spPr>
            <a:xfrm>
              <a:off x="1895040" y="451800"/>
              <a:ext cx="14127120" cy="1343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6120"/>
                </a:lnSpc>
              </a:pPr>
              <a:r>
                <a:rPr b="1" lang="en-US" sz="5100" spc="-1" strike="noStrike">
                  <a:solidFill>
                    <a:srgbClr val="13294b"/>
                  </a:solidFill>
                  <a:latin typeface="Playfair Display Bold"/>
                  <a:ea typeface="Playfair Display Bold"/>
                </a:rPr>
                <a:t>Model Evaluation (               )</a:t>
              </a:r>
              <a:endParaRPr b="0" lang="es-ES" sz="51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92" name="Group 10"/>
          <p:cNvGrpSpPr/>
          <p:nvPr/>
        </p:nvGrpSpPr>
        <p:grpSpPr>
          <a:xfrm>
            <a:off x="744840" y="1938240"/>
            <a:ext cx="16797600" cy="39240"/>
            <a:chOff x="744840" y="1938240"/>
            <a:chExt cx="16797600" cy="39240"/>
          </a:xfrm>
        </p:grpSpPr>
        <p:sp>
          <p:nvSpPr>
            <p:cNvPr id="393" name="Freeform 11"/>
            <p:cNvSpPr/>
            <p:nvPr/>
          </p:nvSpPr>
          <p:spPr>
            <a:xfrm>
              <a:off x="744840" y="1938240"/>
              <a:ext cx="16797600" cy="39240"/>
            </a:xfrm>
            <a:custGeom>
              <a:avLst/>
              <a:gdLst>
                <a:gd name="textAreaLeft" fmla="*/ 0 w 16797600"/>
                <a:gd name="textAreaRight" fmla="*/ 16797960 w 16797600"/>
                <a:gd name="textAreaTop" fmla="*/ 0 h 39240"/>
                <a:gd name="textAreaBottom" fmla="*/ 39600 h 39240"/>
              </a:gdLst>
              <a:ahLst/>
              <a:rect l="textAreaLeft" t="textAreaTop" r="textAreaRight" b="textAreaBottom"/>
              <a:pathLst>
                <a:path w="22397086" h="52832">
                  <a:moveTo>
                    <a:pt x="0" y="0"/>
                  </a:moveTo>
                  <a:lnTo>
                    <a:pt x="22397086" y="0"/>
                  </a:lnTo>
                  <a:lnTo>
                    <a:pt x="22397086" y="52832"/>
                  </a:lnTo>
                  <a:lnTo>
                    <a:pt x="0" y="52832"/>
                  </a:lnTo>
                  <a:close/>
                </a:path>
              </a:pathLst>
            </a:custGeom>
            <a:solidFill>
              <a:srgbClr val="d8dee8"/>
            </a:solidFill>
            <a:ln cap="sq" w="19050">
              <a:solidFill>
                <a:srgbClr val="d8dee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400" bIns="-54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94" name="Group 12"/>
          <p:cNvGrpSpPr/>
          <p:nvPr/>
        </p:nvGrpSpPr>
        <p:grpSpPr>
          <a:xfrm>
            <a:off x="747360" y="2351880"/>
            <a:ext cx="5442120" cy="1961640"/>
            <a:chOff x="747360" y="2351880"/>
            <a:chExt cx="5442120" cy="1961640"/>
          </a:xfrm>
        </p:grpSpPr>
        <p:sp>
          <p:nvSpPr>
            <p:cNvPr id="395" name="Freeform 13"/>
            <p:cNvSpPr/>
            <p:nvPr/>
          </p:nvSpPr>
          <p:spPr>
            <a:xfrm>
              <a:off x="747360" y="2351880"/>
              <a:ext cx="5442120" cy="1961640"/>
            </a:xfrm>
            <a:custGeom>
              <a:avLst/>
              <a:gdLst>
                <a:gd name="textAreaLeft" fmla="*/ 0 w 5442120"/>
                <a:gd name="textAreaRight" fmla="*/ 5442480 w 5442120"/>
                <a:gd name="textAreaTop" fmla="*/ 0 h 1961640"/>
                <a:gd name="textAreaBottom" fmla="*/ 1962000 h 1961640"/>
              </a:gdLst>
              <a:ahLst/>
              <a:rect l="textAreaLeft" t="textAreaTop" r="textAreaRight" b="textAreaBottom"/>
              <a:pathLst>
                <a:path w="7256780" h="2615946">
                  <a:moveTo>
                    <a:pt x="0" y="0"/>
                  </a:moveTo>
                  <a:lnTo>
                    <a:pt x="7256780" y="0"/>
                  </a:lnTo>
                  <a:lnTo>
                    <a:pt x="7256780" y="2615946"/>
                  </a:lnTo>
                  <a:lnTo>
                    <a:pt x="0" y="2615946"/>
                  </a:lnTo>
                  <a:close/>
                </a:path>
              </a:pathLst>
            </a:custGeom>
            <a:solidFill>
              <a:srgbClr val="f7f9fc"/>
            </a:solidFill>
            <a:ln cap="sq" w="14288">
              <a:solidFill>
                <a:srgbClr val="dde3e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96" name="Group 14"/>
          <p:cNvGrpSpPr/>
          <p:nvPr/>
        </p:nvGrpSpPr>
        <p:grpSpPr>
          <a:xfrm>
            <a:off x="744840" y="2349720"/>
            <a:ext cx="135360" cy="1966320"/>
            <a:chOff x="744840" y="2349720"/>
            <a:chExt cx="135360" cy="1966320"/>
          </a:xfrm>
        </p:grpSpPr>
        <p:sp>
          <p:nvSpPr>
            <p:cNvPr id="397" name="Freeform 15"/>
            <p:cNvSpPr/>
            <p:nvPr/>
          </p:nvSpPr>
          <p:spPr>
            <a:xfrm>
              <a:off x="744840" y="2349720"/>
              <a:ext cx="135360" cy="1966320"/>
            </a:xfrm>
            <a:custGeom>
              <a:avLst/>
              <a:gdLst>
                <a:gd name="textAreaLeft" fmla="*/ 0 w 135360"/>
                <a:gd name="textAreaRight" fmla="*/ 135720 w 135360"/>
                <a:gd name="textAreaTop" fmla="*/ 0 h 1966320"/>
                <a:gd name="textAreaBottom" fmla="*/ 1966680 h 1966320"/>
              </a:gdLst>
              <a:ahLst/>
              <a:rect l="textAreaLeft" t="textAreaTop" r="textAreaRight" b="textAreaBottom"/>
              <a:pathLst>
                <a:path w="180848" h="2622296">
                  <a:moveTo>
                    <a:pt x="0" y="0"/>
                  </a:moveTo>
                  <a:lnTo>
                    <a:pt x="180848" y="0"/>
                  </a:lnTo>
                  <a:lnTo>
                    <a:pt x="180848" y="2622296"/>
                  </a:lnTo>
                  <a:lnTo>
                    <a:pt x="0" y="2622296"/>
                  </a:lnTo>
                  <a:close/>
                </a:path>
              </a:pathLst>
            </a:custGeom>
            <a:solidFill>
              <a:srgbClr val="0e2240"/>
            </a:solidFill>
            <a:ln cap="sq" w="19050">
              <a:solidFill>
                <a:srgbClr val="2d6de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98" name="Group 16"/>
          <p:cNvGrpSpPr/>
          <p:nvPr/>
        </p:nvGrpSpPr>
        <p:grpSpPr>
          <a:xfrm>
            <a:off x="1131480" y="2980080"/>
            <a:ext cx="4673520" cy="1281600"/>
            <a:chOff x="1131480" y="2980080"/>
            <a:chExt cx="4673520" cy="1281600"/>
          </a:xfrm>
        </p:grpSpPr>
        <p:sp>
          <p:nvSpPr>
            <p:cNvPr id="399" name="Freeform 17"/>
            <p:cNvSpPr/>
            <p:nvPr/>
          </p:nvSpPr>
          <p:spPr>
            <a:xfrm>
              <a:off x="1131480" y="2980080"/>
              <a:ext cx="4673520" cy="1281600"/>
            </a:xfrm>
            <a:custGeom>
              <a:avLst/>
              <a:gdLst>
                <a:gd name="textAreaLeft" fmla="*/ 0 w 4673520"/>
                <a:gd name="textAreaRight" fmla="*/ 4673880 w 4673520"/>
                <a:gd name="textAreaTop" fmla="*/ 0 h 1281600"/>
                <a:gd name="textAreaBottom" fmla="*/ 1281960 h 1281600"/>
              </a:gdLst>
              <a:ahLst/>
              <a:rect l="textAreaLeft" t="textAreaTop" r="textAreaRight" b="textAreaBottom"/>
              <a:pathLst>
                <a:path w="6231940" h="1709420">
                  <a:moveTo>
                    <a:pt x="0" y="0"/>
                  </a:moveTo>
                  <a:lnTo>
                    <a:pt x="6231940" y="0"/>
                  </a:lnTo>
                  <a:lnTo>
                    <a:pt x="6231940" y="1709420"/>
                  </a:lnTo>
                  <a:lnTo>
                    <a:pt x="0" y="1709420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00" name="TextBox 18"/>
            <p:cNvSpPr/>
            <p:nvPr/>
          </p:nvSpPr>
          <p:spPr>
            <a:xfrm>
              <a:off x="1131480" y="2980080"/>
              <a:ext cx="4673520" cy="1281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ts val="6001"/>
                </a:lnSpc>
              </a:pPr>
              <a:r>
                <a:rPr b="1" lang="en-US" sz="5000" spc="-1" strike="noStrike">
                  <a:solidFill>
                    <a:srgbClr val="13294b"/>
                  </a:solidFill>
                  <a:latin typeface="Montserrat Bold"/>
                  <a:ea typeface="Montserrat Bold"/>
                </a:rPr>
                <a:t>93.7%</a:t>
              </a:r>
              <a:endParaRPr b="0" lang="es-ES" sz="50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01" name="Group 19"/>
          <p:cNvGrpSpPr/>
          <p:nvPr/>
        </p:nvGrpSpPr>
        <p:grpSpPr>
          <a:xfrm>
            <a:off x="1131480" y="2530080"/>
            <a:ext cx="4673520" cy="511560"/>
            <a:chOff x="1131480" y="2530080"/>
            <a:chExt cx="4673520" cy="511560"/>
          </a:xfrm>
        </p:grpSpPr>
        <p:sp>
          <p:nvSpPr>
            <p:cNvPr id="402" name="Freeform 20"/>
            <p:cNvSpPr/>
            <p:nvPr/>
          </p:nvSpPr>
          <p:spPr>
            <a:xfrm>
              <a:off x="1131480" y="2530080"/>
              <a:ext cx="4673520" cy="511560"/>
            </a:xfrm>
            <a:custGeom>
              <a:avLst/>
              <a:gdLst>
                <a:gd name="textAreaLeft" fmla="*/ 0 w 4673520"/>
                <a:gd name="textAreaRight" fmla="*/ 4673880 w 4673520"/>
                <a:gd name="textAreaTop" fmla="*/ 0 h 511560"/>
                <a:gd name="textAreaBottom" fmla="*/ 511920 h 511560"/>
              </a:gdLst>
              <a:ahLst/>
              <a:rect l="textAreaLeft" t="textAreaTop" r="textAreaRight" b="textAreaBottom"/>
              <a:pathLst>
                <a:path w="6231940" h="682368">
                  <a:moveTo>
                    <a:pt x="0" y="0"/>
                  </a:moveTo>
                  <a:lnTo>
                    <a:pt x="6231940" y="0"/>
                  </a:lnTo>
                  <a:lnTo>
                    <a:pt x="6231940" y="682368"/>
                  </a:lnTo>
                  <a:lnTo>
                    <a:pt x="0" y="682368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03" name="TextBox 21"/>
            <p:cNvSpPr/>
            <p:nvPr/>
          </p:nvSpPr>
          <p:spPr>
            <a:xfrm>
              <a:off x="1131480" y="2530080"/>
              <a:ext cx="4673520" cy="511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2999"/>
                </a:lnSpc>
              </a:pPr>
              <a:r>
                <a:rPr b="1" lang="en-US" sz="2500" spc="-1" strike="noStrike">
                  <a:solidFill>
                    <a:srgbClr val="000000"/>
                  </a:solidFill>
                  <a:latin typeface="Open Sans 1 Bold"/>
                  <a:ea typeface="Open Sans 1 Bold"/>
                </a:rPr>
                <a:t>Real/Fake accuracy:</a:t>
              </a:r>
              <a:endParaRPr b="0" lang="es-ES" sz="25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04" name="Group 22"/>
          <p:cNvGrpSpPr/>
          <p:nvPr/>
        </p:nvGrpSpPr>
        <p:grpSpPr>
          <a:xfrm>
            <a:off x="6422400" y="2351880"/>
            <a:ext cx="5442120" cy="1961640"/>
            <a:chOff x="6422400" y="2351880"/>
            <a:chExt cx="5442120" cy="1961640"/>
          </a:xfrm>
        </p:grpSpPr>
        <p:sp>
          <p:nvSpPr>
            <p:cNvPr id="405" name="Freeform 23"/>
            <p:cNvSpPr/>
            <p:nvPr/>
          </p:nvSpPr>
          <p:spPr>
            <a:xfrm>
              <a:off x="6422400" y="2351880"/>
              <a:ext cx="5442120" cy="1961640"/>
            </a:xfrm>
            <a:custGeom>
              <a:avLst/>
              <a:gdLst>
                <a:gd name="textAreaLeft" fmla="*/ 0 w 5442120"/>
                <a:gd name="textAreaRight" fmla="*/ 5442480 w 5442120"/>
                <a:gd name="textAreaTop" fmla="*/ 0 h 1961640"/>
                <a:gd name="textAreaBottom" fmla="*/ 1962000 h 1961640"/>
              </a:gdLst>
              <a:ahLst/>
              <a:rect l="textAreaLeft" t="textAreaTop" r="textAreaRight" b="textAreaBottom"/>
              <a:pathLst>
                <a:path w="7256780" h="2615946">
                  <a:moveTo>
                    <a:pt x="0" y="0"/>
                  </a:moveTo>
                  <a:lnTo>
                    <a:pt x="7256780" y="0"/>
                  </a:lnTo>
                  <a:lnTo>
                    <a:pt x="7256780" y="2615946"/>
                  </a:lnTo>
                  <a:lnTo>
                    <a:pt x="0" y="2615946"/>
                  </a:lnTo>
                  <a:close/>
                </a:path>
              </a:pathLst>
            </a:custGeom>
            <a:solidFill>
              <a:srgbClr val="f7f9fc"/>
            </a:solidFill>
            <a:ln cap="sq" w="14288">
              <a:solidFill>
                <a:srgbClr val="dde3e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06" name="Group 24"/>
          <p:cNvGrpSpPr/>
          <p:nvPr/>
        </p:nvGrpSpPr>
        <p:grpSpPr>
          <a:xfrm>
            <a:off x="6420240" y="2349720"/>
            <a:ext cx="135360" cy="1966320"/>
            <a:chOff x="6420240" y="2349720"/>
            <a:chExt cx="135360" cy="1966320"/>
          </a:xfrm>
        </p:grpSpPr>
        <p:sp>
          <p:nvSpPr>
            <p:cNvPr id="407" name="Freeform 25"/>
            <p:cNvSpPr/>
            <p:nvPr/>
          </p:nvSpPr>
          <p:spPr>
            <a:xfrm>
              <a:off x="6420240" y="2349720"/>
              <a:ext cx="135360" cy="1966320"/>
            </a:xfrm>
            <a:custGeom>
              <a:avLst/>
              <a:gdLst>
                <a:gd name="textAreaLeft" fmla="*/ 0 w 135360"/>
                <a:gd name="textAreaRight" fmla="*/ 135720 w 135360"/>
                <a:gd name="textAreaTop" fmla="*/ 0 h 1966320"/>
                <a:gd name="textAreaBottom" fmla="*/ 1966680 h 1966320"/>
              </a:gdLst>
              <a:ahLst/>
              <a:rect l="textAreaLeft" t="textAreaTop" r="textAreaRight" b="textAreaBottom"/>
              <a:pathLst>
                <a:path w="180848" h="2622296">
                  <a:moveTo>
                    <a:pt x="0" y="0"/>
                  </a:moveTo>
                  <a:lnTo>
                    <a:pt x="180848" y="0"/>
                  </a:lnTo>
                  <a:lnTo>
                    <a:pt x="180848" y="2622296"/>
                  </a:lnTo>
                  <a:lnTo>
                    <a:pt x="0" y="2622296"/>
                  </a:lnTo>
                  <a:close/>
                </a:path>
              </a:pathLst>
            </a:custGeom>
            <a:solidFill>
              <a:srgbClr val="0e2240"/>
            </a:solidFill>
            <a:ln cap="sq" w="19050">
              <a:solidFill>
                <a:srgbClr val="2d6de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08" name="Group 26"/>
          <p:cNvGrpSpPr/>
          <p:nvPr/>
        </p:nvGrpSpPr>
        <p:grpSpPr>
          <a:xfrm>
            <a:off x="6779880" y="2873520"/>
            <a:ext cx="4673520" cy="1369440"/>
            <a:chOff x="6779880" y="2873520"/>
            <a:chExt cx="4673520" cy="1369440"/>
          </a:xfrm>
        </p:grpSpPr>
        <p:sp>
          <p:nvSpPr>
            <p:cNvPr id="409" name="Freeform 27"/>
            <p:cNvSpPr/>
            <p:nvPr/>
          </p:nvSpPr>
          <p:spPr>
            <a:xfrm>
              <a:off x="6779880" y="2873520"/>
              <a:ext cx="4673520" cy="1369440"/>
            </a:xfrm>
            <a:custGeom>
              <a:avLst/>
              <a:gdLst>
                <a:gd name="textAreaLeft" fmla="*/ 0 w 4673520"/>
                <a:gd name="textAreaRight" fmla="*/ 4673880 w 4673520"/>
                <a:gd name="textAreaTop" fmla="*/ 0 h 1369440"/>
                <a:gd name="textAreaBottom" fmla="*/ 1369800 h 1369440"/>
              </a:gdLst>
              <a:ahLst/>
              <a:rect l="textAreaLeft" t="textAreaTop" r="textAreaRight" b="textAreaBottom"/>
              <a:pathLst>
                <a:path w="6231940" h="1826260">
                  <a:moveTo>
                    <a:pt x="0" y="0"/>
                  </a:moveTo>
                  <a:lnTo>
                    <a:pt x="6231940" y="0"/>
                  </a:lnTo>
                  <a:lnTo>
                    <a:pt x="6231940" y="1826260"/>
                  </a:lnTo>
                  <a:lnTo>
                    <a:pt x="0" y="1826260"/>
                  </a:lnTo>
                  <a:close/>
                </a:path>
              </a:pathLst>
            </a:custGeom>
            <a:blipFill rotWithShape="0">
              <a:blip r:embed="rId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10" name="TextBox 28"/>
            <p:cNvSpPr/>
            <p:nvPr/>
          </p:nvSpPr>
          <p:spPr>
            <a:xfrm>
              <a:off x="6779880" y="2873520"/>
              <a:ext cx="4673520" cy="1369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ts val="6001"/>
                </a:lnSpc>
              </a:pPr>
              <a:r>
                <a:rPr b="1" lang="en-US" sz="5000" spc="-1" strike="noStrike">
                  <a:solidFill>
                    <a:srgbClr val="13294b"/>
                  </a:solidFill>
                  <a:latin typeface="Montserrat Bold"/>
                  <a:ea typeface="Montserrat Bold"/>
                </a:rPr>
                <a:t>0.988</a:t>
              </a:r>
              <a:endParaRPr b="0" lang="es-ES" sz="50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11" name="Group 29"/>
          <p:cNvGrpSpPr/>
          <p:nvPr/>
        </p:nvGrpSpPr>
        <p:grpSpPr>
          <a:xfrm>
            <a:off x="6779880" y="2486520"/>
            <a:ext cx="4673520" cy="511560"/>
            <a:chOff x="6779880" y="2486520"/>
            <a:chExt cx="4673520" cy="511560"/>
          </a:xfrm>
        </p:grpSpPr>
        <p:sp>
          <p:nvSpPr>
            <p:cNvPr id="412" name="Freeform 30"/>
            <p:cNvSpPr/>
            <p:nvPr/>
          </p:nvSpPr>
          <p:spPr>
            <a:xfrm>
              <a:off x="6779880" y="2486520"/>
              <a:ext cx="4673520" cy="511560"/>
            </a:xfrm>
            <a:custGeom>
              <a:avLst/>
              <a:gdLst>
                <a:gd name="textAreaLeft" fmla="*/ 0 w 4673520"/>
                <a:gd name="textAreaRight" fmla="*/ 4673880 w 4673520"/>
                <a:gd name="textAreaTop" fmla="*/ 0 h 511560"/>
                <a:gd name="textAreaBottom" fmla="*/ 511920 h 511560"/>
              </a:gdLst>
              <a:ahLst/>
              <a:rect l="textAreaLeft" t="textAreaTop" r="textAreaRight" b="textAreaBottom"/>
              <a:pathLst>
                <a:path w="6231940" h="682368">
                  <a:moveTo>
                    <a:pt x="0" y="0"/>
                  </a:moveTo>
                  <a:lnTo>
                    <a:pt x="6231940" y="0"/>
                  </a:lnTo>
                  <a:lnTo>
                    <a:pt x="6231940" y="682368"/>
                  </a:lnTo>
                  <a:lnTo>
                    <a:pt x="0" y="682368"/>
                  </a:lnTo>
                  <a:close/>
                </a:path>
              </a:pathLst>
            </a:custGeom>
            <a:blipFill rotWithShape="0">
              <a:blip r:embed="rId6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13" name="TextBox 31"/>
            <p:cNvSpPr/>
            <p:nvPr/>
          </p:nvSpPr>
          <p:spPr>
            <a:xfrm>
              <a:off x="6779880" y="2486520"/>
              <a:ext cx="4673520" cy="511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2999"/>
                </a:lnSpc>
              </a:pPr>
              <a:r>
                <a:rPr b="1" lang="en-US" sz="2500" spc="-1" strike="noStrike">
                  <a:solidFill>
                    <a:srgbClr val="000000"/>
                  </a:solidFill>
                  <a:latin typeface="Open Sans 1 Bold"/>
                  <a:ea typeface="Open Sans 1 Bold"/>
                </a:rPr>
                <a:t>Real/Fake AUC:</a:t>
              </a:r>
              <a:endParaRPr b="0" lang="es-ES" sz="25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14" name="Group 32"/>
          <p:cNvGrpSpPr/>
          <p:nvPr/>
        </p:nvGrpSpPr>
        <p:grpSpPr>
          <a:xfrm>
            <a:off x="12097800" y="2351880"/>
            <a:ext cx="5442120" cy="1961640"/>
            <a:chOff x="12097800" y="2351880"/>
            <a:chExt cx="5442120" cy="1961640"/>
          </a:xfrm>
        </p:grpSpPr>
        <p:sp>
          <p:nvSpPr>
            <p:cNvPr id="415" name="Freeform 33"/>
            <p:cNvSpPr/>
            <p:nvPr/>
          </p:nvSpPr>
          <p:spPr>
            <a:xfrm>
              <a:off x="12097800" y="2351880"/>
              <a:ext cx="5442120" cy="1961640"/>
            </a:xfrm>
            <a:custGeom>
              <a:avLst/>
              <a:gdLst>
                <a:gd name="textAreaLeft" fmla="*/ 0 w 5442120"/>
                <a:gd name="textAreaRight" fmla="*/ 5442480 w 5442120"/>
                <a:gd name="textAreaTop" fmla="*/ 0 h 1961640"/>
                <a:gd name="textAreaBottom" fmla="*/ 1962000 h 1961640"/>
              </a:gdLst>
              <a:ahLst/>
              <a:rect l="textAreaLeft" t="textAreaTop" r="textAreaRight" b="textAreaBottom"/>
              <a:pathLst>
                <a:path w="7256780" h="2615946">
                  <a:moveTo>
                    <a:pt x="0" y="0"/>
                  </a:moveTo>
                  <a:lnTo>
                    <a:pt x="7256780" y="0"/>
                  </a:lnTo>
                  <a:lnTo>
                    <a:pt x="7256780" y="2615946"/>
                  </a:lnTo>
                  <a:lnTo>
                    <a:pt x="0" y="2615946"/>
                  </a:lnTo>
                  <a:close/>
                </a:path>
              </a:pathLst>
            </a:custGeom>
            <a:solidFill>
              <a:srgbClr val="f7f9fc"/>
            </a:solidFill>
            <a:ln cap="sq" w="14288">
              <a:solidFill>
                <a:srgbClr val="dde3e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16" name="Group 34"/>
          <p:cNvGrpSpPr/>
          <p:nvPr/>
        </p:nvGrpSpPr>
        <p:grpSpPr>
          <a:xfrm>
            <a:off x="12095280" y="2349720"/>
            <a:ext cx="135360" cy="1966320"/>
            <a:chOff x="12095280" y="2349720"/>
            <a:chExt cx="135360" cy="1966320"/>
          </a:xfrm>
        </p:grpSpPr>
        <p:sp>
          <p:nvSpPr>
            <p:cNvPr id="417" name="Freeform 35"/>
            <p:cNvSpPr/>
            <p:nvPr/>
          </p:nvSpPr>
          <p:spPr>
            <a:xfrm>
              <a:off x="12095280" y="2349720"/>
              <a:ext cx="135360" cy="1966320"/>
            </a:xfrm>
            <a:custGeom>
              <a:avLst/>
              <a:gdLst>
                <a:gd name="textAreaLeft" fmla="*/ 0 w 135360"/>
                <a:gd name="textAreaRight" fmla="*/ 135720 w 135360"/>
                <a:gd name="textAreaTop" fmla="*/ 0 h 1966320"/>
                <a:gd name="textAreaBottom" fmla="*/ 1966680 h 1966320"/>
              </a:gdLst>
              <a:ahLst/>
              <a:rect l="textAreaLeft" t="textAreaTop" r="textAreaRight" b="textAreaBottom"/>
              <a:pathLst>
                <a:path w="180848" h="2622296">
                  <a:moveTo>
                    <a:pt x="0" y="0"/>
                  </a:moveTo>
                  <a:lnTo>
                    <a:pt x="180848" y="0"/>
                  </a:lnTo>
                  <a:lnTo>
                    <a:pt x="180848" y="2622296"/>
                  </a:lnTo>
                  <a:lnTo>
                    <a:pt x="0" y="2622296"/>
                  </a:lnTo>
                  <a:close/>
                </a:path>
              </a:pathLst>
            </a:custGeom>
            <a:solidFill>
              <a:srgbClr val="0e2240"/>
            </a:solidFill>
            <a:ln cap="sq" w="1905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18" name="Group 36"/>
          <p:cNvGrpSpPr/>
          <p:nvPr/>
        </p:nvGrpSpPr>
        <p:grpSpPr>
          <a:xfrm>
            <a:off x="12621960" y="2940480"/>
            <a:ext cx="4673520" cy="1302480"/>
            <a:chOff x="12621960" y="2940480"/>
            <a:chExt cx="4673520" cy="1302480"/>
          </a:xfrm>
        </p:grpSpPr>
        <p:sp>
          <p:nvSpPr>
            <p:cNvPr id="419" name="Freeform 37"/>
            <p:cNvSpPr/>
            <p:nvPr/>
          </p:nvSpPr>
          <p:spPr>
            <a:xfrm>
              <a:off x="12621960" y="2940480"/>
              <a:ext cx="4673520" cy="1302480"/>
            </a:xfrm>
            <a:custGeom>
              <a:avLst/>
              <a:gdLst>
                <a:gd name="textAreaLeft" fmla="*/ 0 w 4673520"/>
                <a:gd name="textAreaRight" fmla="*/ 4673880 w 4673520"/>
                <a:gd name="textAreaTop" fmla="*/ 0 h 1302480"/>
                <a:gd name="textAreaBottom" fmla="*/ 1302840 h 1302480"/>
              </a:gdLst>
              <a:ahLst/>
              <a:rect l="textAreaLeft" t="textAreaTop" r="textAreaRight" b="textAreaBottom"/>
              <a:pathLst>
                <a:path w="6231940" h="1737106">
                  <a:moveTo>
                    <a:pt x="0" y="0"/>
                  </a:moveTo>
                  <a:lnTo>
                    <a:pt x="6231940" y="0"/>
                  </a:lnTo>
                  <a:lnTo>
                    <a:pt x="6231940" y="1737106"/>
                  </a:lnTo>
                  <a:lnTo>
                    <a:pt x="0" y="1737106"/>
                  </a:lnTo>
                  <a:close/>
                </a:path>
              </a:pathLst>
            </a:custGeom>
            <a:blipFill rotWithShape="0">
              <a:blip r:embed="rId7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20" name="TextBox 38"/>
            <p:cNvSpPr/>
            <p:nvPr/>
          </p:nvSpPr>
          <p:spPr>
            <a:xfrm>
              <a:off x="12621960" y="2940480"/>
              <a:ext cx="4673520" cy="1302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ts val="6001"/>
                </a:lnSpc>
              </a:pPr>
              <a:r>
                <a:rPr b="1" lang="en-US" sz="5000" spc="-1" strike="noStrike">
                  <a:solidFill>
                    <a:srgbClr val="13294b"/>
                  </a:solidFill>
                  <a:latin typeface="Montserrat Bold"/>
                  <a:ea typeface="Montserrat Bold"/>
                </a:rPr>
                <a:t>94.4%</a:t>
              </a:r>
              <a:endParaRPr b="0" lang="es-ES" sz="50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21" name="Group 39"/>
          <p:cNvGrpSpPr/>
          <p:nvPr/>
        </p:nvGrpSpPr>
        <p:grpSpPr>
          <a:xfrm>
            <a:off x="12481920" y="2486520"/>
            <a:ext cx="4673520" cy="511560"/>
            <a:chOff x="12481920" y="2486520"/>
            <a:chExt cx="4673520" cy="511560"/>
          </a:xfrm>
        </p:grpSpPr>
        <p:sp>
          <p:nvSpPr>
            <p:cNvPr id="422" name="Freeform 40"/>
            <p:cNvSpPr/>
            <p:nvPr/>
          </p:nvSpPr>
          <p:spPr>
            <a:xfrm>
              <a:off x="12481920" y="2486520"/>
              <a:ext cx="4673520" cy="511560"/>
            </a:xfrm>
            <a:custGeom>
              <a:avLst/>
              <a:gdLst>
                <a:gd name="textAreaLeft" fmla="*/ 0 w 4673520"/>
                <a:gd name="textAreaRight" fmla="*/ 4673880 w 4673520"/>
                <a:gd name="textAreaTop" fmla="*/ 0 h 511560"/>
                <a:gd name="textAreaBottom" fmla="*/ 511920 h 511560"/>
              </a:gdLst>
              <a:ahLst/>
              <a:rect l="textAreaLeft" t="textAreaTop" r="textAreaRight" b="textAreaBottom"/>
              <a:pathLst>
                <a:path w="6231940" h="682368">
                  <a:moveTo>
                    <a:pt x="0" y="0"/>
                  </a:moveTo>
                  <a:lnTo>
                    <a:pt x="6231940" y="0"/>
                  </a:lnTo>
                  <a:lnTo>
                    <a:pt x="6231940" y="682368"/>
                  </a:lnTo>
                  <a:lnTo>
                    <a:pt x="0" y="682368"/>
                  </a:lnTo>
                  <a:close/>
                </a:path>
              </a:pathLst>
            </a:custGeom>
            <a:blipFill rotWithShape="0">
              <a:blip r:embed="rId8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23" name="TextBox 41"/>
            <p:cNvSpPr/>
            <p:nvPr/>
          </p:nvSpPr>
          <p:spPr>
            <a:xfrm>
              <a:off x="12481920" y="2486520"/>
              <a:ext cx="4673520" cy="511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2999"/>
                </a:lnSpc>
              </a:pPr>
              <a:r>
                <a:rPr b="1" lang="en-US" sz="2500" spc="-1" strike="noStrike">
                  <a:solidFill>
                    <a:srgbClr val="000000"/>
                  </a:solidFill>
                  <a:latin typeface="Open Sans 1 Bold"/>
                  <a:ea typeface="Open Sans 1 Bold"/>
                </a:rPr>
                <a:t>Transform accuracy:</a:t>
              </a:r>
              <a:endParaRPr b="0" lang="es-ES" sz="25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24" name="Group 42"/>
          <p:cNvGrpSpPr/>
          <p:nvPr/>
        </p:nvGrpSpPr>
        <p:grpSpPr>
          <a:xfrm>
            <a:off x="754560" y="4690800"/>
            <a:ext cx="11658240" cy="548280"/>
            <a:chOff x="754560" y="4690800"/>
            <a:chExt cx="11658240" cy="548280"/>
          </a:xfrm>
        </p:grpSpPr>
        <p:sp>
          <p:nvSpPr>
            <p:cNvPr id="425" name="Freeform 43"/>
            <p:cNvSpPr/>
            <p:nvPr/>
          </p:nvSpPr>
          <p:spPr>
            <a:xfrm>
              <a:off x="754560" y="4690800"/>
              <a:ext cx="11658240" cy="548280"/>
            </a:xfrm>
            <a:custGeom>
              <a:avLst/>
              <a:gdLst>
                <a:gd name="textAreaLeft" fmla="*/ 0 w 11658240"/>
                <a:gd name="textAreaRight" fmla="*/ 11658600 w 11658240"/>
                <a:gd name="textAreaTop" fmla="*/ 0 h 548280"/>
                <a:gd name="textAreaBottom" fmla="*/ 548640 h 548280"/>
              </a:gdLst>
              <a:ahLst/>
              <a:rect l="textAreaLeft" t="textAreaTop" r="textAreaRight" b="textAreaBottom"/>
              <a:pathLst>
                <a:path w="15544800" h="731520">
                  <a:moveTo>
                    <a:pt x="0" y="0"/>
                  </a:moveTo>
                  <a:lnTo>
                    <a:pt x="15544800" y="0"/>
                  </a:lnTo>
                  <a:lnTo>
                    <a:pt x="15544800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0">
              <a:blip r:embed="rId9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26" name="TextBox 44"/>
            <p:cNvSpPr/>
            <p:nvPr/>
          </p:nvSpPr>
          <p:spPr>
            <a:xfrm>
              <a:off x="754560" y="4690800"/>
              <a:ext cx="11658240" cy="54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3061"/>
                </a:lnSpc>
              </a:pPr>
              <a:r>
                <a:rPr b="1" lang="en-US" sz="2550" spc="-1" strike="noStrike">
                  <a:solidFill>
                    <a:srgbClr val="13294b"/>
                  </a:solidFill>
                  <a:latin typeface="Playfair Display Bold"/>
                  <a:ea typeface="Playfair Display Bold"/>
                </a:rPr>
                <a:t>Robustness — Real/Fake accuracy stays high under every edit</a:t>
              </a:r>
              <a:endParaRPr b="0" lang="es-ES" sz="25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27" name="Group 45"/>
          <p:cNvGrpSpPr/>
          <p:nvPr/>
        </p:nvGrpSpPr>
        <p:grpSpPr>
          <a:xfrm>
            <a:off x="5545440" y="5380920"/>
            <a:ext cx="210600" cy="210600"/>
            <a:chOff x="5545440" y="5380920"/>
            <a:chExt cx="210600" cy="210600"/>
          </a:xfrm>
        </p:grpSpPr>
        <p:sp>
          <p:nvSpPr>
            <p:cNvPr id="428" name="Freeform 46"/>
            <p:cNvSpPr/>
            <p:nvPr/>
          </p:nvSpPr>
          <p:spPr>
            <a:xfrm>
              <a:off x="5545440" y="5380920"/>
              <a:ext cx="210600" cy="210600"/>
            </a:xfrm>
            <a:custGeom>
              <a:avLst/>
              <a:gdLst>
                <a:gd name="textAreaLeft" fmla="*/ 0 w 210600"/>
                <a:gd name="textAreaRight" fmla="*/ 210960 w 210600"/>
                <a:gd name="textAreaTop" fmla="*/ 0 h 210600"/>
                <a:gd name="textAreaBottom" fmla="*/ 210960 h 210600"/>
              </a:gdLst>
              <a:ahLst/>
              <a:rect l="textAreaLeft" t="textAreaTop" r="textAreaRight" b="textAreaBottom"/>
              <a:pathLst>
                <a:path w="281432" h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2d6dec"/>
            </a:solidFill>
            <a:ln cap="sq" w="19050">
              <a:solidFill>
                <a:srgbClr val="2d6de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29" name="Group 47"/>
          <p:cNvGrpSpPr/>
          <p:nvPr/>
        </p:nvGrpSpPr>
        <p:grpSpPr>
          <a:xfrm>
            <a:off x="5801760" y="5349240"/>
            <a:ext cx="822600" cy="273960"/>
            <a:chOff x="5801760" y="5349240"/>
            <a:chExt cx="822600" cy="273960"/>
          </a:xfrm>
        </p:grpSpPr>
        <p:sp>
          <p:nvSpPr>
            <p:cNvPr id="430" name="Freeform 48"/>
            <p:cNvSpPr/>
            <p:nvPr/>
          </p:nvSpPr>
          <p:spPr>
            <a:xfrm>
              <a:off x="5801760" y="5349240"/>
              <a:ext cx="822600" cy="273960"/>
            </a:xfrm>
            <a:custGeom>
              <a:avLst/>
              <a:gdLst>
                <a:gd name="textAreaLeft" fmla="*/ 0 w 822600"/>
                <a:gd name="textAreaRight" fmla="*/ 822960 w 822600"/>
                <a:gd name="textAreaTop" fmla="*/ 0 h 273960"/>
                <a:gd name="textAreaBottom" fmla="*/ 274320 h 273960"/>
              </a:gdLst>
              <a:ahLst/>
              <a:rect l="textAreaLeft" t="textAreaTop" r="textAreaRight" b="textAreaBottom"/>
              <a:pathLst>
                <a:path w="1097280" h="365760">
                  <a:moveTo>
                    <a:pt x="0" y="0"/>
                  </a:moveTo>
                  <a:lnTo>
                    <a:pt x="1097280" y="0"/>
                  </a:lnTo>
                  <a:lnTo>
                    <a:pt x="1097280" y="365760"/>
                  </a:lnTo>
                  <a:lnTo>
                    <a:pt x="0" y="365760"/>
                  </a:lnTo>
                  <a:close/>
                </a:path>
              </a:pathLst>
            </a:custGeom>
            <a:blipFill rotWithShape="0">
              <a:blip r:embed="rId10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31" name="TextBox 49"/>
            <p:cNvSpPr/>
            <p:nvPr/>
          </p:nvSpPr>
          <p:spPr>
            <a:xfrm>
              <a:off x="5801760" y="5349240"/>
              <a:ext cx="822600" cy="27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1888"/>
                </a:lnSpc>
              </a:pPr>
              <a:r>
                <a:rPr b="0" lang="en-US" sz="1580" spc="-1" strike="noStrike">
                  <a:solidFill>
                    <a:srgbClr val="5b6478"/>
                  </a:solidFill>
                  <a:latin typeface="Open Sans 1"/>
                  <a:ea typeface="Open Sans 1"/>
                </a:rPr>
                <a:t>Fake</a:t>
              </a:r>
              <a:endParaRPr b="0" lang="es-ES" sz="158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32" name="Group 50"/>
          <p:cNvGrpSpPr/>
          <p:nvPr/>
        </p:nvGrpSpPr>
        <p:grpSpPr>
          <a:xfrm>
            <a:off x="6779880" y="5380920"/>
            <a:ext cx="210600" cy="210600"/>
            <a:chOff x="6779880" y="5380920"/>
            <a:chExt cx="210600" cy="210600"/>
          </a:xfrm>
        </p:grpSpPr>
        <p:sp>
          <p:nvSpPr>
            <p:cNvPr id="433" name="Freeform 51"/>
            <p:cNvSpPr/>
            <p:nvPr/>
          </p:nvSpPr>
          <p:spPr>
            <a:xfrm>
              <a:off x="6779880" y="5380920"/>
              <a:ext cx="210600" cy="210600"/>
            </a:xfrm>
            <a:custGeom>
              <a:avLst/>
              <a:gdLst>
                <a:gd name="textAreaLeft" fmla="*/ 0 w 210600"/>
                <a:gd name="textAreaRight" fmla="*/ 210960 w 210600"/>
                <a:gd name="textAreaTop" fmla="*/ 0 h 210600"/>
                <a:gd name="textAreaBottom" fmla="*/ 210960 h 210600"/>
              </a:gdLst>
              <a:ahLst/>
              <a:rect l="textAreaLeft" t="textAreaTop" r="textAreaRight" b="textAreaBottom"/>
              <a:pathLst>
                <a:path w="281432" h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fa7508"/>
            </a:solidFill>
            <a:ln cap="sq" w="19050">
              <a:solidFill>
                <a:srgbClr val="16a085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34" name="Group 52"/>
          <p:cNvGrpSpPr/>
          <p:nvPr/>
        </p:nvGrpSpPr>
        <p:grpSpPr>
          <a:xfrm>
            <a:off x="7036200" y="5349240"/>
            <a:ext cx="822600" cy="273960"/>
            <a:chOff x="7036200" y="5349240"/>
            <a:chExt cx="822600" cy="273960"/>
          </a:xfrm>
        </p:grpSpPr>
        <p:sp>
          <p:nvSpPr>
            <p:cNvPr id="435" name="Freeform 53"/>
            <p:cNvSpPr/>
            <p:nvPr/>
          </p:nvSpPr>
          <p:spPr>
            <a:xfrm>
              <a:off x="7036200" y="5349240"/>
              <a:ext cx="822600" cy="273960"/>
            </a:xfrm>
            <a:custGeom>
              <a:avLst/>
              <a:gdLst>
                <a:gd name="textAreaLeft" fmla="*/ 0 w 822600"/>
                <a:gd name="textAreaRight" fmla="*/ 822960 w 822600"/>
                <a:gd name="textAreaTop" fmla="*/ 0 h 273960"/>
                <a:gd name="textAreaBottom" fmla="*/ 274320 h 273960"/>
              </a:gdLst>
              <a:ahLst/>
              <a:rect l="textAreaLeft" t="textAreaTop" r="textAreaRight" b="textAreaBottom"/>
              <a:pathLst>
                <a:path w="1097280" h="365760">
                  <a:moveTo>
                    <a:pt x="0" y="0"/>
                  </a:moveTo>
                  <a:lnTo>
                    <a:pt x="1097280" y="0"/>
                  </a:lnTo>
                  <a:lnTo>
                    <a:pt x="1097280" y="365760"/>
                  </a:lnTo>
                  <a:lnTo>
                    <a:pt x="0" y="365760"/>
                  </a:lnTo>
                  <a:close/>
                </a:path>
              </a:pathLst>
            </a:custGeom>
            <a:blipFill rotWithShape="0">
              <a:blip r:embed="rId1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36" name="TextBox 54"/>
            <p:cNvSpPr/>
            <p:nvPr/>
          </p:nvSpPr>
          <p:spPr>
            <a:xfrm>
              <a:off x="7036200" y="5349240"/>
              <a:ext cx="822600" cy="27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1888"/>
                </a:lnSpc>
              </a:pPr>
              <a:r>
                <a:rPr b="0" lang="en-US" sz="1580" spc="-1" strike="noStrike">
                  <a:solidFill>
                    <a:srgbClr val="5b6478"/>
                  </a:solidFill>
                  <a:latin typeface="Open Sans 1"/>
                  <a:ea typeface="Open Sans 1"/>
                </a:rPr>
                <a:t>Real</a:t>
              </a:r>
              <a:endParaRPr b="0" lang="es-ES" sz="158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37" name="Group 55"/>
          <p:cNvGrpSpPr/>
          <p:nvPr/>
        </p:nvGrpSpPr>
        <p:grpSpPr>
          <a:xfrm>
            <a:off x="754560" y="8894520"/>
            <a:ext cx="548280" cy="308520"/>
            <a:chOff x="754560" y="8894520"/>
            <a:chExt cx="548280" cy="308520"/>
          </a:xfrm>
        </p:grpSpPr>
        <p:sp>
          <p:nvSpPr>
            <p:cNvPr id="438" name="Freeform 56"/>
            <p:cNvSpPr/>
            <p:nvPr/>
          </p:nvSpPr>
          <p:spPr>
            <a:xfrm>
              <a:off x="754560" y="8901720"/>
              <a:ext cx="548280" cy="301320"/>
            </a:xfrm>
            <a:custGeom>
              <a:avLst/>
              <a:gdLst>
                <a:gd name="textAreaLeft" fmla="*/ 0 w 548280"/>
                <a:gd name="textAreaRight" fmla="*/ 548640 w 548280"/>
                <a:gd name="textAreaTop" fmla="*/ 0 h 301320"/>
                <a:gd name="textAreaBottom" fmla="*/ 301680 h 301320"/>
              </a:gdLst>
              <a:ahLst/>
              <a:rect l="textAreaLeft" t="textAreaTop" r="textAreaRight" b="textAreaBottom"/>
              <a:pathLst>
                <a:path w="731520" h="402336">
                  <a:moveTo>
                    <a:pt x="0" y="0"/>
                  </a:moveTo>
                  <a:lnTo>
                    <a:pt x="731520" y="0"/>
                  </a:lnTo>
                  <a:lnTo>
                    <a:pt x="731520" y="402336"/>
                  </a:lnTo>
                  <a:lnTo>
                    <a:pt x="0" y="402336"/>
                  </a:lnTo>
                  <a:close/>
                </a:path>
              </a:pathLst>
            </a:custGeom>
            <a:blipFill rotWithShape="0">
              <a:blip r:embed="rId1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39" name="TextBox 57"/>
            <p:cNvSpPr/>
            <p:nvPr/>
          </p:nvSpPr>
          <p:spPr>
            <a:xfrm>
              <a:off x="754560" y="8894520"/>
              <a:ext cx="548280" cy="308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r">
                <a:lnSpc>
                  <a:spcPts val="1621"/>
                </a:lnSpc>
              </a:pPr>
              <a:r>
                <a:rPr b="0" lang="en-US" sz="1350" spc="-1" strike="noStrike">
                  <a:solidFill>
                    <a:srgbClr val="9fb0c8"/>
                  </a:solidFill>
                  <a:latin typeface="Open Sans 1"/>
                  <a:ea typeface="Open Sans 1"/>
                </a:rPr>
                <a:t>0</a:t>
              </a:r>
              <a:endParaRPr b="0" lang="es-ES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40" name="Group 58"/>
          <p:cNvGrpSpPr/>
          <p:nvPr/>
        </p:nvGrpSpPr>
        <p:grpSpPr>
          <a:xfrm>
            <a:off x="1430640" y="8417520"/>
            <a:ext cx="10854360" cy="35280"/>
            <a:chOff x="1430640" y="8417520"/>
            <a:chExt cx="10854360" cy="35280"/>
          </a:xfrm>
        </p:grpSpPr>
        <p:sp>
          <p:nvSpPr>
            <p:cNvPr id="441" name="Freeform 59"/>
            <p:cNvSpPr/>
            <p:nvPr/>
          </p:nvSpPr>
          <p:spPr>
            <a:xfrm>
              <a:off x="1430640" y="8417520"/>
              <a:ext cx="10854360" cy="35280"/>
            </a:xfrm>
            <a:custGeom>
              <a:avLst/>
              <a:gdLst>
                <a:gd name="textAreaLeft" fmla="*/ 0 w 10854360"/>
                <a:gd name="textAreaRight" fmla="*/ 10854720 w 10854360"/>
                <a:gd name="textAreaTop" fmla="*/ 0 h 35280"/>
                <a:gd name="textAreaBottom" fmla="*/ 35640 h 35280"/>
              </a:gdLst>
              <a:ahLst/>
              <a:rect l="textAreaLeft" t="textAreaTop" r="textAreaRight" b="textAreaBottom"/>
              <a:pathLst>
                <a:path w="14472920" h="47371">
                  <a:moveTo>
                    <a:pt x="0" y="0"/>
                  </a:moveTo>
                  <a:lnTo>
                    <a:pt x="14472920" y="0"/>
                  </a:lnTo>
                  <a:lnTo>
                    <a:pt x="14472920" y="47371"/>
                  </a:lnTo>
                  <a:lnTo>
                    <a:pt x="0" y="47371"/>
                  </a:lnTo>
                  <a:close/>
                </a:path>
              </a:pathLst>
            </a:custGeom>
            <a:solidFill>
              <a:srgbClr val="e8edf4"/>
            </a:solidFill>
            <a:ln cap="sq" w="19050">
              <a:solidFill>
                <a:srgbClr val="e8edf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9360" bIns="-936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42" name="Group 60"/>
          <p:cNvGrpSpPr/>
          <p:nvPr/>
        </p:nvGrpSpPr>
        <p:grpSpPr>
          <a:xfrm>
            <a:off x="754560" y="8269200"/>
            <a:ext cx="548280" cy="308520"/>
            <a:chOff x="754560" y="8269200"/>
            <a:chExt cx="548280" cy="308520"/>
          </a:xfrm>
        </p:grpSpPr>
        <p:sp>
          <p:nvSpPr>
            <p:cNvPr id="443" name="Freeform 61"/>
            <p:cNvSpPr/>
            <p:nvPr/>
          </p:nvSpPr>
          <p:spPr>
            <a:xfrm>
              <a:off x="754560" y="8276400"/>
              <a:ext cx="548280" cy="301320"/>
            </a:xfrm>
            <a:custGeom>
              <a:avLst/>
              <a:gdLst>
                <a:gd name="textAreaLeft" fmla="*/ 0 w 548280"/>
                <a:gd name="textAreaRight" fmla="*/ 548640 w 548280"/>
                <a:gd name="textAreaTop" fmla="*/ 0 h 301320"/>
                <a:gd name="textAreaBottom" fmla="*/ 301680 h 301320"/>
              </a:gdLst>
              <a:ahLst/>
              <a:rect l="textAreaLeft" t="textAreaTop" r="textAreaRight" b="textAreaBottom"/>
              <a:pathLst>
                <a:path w="731520" h="402336">
                  <a:moveTo>
                    <a:pt x="0" y="0"/>
                  </a:moveTo>
                  <a:lnTo>
                    <a:pt x="731520" y="0"/>
                  </a:lnTo>
                  <a:lnTo>
                    <a:pt x="731520" y="402336"/>
                  </a:lnTo>
                  <a:lnTo>
                    <a:pt x="0" y="402336"/>
                  </a:lnTo>
                  <a:close/>
                </a:path>
              </a:pathLst>
            </a:custGeom>
            <a:blipFill rotWithShape="0">
              <a:blip r:embed="rId1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44" name="TextBox 62"/>
            <p:cNvSpPr/>
            <p:nvPr/>
          </p:nvSpPr>
          <p:spPr>
            <a:xfrm>
              <a:off x="754560" y="8269200"/>
              <a:ext cx="548280" cy="308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r">
                <a:lnSpc>
                  <a:spcPts val="1621"/>
                </a:lnSpc>
              </a:pPr>
              <a:r>
                <a:rPr b="0" lang="en-US" sz="1350" spc="-1" strike="noStrike">
                  <a:solidFill>
                    <a:srgbClr val="9fb0c8"/>
                  </a:solidFill>
                  <a:latin typeface="Open Sans 1"/>
                  <a:ea typeface="Open Sans 1"/>
                </a:rPr>
                <a:t>20</a:t>
              </a:r>
              <a:endParaRPr b="0" lang="es-ES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45" name="Group 63"/>
          <p:cNvGrpSpPr/>
          <p:nvPr/>
        </p:nvGrpSpPr>
        <p:grpSpPr>
          <a:xfrm>
            <a:off x="1430640" y="7792200"/>
            <a:ext cx="10854360" cy="35280"/>
            <a:chOff x="1430640" y="7792200"/>
            <a:chExt cx="10854360" cy="35280"/>
          </a:xfrm>
        </p:grpSpPr>
        <p:sp>
          <p:nvSpPr>
            <p:cNvPr id="446" name="Freeform 64"/>
            <p:cNvSpPr/>
            <p:nvPr/>
          </p:nvSpPr>
          <p:spPr>
            <a:xfrm>
              <a:off x="1430640" y="7792200"/>
              <a:ext cx="10854360" cy="35280"/>
            </a:xfrm>
            <a:custGeom>
              <a:avLst/>
              <a:gdLst>
                <a:gd name="textAreaLeft" fmla="*/ 0 w 10854360"/>
                <a:gd name="textAreaRight" fmla="*/ 10854720 w 10854360"/>
                <a:gd name="textAreaTop" fmla="*/ 0 h 35280"/>
                <a:gd name="textAreaBottom" fmla="*/ 35640 h 35280"/>
              </a:gdLst>
              <a:ahLst/>
              <a:rect l="textAreaLeft" t="textAreaTop" r="textAreaRight" b="textAreaBottom"/>
              <a:pathLst>
                <a:path w="14472920" h="47371">
                  <a:moveTo>
                    <a:pt x="0" y="0"/>
                  </a:moveTo>
                  <a:lnTo>
                    <a:pt x="14472920" y="0"/>
                  </a:lnTo>
                  <a:lnTo>
                    <a:pt x="14472920" y="47371"/>
                  </a:lnTo>
                  <a:lnTo>
                    <a:pt x="0" y="47371"/>
                  </a:lnTo>
                  <a:close/>
                </a:path>
              </a:pathLst>
            </a:custGeom>
            <a:solidFill>
              <a:srgbClr val="e8edf4"/>
            </a:solidFill>
            <a:ln cap="sq" w="19050">
              <a:solidFill>
                <a:srgbClr val="e8edf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9360" bIns="-936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47" name="Group 65"/>
          <p:cNvGrpSpPr/>
          <p:nvPr/>
        </p:nvGrpSpPr>
        <p:grpSpPr>
          <a:xfrm>
            <a:off x="754560" y="7643520"/>
            <a:ext cx="548280" cy="308520"/>
            <a:chOff x="754560" y="7643520"/>
            <a:chExt cx="548280" cy="308520"/>
          </a:xfrm>
        </p:grpSpPr>
        <p:sp>
          <p:nvSpPr>
            <p:cNvPr id="448" name="Freeform 66"/>
            <p:cNvSpPr/>
            <p:nvPr/>
          </p:nvSpPr>
          <p:spPr>
            <a:xfrm>
              <a:off x="754560" y="7650720"/>
              <a:ext cx="548280" cy="301320"/>
            </a:xfrm>
            <a:custGeom>
              <a:avLst/>
              <a:gdLst>
                <a:gd name="textAreaLeft" fmla="*/ 0 w 548280"/>
                <a:gd name="textAreaRight" fmla="*/ 548640 w 548280"/>
                <a:gd name="textAreaTop" fmla="*/ 0 h 301320"/>
                <a:gd name="textAreaBottom" fmla="*/ 301680 h 301320"/>
              </a:gdLst>
              <a:ahLst/>
              <a:rect l="textAreaLeft" t="textAreaTop" r="textAreaRight" b="textAreaBottom"/>
              <a:pathLst>
                <a:path w="731520" h="402336">
                  <a:moveTo>
                    <a:pt x="0" y="0"/>
                  </a:moveTo>
                  <a:lnTo>
                    <a:pt x="731520" y="0"/>
                  </a:lnTo>
                  <a:lnTo>
                    <a:pt x="731520" y="402336"/>
                  </a:lnTo>
                  <a:lnTo>
                    <a:pt x="0" y="402336"/>
                  </a:lnTo>
                  <a:close/>
                </a:path>
              </a:pathLst>
            </a:custGeom>
            <a:blipFill rotWithShape="0">
              <a:blip r:embed="rId1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49" name="TextBox 67"/>
            <p:cNvSpPr/>
            <p:nvPr/>
          </p:nvSpPr>
          <p:spPr>
            <a:xfrm>
              <a:off x="754560" y="7643520"/>
              <a:ext cx="548280" cy="308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r">
                <a:lnSpc>
                  <a:spcPts val="1621"/>
                </a:lnSpc>
              </a:pPr>
              <a:r>
                <a:rPr b="0" lang="en-US" sz="1350" spc="-1" strike="noStrike">
                  <a:solidFill>
                    <a:srgbClr val="9fb0c8"/>
                  </a:solidFill>
                  <a:latin typeface="Open Sans 1"/>
                  <a:ea typeface="Open Sans 1"/>
                </a:rPr>
                <a:t>40</a:t>
              </a:r>
              <a:endParaRPr b="0" lang="es-ES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50" name="Group 68"/>
          <p:cNvGrpSpPr/>
          <p:nvPr/>
        </p:nvGrpSpPr>
        <p:grpSpPr>
          <a:xfrm>
            <a:off x="1430640" y="7166520"/>
            <a:ext cx="10854360" cy="35280"/>
            <a:chOff x="1430640" y="7166520"/>
            <a:chExt cx="10854360" cy="35280"/>
          </a:xfrm>
        </p:grpSpPr>
        <p:sp>
          <p:nvSpPr>
            <p:cNvPr id="451" name="Freeform 69"/>
            <p:cNvSpPr/>
            <p:nvPr/>
          </p:nvSpPr>
          <p:spPr>
            <a:xfrm>
              <a:off x="1430640" y="7166520"/>
              <a:ext cx="10854360" cy="35280"/>
            </a:xfrm>
            <a:custGeom>
              <a:avLst/>
              <a:gdLst>
                <a:gd name="textAreaLeft" fmla="*/ 0 w 10854360"/>
                <a:gd name="textAreaRight" fmla="*/ 10854720 w 10854360"/>
                <a:gd name="textAreaTop" fmla="*/ 0 h 35280"/>
                <a:gd name="textAreaBottom" fmla="*/ 35640 h 35280"/>
              </a:gdLst>
              <a:ahLst/>
              <a:rect l="textAreaLeft" t="textAreaTop" r="textAreaRight" b="textAreaBottom"/>
              <a:pathLst>
                <a:path w="14472920" h="47371">
                  <a:moveTo>
                    <a:pt x="0" y="0"/>
                  </a:moveTo>
                  <a:lnTo>
                    <a:pt x="14472920" y="0"/>
                  </a:lnTo>
                  <a:lnTo>
                    <a:pt x="14472920" y="47371"/>
                  </a:lnTo>
                  <a:lnTo>
                    <a:pt x="0" y="47371"/>
                  </a:lnTo>
                  <a:close/>
                </a:path>
              </a:pathLst>
            </a:custGeom>
            <a:solidFill>
              <a:srgbClr val="e8edf4"/>
            </a:solidFill>
            <a:ln cap="sq" w="19050">
              <a:solidFill>
                <a:srgbClr val="e8edf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9360" bIns="-936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52" name="Group 70"/>
          <p:cNvGrpSpPr/>
          <p:nvPr/>
        </p:nvGrpSpPr>
        <p:grpSpPr>
          <a:xfrm>
            <a:off x="754560" y="7018200"/>
            <a:ext cx="548280" cy="308520"/>
            <a:chOff x="754560" y="7018200"/>
            <a:chExt cx="548280" cy="308520"/>
          </a:xfrm>
        </p:grpSpPr>
        <p:sp>
          <p:nvSpPr>
            <p:cNvPr id="453" name="Freeform 71"/>
            <p:cNvSpPr/>
            <p:nvPr/>
          </p:nvSpPr>
          <p:spPr>
            <a:xfrm>
              <a:off x="754560" y="7025400"/>
              <a:ext cx="548280" cy="301320"/>
            </a:xfrm>
            <a:custGeom>
              <a:avLst/>
              <a:gdLst>
                <a:gd name="textAreaLeft" fmla="*/ 0 w 548280"/>
                <a:gd name="textAreaRight" fmla="*/ 548640 w 548280"/>
                <a:gd name="textAreaTop" fmla="*/ 0 h 301320"/>
                <a:gd name="textAreaBottom" fmla="*/ 301680 h 301320"/>
              </a:gdLst>
              <a:ahLst/>
              <a:rect l="textAreaLeft" t="textAreaTop" r="textAreaRight" b="textAreaBottom"/>
              <a:pathLst>
                <a:path w="731520" h="402336">
                  <a:moveTo>
                    <a:pt x="0" y="0"/>
                  </a:moveTo>
                  <a:lnTo>
                    <a:pt x="731520" y="0"/>
                  </a:lnTo>
                  <a:lnTo>
                    <a:pt x="731520" y="402336"/>
                  </a:lnTo>
                  <a:lnTo>
                    <a:pt x="0" y="402336"/>
                  </a:lnTo>
                  <a:close/>
                </a:path>
              </a:pathLst>
            </a:custGeom>
            <a:blipFill rotWithShape="0">
              <a:blip r:embed="rId1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54" name="TextBox 72"/>
            <p:cNvSpPr/>
            <p:nvPr/>
          </p:nvSpPr>
          <p:spPr>
            <a:xfrm>
              <a:off x="754560" y="7018200"/>
              <a:ext cx="548280" cy="308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r">
                <a:lnSpc>
                  <a:spcPts val="1621"/>
                </a:lnSpc>
              </a:pPr>
              <a:r>
                <a:rPr b="0" lang="en-US" sz="1350" spc="-1" strike="noStrike">
                  <a:solidFill>
                    <a:srgbClr val="9fb0c8"/>
                  </a:solidFill>
                  <a:latin typeface="Open Sans 1"/>
                  <a:ea typeface="Open Sans 1"/>
                </a:rPr>
                <a:t>60</a:t>
              </a:r>
              <a:endParaRPr b="0" lang="es-ES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55" name="Group 73"/>
          <p:cNvGrpSpPr/>
          <p:nvPr/>
        </p:nvGrpSpPr>
        <p:grpSpPr>
          <a:xfrm>
            <a:off x="1430640" y="6541200"/>
            <a:ext cx="10854360" cy="35280"/>
            <a:chOff x="1430640" y="6541200"/>
            <a:chExt cx="10854360" cy="35280"/>
          </a:xfrm>
        </p:grpSpPr>
        <p:sp>
          <p:nvSpPr>
            <p:cNvPr id="456" name="Freeform 74"/>
            <p:cNvSpPr/>
            <p:nvPr/>
          </p:nvSpPr>
          <p:spPr>
            <a:xfrm>
              <a:off x="1430640" y="6541200"/>
              <a:ext cx="10854360" cy="35280"/>
            </a:xfrm>
            <a:custGeom>
              <a:avLst/>
              <a:gdLst>
                <a:gd name="textAreaLeft" fmla="*/ 0 w 10854360"/>
                <a:gd name="textAreaRight" fmla="*/ 10854720 w 10854360"/>
                <a:gd name="textAreaTop" fmla="*/ 0 h 35280"/>
                <a:gd name="textAreaBottom" fmla="*/ 35640 h 35280"/>
              </a:gdLst>
              <a:ahLst/>
              <a:rect l="textAreaLeft" t="textAreaTop" r="textAreaRight" b="textAreaBottom"/>
              <a:pathLst>
                <a:path w="14472920" h="47371">
                  <a:moveTo>
                    <a:pt x="0" y="0"/>
                  </a:moveTo>
                  <a:lnTo>
                    <a:pt x="14472920" y="0"/>
                  </a:lnTo>
                  <a:lnTo>
                    <a:pt x="14472920" y="47371"/>
                  </a:lnTo>
                  <a:lnTo>
                    <a:pt x="0" y="47371"/>
                  </a:lnTo>
                  <a:close/>
                </a:path>
              </a:pathLst>
            </a:custGeom>
            <a:solidFill>
              <a:srgbClr val="e8edf4"/>
            </a:solidFill>
            <a:ln cap="sq" w="19050">
              <a:solidFill>
                <a:srgbClr val="e8edf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9360" bIns="-936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57" name="Group 75"/>
          <p:cNvGrpSpPr/>
          <p:nvPr/>
        </p:nvGrpSpPr>
        <p:grpSpPr>
          <a:xfrm>
            <a:off x="754560" y="6392880"/>
            <a:ext cx="548280" cy="308520"/>
            <a:chOff x="754560" y="6392880"/>
            <a:chExt cx="548280" cy="308520"/>
          </a:xfrm>
        </p:grpSpPr>
        <p:sp>
          <p:nvSpPr>
            <p:cNvPr id="458" name="Freeform 76"/>
            <p:cNvSpPr/>
            <p:nvPr/>
          </p:nvSpPr>
          <p:spPr>
            <a:xfrm>
              <a:off x="754560" y="6399720"/>
              <a:ext cx="548280" cy="301320"/>
            </a:xfrm>
            <a:custGeom>
              <a:avLst/>
              <a:gdLst>
                <a:gd name="textAreaLeft" fmla="*/ 0 w 548280"/>
                <a:gd name="textAreaRight" fmla="*/ 548640 w 548280"/>
                <a:gd name="textAreaTop" fmla="*/ 0 h 301320"/>
                <a:gd name="textAreaBottom" fmla="*/ 301680 h 301320"/>
              </a:gdLst>
              <a:ahLst/>
              <a:rect l="textAreaLeft" t="textAreaTop" r="textAreaRight" b="textAreaBottom"/>
              <a:pathLst>
                <a:path w="731520" h="402336">
                  <a:moveTo>
                    <a:pt x="0" y="0"/>
                  </a:moveTo>
                  <a:lnTo>
                    <a:pt x="731520" y="0"/>
                  </a:lnTo>
                  <a:lnTo>
                    <a:pt x="731520" y="402336"/>
                  </a:lnTo>
                  <a:lnTo>
                    <a:pt x="0" y="402336"/>
                  </a:lnTo>
                  <a:close/>
                </a:path>
              </a:pathLst>
            </a:custGeom>
            <a:blipFill rotWithShape="0">
              <a:blip r:embed="rId16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59" name="TextBox 77"/>
            <p:cNvSpPr/>
            <p:nvPr/>
          </p:nvSpPr>
          <p:spPr>
            <a:xfrm>
              <a:off x="754560" y="6392880"/>
              <a:ext cx="548280" cy="308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r">
                <a:lnSpc>
                  <a:spcPts val="1621"/>
                </a:lnSpc>
              </a:pPr>
              <a:r>
                <a:rPr b="0" lang="en-US" sz="1350" spc="-1" strike="noStrike">
                  <a:solidFill>
                    <a:srgbClr val="9fb0c8"/>
                  </a:solidFill>
                  <a:latin typeface="Open Sans 1"/>
                  <a:ea typeface="Open Sans 1"/>
                </a:rPr>
                <a:t>80</a:t>
              </a:r>
              <a:endParaRPr b="0" lang="es-ES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60" name="Group 78"/>
          <p:cNvGrpSpPr/>
          <p:nvPr/>
        </p:nvGrpSpPr>
        <p:grpSpPr>
          <a:xfrm>
            <a:off x="1430640" y="5915880"/>
            <a:ext cx="10854360" cy="35280"/>
            <a:chOff x="1430640" y="5915880"/>
            <a:chExt cx="10854360" cy="35280"/>
          </a:xfrm>
        </p:grpSpPr>
        <p:sp>
          <p:nvSpPr>
            <p:cNvPr id="461" name="Freeform 79"/>
            <p:cNvSpPr/>
            <p:nvPr/>
          </p:nvSpPr>
          <p:spPr>
            <a:xfrm>
              <a:off x="1430640" y="5915880"/>
              <a:ext cx="10854360" cy="35280"/>
            </a:xfrm>
            <a:custGeom>
              <a:avLst/>
              <a:gdLst>
                <a:gd name="textAreaLeft" fmla="*/ 0 w 10854360"/>
                <a:gd name="textAreaRight" fmla="*/ 10854720 w 10854360"/>
                <a:gd name="textAreaTop" fmla="*/ 0 h 35280"/>
                <a:gd name="textAreaBottom" fmla="*/ 35640 h 35280"/>
              </a:gdLst>
              <a:ahLst/>
              <a:rect l="textAreaLeft" t="textAreaTop" r="textAreaRight" b="textAreaBottom"/>
              <a:pathLst>
                <a:path w="14472920" h="47371">
                  <a:moveTo>
                    <a:pt x="0" y="0"/>
                  </a:moveTo>
                  <a:lnTo>
                    <a:pt x="14472920" y="0"/>
                  </a:lnTo>
                  <a:lnTo>
                    <a:pt x="14472920" y="47371"/>
                  </a:lnTo>
                  <a:lnTo>
                    <a:pt x="0" y="47371"/>
                  </a:lnTo>
                  <a:close/>
                </a:path>
              </a:pathLst>
            </a:custGeom>
            <a:solidFill>
              <a:srgbClr val="e8edf4"/>
            </a:solidFill>
            <a:ln cap="sq" w="19050">
              <a:solidFill>
                <a:srgbClr val="e8edf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9360" bIns="-936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62" name="Group 80"/>
          <p:cNvGrpSpPr/>
          <p:nvPr/>
        </p:nvGrpSpPr>
        <p:grpSpPr>
          <a:xfrm>
            <a:off x="754560" y="5767200"/>
            <a:ext cx="548280" cy="308520"/>
            <a:chOff x="754560" y="5767200"/>
            <a:chExt cx="548280" cy="308520"/>
          </a:xfrm>
        </p:grpSpPr>
        <p:sp>
          <p:nvSpPr>
            <p:cNvPr id="463" name="Freeform 81"/>
            <p:cNvSpPr/>
            <p:nvPr/>
          </p:nvSpPr>
          <p:spPr>
            <a:xfrm>
              <a:off x="754560" y="5774400"/>
              <a:ext cx="548280" cy="301320"/>
            </a:xfrm>
            <a:custGeom>
              <a:avLst/>
              <a:gdLst>
                <a:gd name="textAreaLeft" fmla="*/ 0 w 548280"/>
                <a:gd name="textAreaRight" fmla="*/ 548640 w 548280"/>
                <a:gd name="textAreaTop" fmla="*/ 0 h 301320"/>
                <a:gd name="textAreaBottom" fmla="*/ 301680 h 301320"/>
              </a:gdLst>
              <a:ahLst/>
              <a:rect l="textAreaLeft" t="textAreaTop" r="textAreaRight" b="textAreaBottom"/>
              <a:pathLst>
                <a:path w="731520" h="402336">
                  <a:moveTo>
                    <a:pt x="0" y="0"/>
                  </a:moveTo>
                  <a:lnTo>
                    <a:pt x="731520" y="0"/>
                  </a:lnTo>
                  <a:lnTo>
                    <a:pt x="731520" y="402336"/>
                  </a:lnTo>
                  <a:lnTo>
                    <a:pt x="0" y="402336"/>
                  </a:lnTo>
                  <a:close/>
                </a:path>
              </a:pathLst>
            </a:custGeom>
            <a:blipFill rotWithShape="0">
              <a:blip r:embed="rId17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64" name="TextBox 82"/>
            <p:cNvSpPr/>
            <p:nvPr/>
          </p:nvSpPr>
          <p:spPr>
            <a:xfrm>
              <a:off x="754560" y="5767200"/>
              <a:ext cx="548280" cy="308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r">
                <a:lnSpc>
                  <a:spcPts val="1621"/>
                </a:lnSpc>
              </a:pPr>
              <a:r>
                <a:rPr b="0" lang="en-US" sz="1350" spc="-1" strike="noStrike">
                  <a:solidFill>
                    <a:srgbClr val="9fb0c8"/>
                  </a:solidFill>
                  <a:latin typeface="Open Sans 1"/>
                  <a:ea typeface="Open Sans 1"/>
                </a:rPr>
                <a:t>100</a:t>
              </a:r>
              <a:endParaRPr b="0" lang="es-ES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65" name="Group 83"/>
          <p:cNvGrpSpPr/>
          <p:nvPr/>
        </p:nvGrpSpPr>
        <p:grpSpPr>
          <a:xfrm>
            <a:off x="1430640" y="9043200"/>
            <a:ext cx="10854360" cy="48960"/>
            <a:chOff x="1430640" y="9043200"/>
            <a:chExt cx="10854360" cy="48960"/>
          </a:xfrm>
        </p:grpSpPr>
        <p:sp>
          <p:nvSpPr>
            <p:cNvPr id="466" name="Freeform 84"/>
            <p:cNvSpPr/>
            <p:nvPr/>
          </p:nvSpPr>
          <p:spPr>
            <a:xfrm>
              <a:off x="1430640" y="9043200"/>
              <a:ext cx="10854360" cy="48960"/>
            </a:xfrm>
            <a:custGeom>
              <a:avLst/>
              <a:gdLst>
                <a:gd name="textAreaLeft" fmla="*/ 0 w 10854360"/>
                <a:gd name="textAreaRight" fmla="*/ 10854720 w 10854360"/>
                <a:gd name="textAreaTop" fmla="*/ 0 h 48960"/>
                <a:gd name="textAreaBottom" fmla="*/ 49320 h 48960"/>
              </a:gdLst>
              <a:ahLst/>
              <a:rect l="textAreaLeft" t="textAreaTop" r="textAreaRight" b="textAreaBottom"/>
              <a:pathLst>
                <a:path w="14472920" h="65659">
                  <a:moveTo>
                    <a:pt x="0" y="0"/>
                  </a:moveTo>
                  <a:lnTo>
                    <a:pt x="14472920" y="0"/>
                  </a:lnTo>
                  <a:lnTo>
                    <a:pt x="14472920" y="65659"/>
                  </a:lnTo>
                  <a:lnTo>
                    <a:pt x="0" y="65659"/>
                  </a:lnTo>
                  <a:close/>
                </a:path>
              </a:pathLst>
            </a:custGeom>
            <a:solidFill>
              <a:srgbClr val="c5cedc"/>
            </a:solidFill>
            <a:ln cap="sq" w="19050">
              <a:solidFill>
                <a:srgbClr val="c5ced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67" name="Group 85"/>
          <p:cNvGrpSpPr/>
          <p:nvPr/>
        </p:nvGrpSpPr>
        <p:grpSpPr>
          <a:xfrm>
            <a:off x="2317680" y="6166080"/>
            <a:ext cx="869040" cy="2895840"/>
            <a:chOff x="2317680" y="6166080"/>
            <a:chExt cx="869040" cy="2895840"/>
          </a:xfrm>
        </p:grpSpPr>
        <p:sp>
          <p:nvSpPr>
            <p:cNvPr id="468" name="Freeform 86"/>
            <p:cNvSpPr/>
            <p:nvPr/>
          </p:nvSpPr>
          <p:spPr>
            <a:xfrm>
              <a:off x="2317680" y="6166080"/>
              <a:ext cx="869040" cy="2895840"/>
            </a:xfrm>
            <a:custGeom>
              <a:avLst/>
              <a:gdLst>
                <a:gd name="textAreaLeft" fmla="*/ 0 w 869040"/>
                <a:gd name="textAreaRight" fmla="*/ 869400 w 869040"/>
                <a:gd name="textAreaTop" fmla="*/ 0 h 2895840"/>
                <a:gd name="textAreaBottom" fmla="*/ 2896200 h 2895840"/>
              </a:gdLst>
              <a:ahLst/>
              <a:rect l="textAreaLeft" t="textAreaTop" r="textAreaRight" b="textAreaBottom"/>
              <a:pathLst>
                <a:path w="1159256" h="3861435">
                  <a:moveTo>
                    <a:pt x="0" y="0"/>
                  </a:moveTo>
                  <a:lnTo>
                    <a:pt x="1159256" y="0"/>
                  </a:lnTo>
                  <a:lnTo>
                    <a:pt x="1159256" y="3861435"/>
                  </a:lnTo>
                  <a:lnTo>
                    <a:pt x="0" y="3861435"/>
                  </a:lnTo>
                  <a:close/>
                </a:path>
              </a:pathLst>
            </a:custGeom>
            <a:solidFill>
              <a:srgbClr val="2d6dec"/>
            </a:solidFill>
            <a:ln cap="sq" w="19050">
              <a:solidFill>
                <a:srgbClr val="2d6de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69" name="Group 87"/>
          <p:cNvGrpSpPr/>
          <p:nvPr/>
        </p:nvGrpSpPr>
        <p:grpSpPr>
          <a:xfrm>
            <a:off x="2121480" y="5819040"/>
            <a:ext cx="1261440" cy="353520"/>
            <a:chOff x="2121480" y="5819040"/>
            <a:chExt cx="1261440" cy="353520"/>
          </a:xfrm>
        </p:grpSpPr>
        <p:sp>
          <p:nvSpPr>
            <p:cNvPr id="470" name="Freeform 88"/>
            <p:cNvSpPr/>
            <p:nvPr/>
          </p:nvSpPr>
          <p:spPr>
            <a:xfrm>
              <a:off x="2121480" y="5819040"/>
              <a:ext cx="1261440" cy="353520"/>
            </a:xfrm>
            <a:custGeom>
              <a:avLst/>
              <a:gdLst>
                <a:gd name="textAreaLeft" fmla="*/ 0 w 1261440"/>
                <a:gd name="textAreaRight" fmla="*/ 1261800 w 1261440"/>
                <a:gd name="textAreaTop" fmla="*/ 0 h 353520"/>
                <a:gd name="textAreaBottom" fmla="*/ 353880 h 353520"/>
              </a:gdLst>
              <a:ahLst/>
              <a:rect l="textAreaLeft" t="textAreaTop" r="textAreaRight" b="textAreaBottom"/>
              <a:pathLst>
                <a:path w="1682496" h="471977">
                  <a:moveTo>
                    <a:pt x="0" y="0"/>
                  </a:moveTo>
                  <a:lnTo>
                    <a:pt x="1682496" y="0"/>
                  </a:lnTo>
                  <a:lnTo>
                    <a:pt x="1682496" y="471977"/>
                  </a:lnTo>
                  <a:lnTo>
                    <a:pt x="0" y="471977"/>
                  </a:lnTo>
                  <a:close/>
                </a:path>
              </a:pathLst>
            </a:custGeom>
            <a:blipFill rotWithShape="0">
              <a:blip r:embed="rId18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71" name="TextBox 89"/>
            <p:cNvSpPr/>
            <p:nvPr/>
          </p:nvSpPr>
          <p:spPr>
            <a:xfrm>
              <a:off x="2121480" y="5825880"/>
              <a:ext cx="1261440" cy="34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ts val="2069"/>
                </a:lnSpc>
              </a:pPr>
              <a:r>
                <a:rPr b="1" lang="en-US" sz="1729" spc="-1" strike="noStrike">
                  <a:solidFill>
                    <a:srgbClr val="13294b"/>
                  </a:solidFill>
                  <a:latin typeface="Open Sans 1 Bold"/>
                  <a:ea typeface="Open Sans 1 Bold"/>
                </a:rPr>
                <a:t>92.0%</a:t>
              </a:r>
              <a:endParaRPr b="0" lang="es-ES" sz="1729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72" name="Group 90"/>
          <p:cNvGrpSpPr/>
          <p:nvPr/>
        </p:nvGrpSpPr>
        <p:grpSpPr>
          <a:xfrm>
            <a:off x="3305160" y="6190920"/>
            <a:ext cx="869040" cy="2870640"/>
            <a:chOff x="3305160" y="6190920"/>
            <a:chExt cx="869040" cy="2870640"/>
          </a:xfrm>
        </p:grpSpPr>
        <p:sp>
          <p:nvSpPr>
            <p:cNvPr id="473" name="Freeform 91"/>
            <p:cNvSpPr/>
            <p:nvPr/>
          </p:nvSpPr>
          <p:spPr>
            <a:xfrm>
              <a:off x="3305160" y="6190920"/>
              <a:ext cx="869040" cy="2870640"/>
            </a:xfrm>
            <a:custGeom>
              <a:avLst/>
              <a:gdLst>
                <a:gd name="textAreaLeft" fmla="*/ 0 w 869040"/>
                <a:gd name="textAreaRight" fmla="*/ 869400 w 869040"/>
                <a:gd name="textAreaTop" fmla="*/ 0 h 2870640"/>
                <a:gd name="textAreaBottom" fmla="*/ 2871000 h 2870640"/>
              </a:gdLst>
              <a:ahLst/>
              <a:rect l="textAreaLeft" t="textAreaTop" r="textAreaRight" b="textAreaBottom"/>
              <a:pathLst>
                <a:path w="1159256" h="3828161">
                  <a:moveTo>
                    <a:pt x="0" y="0"/>
                  </a:moveTo>
                  <a:lnTo>
                    <a:pt x="1159256" y="0"/>
                  </a:lnTo>
                  <a:lnTo>
                    <a:pt x="1159256" y="3828161"/>
                  </a:lnTo>
                  <a:lnTo>
                    <a:pt x="0" y="3828161"/>
                  </a:lnTo>
                  <a:close/>
                </a:path>
              </a:pathLst>
            </a:custGeom>
            <a:solidFill>
              <a:srgbClr val="fa7508"/>
            </a:solidFill>
            <a:ln cap="sq" w="19050">
              <a:solidFill>
                <a:srgbClr val="16a085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74" name="Group 92"/>
          <p:cNvGrpSpPr/>
          <p:nvPr/>
        </p:nvGrpSpPr>
        <p:grpSpPr>
          <a:xfrm>
            <a:off x="3108960" y="5843880"/>
            <a:ext cx="1261440" cy="353520"/>
            <a:chOff x="3108960" y="5843880"/>
            <a:chExt cx="1261440" cy="353520"/>
          </a:xfrm>
        </p:grpSpPr>
        <p:sp>
          <p:nvSpPr>
            <p:cNvPr id="475" name="Freeform 93"/>
            <p:cNvSpPr/>
            <p:nvPr/>
          </p:nvSpPr>
          <p:spPr>
            <a:xfrm>
              <a:off x="3108960" y="5843880"/>
              <a:ext cx="1261440" cy="353520"/>
            </a:xfrm>
            <a:custGeom>
              <a:avLst/>
              <a:gdLst>
                <a:gd name="textAreaLeft" fmla="*/ 0 w 1261440"/>
                <a:gd name="textAreaRight" fmla="*/ 1261800 w 1261440"/>
                <a:gd name="textAreaTop" fmla="*/ 0 h 353520"/>
                <a:gd name="textAreaBottom" fmla="*/ 353880 h 353520"/>
              </a:gdLst>
              <a:ahLst/>
              <a:rect l="textAreaLeft" t="textAreaTop" r="textAreaRight" b="textAreaBottom"/>
              <a:pathLst>
                <a:path w="1682496" h="471977">
                  <a:moveTo>
                    <a:pt x="0" y="0"/>
                  </a:moveTo>
                  <a:lnTo>
                    <a:pt x="1682496" y="0"/>
                  </a:lnTo>
                  <a:lnTo>
                    <a:pt x="1682496" y="471977"/>
                  </a:lnTo>
                  <a:lnTo>
                    <a:pt x="0" y="471977"/>
                  </a:lnTo>
                  <a:close/>
                </a:path>
              </a:pathLst>
            </a:custGeom>
            <a:blipFill rotWithShape="0">
              <a:blip r:embed="rId19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76" name="TextBox 94"/>
            <p:cNvSpPr/>
            <p:nvPr/>
          </p:nvSpPr>
          <p:spPr>
            <a:xfrm>
              <a:off x="3108960" y="5851080"/>
              <a:ext cx="1261440" cy="34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ts val="2069"/>
                </a:lnSpc>
              </a:pPr>
              <a:r>
                <a:rPr b="1" lang="en-US" sz="1729" spc="-1" strike="noStrike">
                  <a:solidFill>
                    <a:srgbClr val="13294b"/>
                  </a:solidFill>
                  <a:latin typeface="Open Sans 1 Bold"/>
                  <a:ea typeface="Open Sans 1 Bold"/>
                </a:rPr>
                <a:t>91.2%</a:t>
              </a:r>
              <a:endParaRPr b="0" lang="es-ES" sz="1729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77" name="Group 95"/>
          <p:cNvGrpSpPr/>
          <p:nvPr/>
        </p:nvGrpSpPr>
        <p:grpSpPr>
          <a:xfrm>
            <a:off x="1600200" y="9162360"/>
            <a:ext cx="3291480" cy="383760"/>
            <a:chOff x="1600200" y="9162360"/>
            <a:chExt cx="3291480" cy="383760"/>
          </a:xfrm>
        </p:grpSpPr>
        <p:sp>
          <p:nvSpPr>
            <p:cNvPr id="478" name="Freeform 96"/>
            <p:cNvSpPr/>
            <p:nvPr/>
          </p:nvSpPr>
          <p:spPr>
            <a:xfrm>
              <a:off x="1600200" y="9162360"/>
              <a:ext cx="3291480" cy="383760"/>
            </a:xfrm>
            <a:custGeom>
              <a:avLst/>
              <a:gdLst>
                <a:gd name="textAreaLeft" fmla="*/ 0 w 3291480"/>
                <a:gd name="textAreaRight" fmla="*/ 3291840 w 3291480"/>
                <a:gd name="textAreaTop" fmla="*/ 0 h 383760"/>
                <a:gd name="textAreaBottom" fmla="*/ 384120 h 383760"/>
              </a:gdLst>
              <a:ahLst/>
              <a:rect l="textAreaLeft" t="textAreaTop" r="textAreaRight" b="textAreaBottom"/>
              <a:pathLst>
                <a:path w="4389120" h="512064">
                  <a:moveTo>
                    <a:pt x="0" y="0"/>
                  </a:moveTo>
                  <a:lnTo>
                    <a:pt x="4389120" y="0"/>
                  </a:lnTo>
                  <a:lnTo>
                    <a:pt x="4389120" y="512064"/>
                  </a:lnTo>
                  <a:lnTo>
                    <a:pt x="0" y="512064"/>
                  </a:lnTo>
                  <a:close/>
                </a:path>
              </a:pathLst>
            </a:custGeom>
            <a:blipFill rotWithShape="0">
              <a:blip r:embed="rId20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79" name="TextBox 97"/>
            <p:cNvSpPr/>
            <p:nvPr/>
          </p:nvSpPr>
          <p:spPr>
            <a:xfrm>
              <a:off x="1600200" y="9169560"/>
              <a:ext cx="3291480" cy="376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ts val="2160"/>
                </a:lnSpc>
              </a:pPr>
              <a:r>
                <a:rPr b="1" lang="en-US" sz="1800" spc="-1" strike="noStrike">
                  <a:solidFill>
                    <a:srgbClr val="5b6478"/>
                  </a:solidFill>
                  <a:latin typeface="Open Sans 1 Bold"/>
                  <a:ea typeface="Open Sans 1 Bold"/>
                </a:rPr>
                <a:t>Original</a:t>
              </a:r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80" name="Group 98"/>
          <p:cNvGrpSpPr/>
          <p:nvPr/>
        </p:nvGrpSpPr>
        <p:grpSpPr>
          <a:xfrm>
            <a:off x="5929560" y="6015960"/>
            <a:ext cx="869040" cy="3045960"/>
            <a:chOff x="5929560" y="6015960"/>
            <a:chExt cx="869040" cy="3045960"/>
          </a:xfrm>
        </p:grpSpPr>
        <p:sp>
          <p:nvSpPr>
            <p:cNvPr id="481" name="Freeform 99"/>
            <p:cNvSpPr/>
            <p:nvPr/>
          </p:nvSpPr>
          <p:spPr>
            <a:xfrm>
              <a:off x="5929560" y="6015960"/>
              <a:ext cx="869040" cy="3045960"/>
            </a:xfrm>
            <a:custGeom>
              <a:avLst/>
              <a:gdLst>
                <a:gd name="textAreaLeft" fmla="*/ 0 w 869040"/>
                <a:gd name="textAreaRight" fmla="*/ 869400 w 869040"/>
                <a:gd name="textAreaTop" fmla="*/ 0 h 3045960"/>
                <a:gd name="textAreaBottom" fmla="*/ 3046320 h 3045960"/>
              </a:gdLst>
              <a:ahLst/>
              <a:rect l="textAreaLeft" t="textAreaTop" r="textAreaRight" b="textAreaBottom"/>
              <a:pathLst>
                <a:path w="1159256" h="4061587">
                  <a:moveTo>
                    <a:pt x="0" y="0"/>
                  </a:moveTo>
                  <a:lnTo>
                    <a:pt x="1159256" y="0"/>
                  </a:lnTo>
                  <a:lnTo>
                    <a:pt x="1159256" y="4061587"/>
                  </a:lnTo>
                  <a:lnTo>
                    <a:pt x="0" y="4061587"/>
                  </a:lnTo>
                  <a:close/>
                </a:path>
              </a:pathLst>
            </a:custGeom>
            <a:solidFill>
              <a:srgbClr val="2d6dec"/>
            </a:solidFill>
            <a:ln cap="sq" w="19050">
              <a:solidFill>
                <a:srgbClr val="2d6de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82" name="Group 100"/>
          <p:cNvGrpSpPr/>
          <p:nvPr/>
        </p:nvGrpSpPr>
        <p:grpSpPr>
          <a:xfrm>
            <a:off x="5733360" y="5668920"/>
            <a:ext cx="1261440" cy="353520"/>
            <a:chOff x="5733360" y="5668920"/>
            <a:chExt cx="1261440" cy="353520"/>
          </a:xfrm>
        </p:grpSpPr>
        <p:sp>
          <p:nvSpPr>
            <p:cNvPr id="483" name="Freeform 101"/>
            <p:cNvSpPr/>
            <p:nvPr/>
          </p:nvSpPr>
          <p:spPr>
            <a:xfrm>
              <a:off x="5733360" y="5668920"/>
              <a:ext cx="1261440" cy="353520"/>
            </a:xfrm>
            <a:custGeom>
              <a:avLst/>
              <a:gdLst>
                <a:gd name="textAreaLeft" fmla="*/ 0 w 1261440"/>
                <a:gd name="textAreaRight" fmla="*/ 1261800 w 1261440"/>
                <a:gd name="textAreaTop" fmla="*/ 0 h 353520"/>
                <a:gd name="textAreaBottom" fmla="*/ 353880 h 353520"/>
              </a:gdLst>
              <a:ahLst/>
              <a:rect l="textAreaLeft" t="textAreaTop" r="textAreaRight" b="textAreaBottom"/>
              <a:pathLst>
                <a:path w="1682496" h="471977">
                  <a:moveTo>
                    <a:pt x="0" y="0"/>
                  </a:moveTo>
                  <a:lnTo>
                    <a:pt x="1682496" y="0"/>
                  </a:lnTo>
                  <a:lnTo>
                    <a:pt x="1682496" y="471977"/>
                  </a:lnTo>
                  <a:lnTo>
                    <a:pt x="0" y="471977"/>
                  </a:lnTo>
                  <a:close/>
                </a:path>
              </a:pathLst>
            </a:custGeom>
            <a:blipFill rotWithShape="0">
              <a:blip r:embed="rId2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84" name="TextBox 102"/>
            <p:cNvSpPr/>
            <p:nvPr/>
          </p:nvSpPr>
          <p:spPr>
            <a:xfrm>
              <a:off x="5733360" y="5675760"/>
              <a:ext cx="1261440" cy="34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ts val="2069"/>
                </a:lnSpc>
              </a:pPr>
              <a:r>
                <a:rPr b="1" lang="en-US" sz="1729" spc="-1" strike="noStrike">
                  <a:solidFill>
                    <a:srgbClr val="13294b"/>
                  </a:solidFill>
                  <a:latin typeface="Open Sans 1 Bold"/>
                  <a:ea typeface="Open Sans 1 Bold"/>
                </a:rPr>
                <a:t>96.8%</a:t>
              </a:r>
              <a:endParaRPr b="0" lang="es-ES" sz="1729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85" name="Group 103"/>
          <p:cNvGrpSpPr/>
          <p:nvPr/>
        </p:nvGrpSpPr>
        <p:grpSpPr>
          <a:xfrm>
            <a:off x="6917040" y="6015960"/>
            <a:ext cx="869040" cy="3045960"/>
            <a:chOff x="6917040" y="6015960"/>
            <a:chExt cx="869040" cy="3045960"/>
          </a:xfrm>
        </p:grpSpPr>
        <p:sp>
          <p:nvSpPr>
            <p:cNvPr id="486" name="Freeform 104"/>
            <p:cNvSpPr/>
            <p:nvPr/>
          </p:nvSpPr>
          <p:spPr>
            <a:xfrm>
              <a:off x="6917040" y="6015960"/>
              <a:ext cx="869040" cy="3045960"/>
            </a:xfrm>
            <a:custGeom>
              <a:avLst/>
              <a:gdLst>
                <a:gd name="textAreaLeft" fmla="*/ 0 w 869040"/>
                <a:gd name="textAreaRight" fmla="*/ 869400 w 869040"/>
                <a:gd name="textAreaTop" fmla="*/ 0 h 3045960"/>
                <a:gd name="textAreaBottom" fmla="*/ 3046320 h 3045960"/>
              </a:gdLst>
              <a:ahLst/>
              <a:rect l="textAreaLeft" t="textAreaTop" r="textAreaRight" b="textAreaBottom"/>
              <a:pathLst>
                <a:path w="1159256" h="4061587">
                  <a:moveTo>
                    <a:pt x="0" y="0"/>
                  </a:moveTo>
                  <a:lnTo>
                    <a:pt x="1159256" y="0"/>
                  </a:lnTo>
                  <a:lnTo>
                    <a:pt x="1159256" y="4061587"/>
                  </a:lnTo>
                  <a:lnTo>
                    <a:pt x="0" y="4061587"/>
                  </a:lnTo>
                  <a:close/>
                </a:path>
              </a:pathLst>
            </a:custGeom>
            <a:solidFill>
              <a:srgbClr val="fa7508"/>
            </a:solidFill>
            <a:ln cap="sq" w="19050">
              <a:solidFill>
                <a:srgbClr val="16a085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87" name="Group 105"/>
          <p:cNvGrpSpPr/>
          <p:nvPr/>
        </p:nvGrpSpPr>
        <p:grpSpPr>
          <a:xfrm>
            <a:off x="6720840" y="5668920"/>
            <a:ext cx="1261440" cy="353520"/>
            <a:chOff x="6720840" y="5668920"/>
            <a:chExt cx="1261440" cy="353520"/>
          </a:xfrm>
        </p:grpSpPr>
        <p:sp>
          <p:nvSpPr>
            <p:cNvPr id="488" name="Freeform 106"/>
            <p:cNvSpPr/>
            <p:nvPr/>
          </p:nvSpPr>
          <p:spPr>
            <a:xfrm>
              <a:off x="6720840" y="5668920"/>
              <a:ext cx="1261440" cy="353520"/>
            </a:xfrm>
            <a:custGeom>
              <a:avLst/>
              <a:gdLst>
                <a:gd name="textAreaLeft" fmla="*/ 0 w 1261440"/>
                <a:gd name="textAreaRight" fmla="*/ 1261800 w 1261440"/>
                <a:gd name="textAreaTop" fmla="*/ 0 h 353520"/>
                <a:gd name="textAreaBottom" fmla="*/ 353880 h 353520"/>
              </a:gdLst>
              <a:ahLst/>
              <a:rect l="textAreaLeft" t="textAreaTop" r="textAreaRight" b="textAreaBottom"/>
              <a:pathLst>
                <a:path w="1682496" h="471977">
                  <a:moveTo>
                    <a:pt x="0" y="0"/>
                  </a:moveTo>
                  <a:lnTo>
                    <a:pt x="1682496" y="0"/>
                  </a:lnTo>
                  <a:lnTo>
                    <a:pt x="1682496" y="471977"/>
                  </a:lnTo>
                  <a:lnTo>
                    <a:pt x="0" y="471977"/>
                  </a:lnTo>
                  <a:close/>
                </a:path>
              </a:pathLst>
            </a:custGeom>
            <a:blipFill rotWithShape="0">
              <a:blip r:embed="rId2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89" name="TextBox 107"/>
            <p:cNvSpPr/>
            <p:nvPr/>
          </p:nvSpPr>
          <p:spPr>
            <a:xfrm>
              <a:off x="6720840" y="5675760"/>
              <a:ext cx="1261440" cy="34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ts val="2069"/>
                </a:lnSpc>
              </a:pPr>
              <a:r>
                <a:rPr b="1" lang="en-US" sz="1729" spc="-1" strike="noStrike">
                  <a:solidFill>
                    <a:srgbClr val="13294b"/>
                  </a:solidFill>
                  <a:latin typeface="Open Sans 1 Bold"/>
                  <a:ea typeface="Open Sans 1 Bold"/>
                </a:rPr>
                <a:t>96.8%</a:t>
              </a:r>
              <a:endParaRPr b="0" lang="es-ES" sz="1729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90" name="Group 108"/>
          <p:cNvGrpSpPr/>
          <p:nvPr/>
        </p:nvGrpSpPr>
        <p:grpSpPr>
          <a:xfrm>
            <a:off x="5212080" y="9162360"/>
            <a:ext cx="3291480" cy="383760"/>
            <a:chOff x="5212080" y="9162360"/>
            <a:chExt cx="3291480" cy="383760"/>
          </a:xfrm>
        </p:grpSpPr>
        <p:sp>
          <p:nvSpPr>
            <p:cNvPr id="491" name="Freeform 109"/>
            <p:cNvSpPr/>
            <p:nvPr/>
          </p:nvSpPr>
          <p:spPr>
            <a:xfrm>
              <a:off x="5212080" y="9162360"/>
              <a:ext cx="3291480" cy="383760"/>
            </a:xfrm>
            <a:custGeom>
              <a:avLst/>
              <a:gdLst>
                <a:gd name="textAreaLeft" fmla="*/ 0 w 3291480"/>
                <a:gd name="textAreaRight" fmla="*/ 3291840 w 3291480"/>
                <a:gd name="textAreaTop" fmla="*/ 0 h 383760"/>
                <a:gd name="textAreaBottom" fmla="*/ 384120 h 383760"/>
              </a:gdLst>
              <a:ahLst/>
              <a:rect l="textAreaLeft" t="textAreaTop" r="textAreaRight" b="textAreaBottom"/>
              <a:pathLst>
                <a:path w="4389120" h="512064">
                  <a:moveTo>
                    <a:pt x="0" y="0"/>
                  </a:moveTo>
                  <a:lnTo>
                    <a:pt x="4389120" y="0"/>
                  </a:lnTo>
                  <a:lnTo>
                    <a:pt x="4389120" y="512064"/>
                  </a:lnTo>
                  <a:lnTo>
                    <a:pt x="0" y="512064"/>
                  </a:lnTo>
                  <a:close/>
                </a:path>
              </a:pathLst>
            </a:custGeom>
            <a:blipFill rotWithShape="0">
              <a:blip r:embed="rId2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92" name="TextBox 110"/>
            <p:cNvSpPr/>
            <p:nvPr/>
          </p:nvSpPr>
          <p:spPr>
            <a:xfrm>
              <a:off x="5212080" y="9169560"/>
              <a:ext cx="3291480" cy="376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ts val="2160"/>
                </a:lnSpc>
              </a:pPr>
              <a:r>
                <a:rPr b="1" lang="en-US" sz="1800" spc="-1" strike="noStrike">
                  <a:solidFill>
                    <a:srgbClr val="5b6478"/>
                  </a:solidFill>
                  <a:latin typeface="Open Sans 1 Bold"/>
                  <a:ea typeface="Open Sans 1 Bold"/>
                </a:rPr>
                <a:t>Transmitted</a:t>
              </a:r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93" name="Group 111"/>
          <p:cNvGrpSpPr/>
          <p:nvPr/>
        </p:nvGrpSpPr>
        <p:grpSpPr>
          <a:xfrm>
            <a:off x="9541440" y="6140880"/>
            <a:ext cx="869040" cy="2920680"/>
            <a:chOff x="9541440" y="6140880"/>
            <a:chExt cx="869040" cy="2920680"/>
          </a:xfrm>
        </p:grpSpPr>
        <p:sp>
          <p:nvSpPr>
            <p:cNvPr id="494" name="Freeform 112"/>
            <p:cNvSpPr/>
            <p:nvPr/>
          </p:nvSpPr>
          <p:spPr>
            <a:xfrm>
              <a:off x="9541440" y="6140880"/>
              <a:ext cx="869040" cy="2920680"/>
            </a:xfrm>
            <a:custGeom>
              <a:avLst/>
              <a:gdLst>
                <a:gd name="textAreaLeft" fmla="*/ 0 w 869040"/>
                <a:gd name="textAreaRight" fmla="*/ 869400 w 869040"/>
                <a:gd name="textAreaTop" fmla="*/ 0 h 2920680"/>
                <a:gd name="textAreaBottom" fmla="*/ 2921040 h 2920680"/>
              </a:gdLst>
              <a:ahLst/>
              <a:rect l="textAreaLeft" t="textAreaTop" r="textAreaRight" b="textAreaBottom"/>
              <a:pathLst>
                <a:path w="1159256" h="3894836">
                  <a:moveTo>
                    <a:pt x="0" y="0"/>
                  </a:moveTo>
                  <a:lnTo>
                    <a:pt x="1159256" y="0"/>
                  </a:lnTo>
                  <a:lnTo>
                    <a:pt x="1159256" y="3894836"/>
                  </a:lnTo>
                  <a:lnTo>
                    <a:pt x="0" y="3894836"/>
                  </a:lnTo>
                  <a:close/>
                </a:path>
              </a:pathLst>
            </a:custGeom>
            <a:solidFill>
              <a:srgbClr val="2d6dec"/>
            </a:solidFill>
            <a:ln cap="sq" w="19050">
              <a:solidFill>
                <a:srgbClr val="2d6de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95" name="Group 113"/>
          <p:cNvGrpSpPr/>
          <p:nvPr/>
        </p:nvGrpSpPr>
        <p:grpSpPr>
          <a:xfrm>
            <a:off x="9345240" y="5793840"/>
            <a:ext cx="1261440" cy="353520"/>
            <a:chOff x="9345240" y="5793840"/>
            <a:chExt cx="1261440" cy="353520"/>
          </a:xfrm>
        </p:grpSpPr>
        <p:sp>
          <p:nvSpPr>
            <p:cNvPr id="496" name="Freeform 114"/>
            <p:cNvSpPr/>
            <p:nvPr/>
          </p:nvSpPr>
          <p:spPr>
            <a:xfrm>
              <a:off x="9345240" y="5793840"/>
              <a:ext cx="1261440" cy="353520"/>
            </a:xfrm>
            <a:custGeom>
              <a:avLst/>
              <a:gdLst>
                <a:gd name="textAreaLeft" fmla="*/ 0 w 1261440"/>
                <a:gd name="textAreaRight" fmla="*/ 1261800 w 1261440"/>
                <a:gd name="textAreaTop" fmla="*/ 0 h 353520"/>
                <a:gd name="textAreaBottom" fmla="*/ 353880 h 353520"/>
              </a:gdLst>
              <a:ahLst/>
              <a:rect l="textAreaLeft" t="textAreaTop" r="textAreaRight" b="textAreaBottom"/>
              <a:pathLst>
                <a:path w="1682496" h="471977">
                  <a:moveTo>
                    <a:pt x="0" y="0"/>
                  </a:moveTo>
                  <a:lnTo>
                    <a:pt x="1682496" y="0"/>
                  </a:lnTo>
                  <a:lnTo>
                    <a:pt x="1682496" y="471977"/>
                  </a:lnTo>
                  <a:lnTo>
                    <a:pt x="0" y="471977"/>
                  </a:lnTo>
                  <a:close/>
                </a:path>
              </a:pathLst>
            </a:custGeom>
            <a:blipFill rotWithShape="0">
              <a:blip r:embed="rId2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97" name="TextBox 115"/>
            <p:cNvSpPr/>
            <p:nvPr/>
          </p:nvSpPr>
          <p:spPr>
            <a:xfrm>
              <a:off x="9345240" y="5801040"/>
              <a:ext cx="1261440" cy="34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ts val="2069"/>
                </a:lnSpc>
              </a:pPr>
              <a:r>
                <a:rPr b="1" lang="en-US" sz="1729" spc="-1" strike="noStrike">
                  <a:solidFill>
                    <a:srgbClr val="13294b"/>
                  </a:solidFill>
                  <a:latin typeface="Open Sans 1 Bold"/>
                  <a:ea typeface="Open Sans 1 Bold"/>
                </a:rPr>
                <a:t>92.8%</a:t>
              </a:r>
              <a:endParaRPr b="0" lang="es-ES" sz="1729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98" name="Group 116"/>
          <p:cNvGrpSpPr/>
          <p:nvPr/>
        </p:nvGrpSpPr>
        <p:grpSpPr>
          <a:xfrm>
            <a:off x="10528920" y="6140880"/>
            <a:ext cx="869040" cy="2920680"/>
            <a:chOff x="10528920" y="6140880"/>
            <a:chExt cx="869040" cy="2920680"/>
          </a:xfrm>
        </p:grpSpPr>
        <p:sp>
          <p:nvSpPr>
            <p:cNvPr id="499" name="Freeform 117"/>
            <p:cNvSpPr/>
            <p:nvPr/>
          </p:nvSpPr>
          <p:spPr>
            <a:xfrm>
              <a:off x="10528920" y="6140880"/>
              <a:ext cx="869040" cy="2920680"/>
            </a:xfrm>
            <a:custGeom>
              <a:avLst/>
              <a:gdLst>
                <a:gd name="textAreaLeft" fmla="*/ 0 w 869040"/>
                <a:gd name="textAreaRight" fmla="*/ 869400 w 869040"/>
                <a:gd name="textAreaTop" fmla="*/ 0 h 2920680"/>
                <a:gd name="textAreaBottom" fmla="*/ 2921040 h 2920680"/>
              </a:gdLst>
              <a:ahLst/>
              <a:rect l="textAreaLeft" t="textAreaTop" r="textAreaRight" b="textAreaBottom"/>
              <a:pathLst>
                <a:path w="1159256" h="3894836">
                  <a:moveTo>
                    <a:pt x="0" y="0"/>
                  </a:moveTo>
                  <a:lnTo>
                    <a:pt x="1159256" y="0"/>
                  </a:lnTo>
                  <a:lnTo>
                    <a:pt x="1159256" y="3894836"/>
                  </a:lnTo>
                  <a:lnTo>
                    <a:pt x="0" y="3894836"/>
                  </a:lnTo>
                  <a:close/>
                </a:path>
              </a:pathLst>
            </a:custGeom>
            <a:solidFill>
              <a:srgbClr val="fa7508"/>
            </a:solidFill>
            <a:ln cap="sq" w="19050">
              <a:solidFill>
                <a:srgbClr val="16a085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00" name="Group 118"/>
          <p:cNvGrpSpPr/>
          <p:nvPr/>
        </p:nvGrpSpPr>
        <p:grpSpPr>
          <a:xfrm>
            <a:off x="10332720" y="5793840"/>
            <a:ext cx="1261440" cy="353520"/>
            <a:chOff x="10332720" y="5793840"/>
            <a:chExt cx="1261440" cy="353520"/>
          </a:xfrm>
        </p:grpSpPr>
        <p:sp>
          <p:nvSpPr>
            <p:cNvPr id="501" name="Freeform 119"/>
            <p:cNvSpPr/>
            <p:nvPr/>
          </p:nvSpPr>
          <p:spPr>
            <a:xfrm>
              <a:off x="10332720" y="5793840"/>
              <a:ext cx="1261440" cy="353520"/>
            </a:xfrm>
            <a:custGeom>
              <a:avLst/>
              <a:gdLst>
                <a:gd name="textAreaLeft" fmla="*/ 0 w 1261440"/>
                <a:gd name="textAreaRight" fmla="*/ 1261800 w 1261440"/>
                <a:gd name="textAreaTop" fmla="*/ 0 h 353520"/>
                <a:gd name="textAreaBottom" fmla="*/ 353880 h 353520"/>
              </a:gdLst>
              <a:ahLst/>
              <a:rect l="textAreaLeft" t="textAreaTop" r="textAreaRight" b="textAreaBottom"/>
              <a:pathLst>
                <a:path w="1682496" h="471977">
                  <a:moveTo>
                    <a:pt x="0" y="0"/>
                  </a:moveTo>
                  <a:lnTo>
                    <a:pt x="1682496" y="0"/>
                  </a:lnTo>
                  <a:lnTo>
                    <a:pt x="1682496" y="471977"/>
                  </a:lnTo>
                  <a:lnTo>
                    <a:pt x="0" y="471977"/>
                  </a:lnTo>
                  <a:close/>
                </a:path>
              </a:pathLst>
            </a:custGeom>
            <a:blipFill rotWithShape="0">
              <a:blip r:embed="rId2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02" name="TextBox 120"/>
            <p:cNvSpPr/>
            <p:nvPr/>
          </p:nvSpPr>
          <p:spPr>
            <a:xfrm>
              <a:off x="10332720" y="5801040"/>
              <a:ext cx="1261440" cy="34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ts val="2069"/>
                </a:lnSpc>
              </a:pPr>
              <a:r>
                <a:rPr b="1" lang="en-US" sz="1729" spc="-1" strike="noStrike">
                  <a:solidFill>
                    <a:srgbClr val="13294b"/>
                  </a:solidFill>
                  <a:latin typeface="Open Sans 1 Bold"/>
                  <a:ea typeface="Open Sans 1 Bold"/>
                </a:rPr>
                <a:t>92.8%</a:t>
              </a:r>
              <a:endParaRPr b="0" lang="es-ES" sz="1729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03" name="Group 121"/>
          <p:cNvGrpSpPr/>
          <p:nvPr/>
        </p:nvGrpSpPr>
        <p:grpSpPr>
          <a:xfrm>
            <a:off x="8823960" y="9162360"/>
            <a:ext cx="3291480" cy="383760"/>
            <a:chOff x="8823960" y="9162360"/>
            <a:chExt cx="3291480" cy="383760"/>
          </a:xfrm>
        </p:grpSpPr>
        <p:sp>
          <p:nvSpPr>
            <p:cNvPr id="504" name="Freeform 122"/>
            <p:cNvSpPr/>
            <p:nvPr/>
          </p:nvSpPr>
          <p:spPr>
            <a:xfrm>
              <a:off x="8823960" y="9162360"/>
              <a:ext cx="3291480" cy="383760"/>
            </a:xfrm>
            <a:custGeom>
              <a:avLst/>
              <a:gdLst>
                <a:gd name="textAreaLeft" fmla="*/ 0 w 3291480"/>
                <a:gd name="textAreaRight" fmla="*/ 3291840 w 3291480"/>
                <a:gd name="textAreaTop" fmla="*/ 0 h 383760"/>
                <a:gd name="textAreaBottom" fmla="*/ 384120 h 383760"/>
              </a:gdLst>
              <a:ahLst/>
              <a:rect l="textAreaLeft" t="textAreaTop" r="textAreaRight" b="textAreaBottom"/>
              <a:pathLst>
                <a:path w="4389120" h="512064">
                  <a:moveTo>
                    <a:pt x="0" y="0"/>
                  </a:moveTo>
                  <a:lnTo>
                    <a:pt x="4389120" y="0"/>
                  </a:lnTo>
                  <a:lnTo>
                    <a:pt x="4389120" y="512064"/>
                  </a:lnTo>
                  <a:lnTo>
                    <a:pt x="0" y="512064"/>
                  </a:lnTo>
                  <a:close/>
                </a:path>
              </a:pathLst>
            </a:custGeom>
            <a:blipFill rotWithShape="0">
              <a:blip r:embed="rId26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05" name="TextBox 123"/>
            <p:cNvSpPr/>
            <p:nvPr/>
          </p:nvSpPr>
          <p:spPr>
            <a:xfrm>
              <a:off x="8823960" y="9169560"/>
              <a:ext cx="3291480" cy="376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ts val="2160"/>
                </a:lnSpc>
              </a:pPr>
              <a:r>
                <a:rPr b="1" lang="en-US" sz="1800" spc="-1" strike="noStrike">
                  <a:solidFill>
                    <a:srgbClr val="5b6478"/>
                  </a:solidFill>
                  <a:latin typeface="Open Sans 1 Bold"/>
                  <a:ea typeface="Open Sans 1 Bold"/>
                </a:rPr>
                <a:t>Redigitalized</a:t>
              </a:r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06" name="Group 124"/>
          <p:cNvGrpSpPr/>
          <p:nvPr/>
        </p:nvGrpSpPr>
        <p:grpSpPr>
          <a:xfrm>
            <a:off x="12814920" y="5668920"/>
            <a:ext cx="4723200" cy="3423240"/>
            <a:chOff x="12814920" y="5668920"/>
            <a:chExt cx="4723200" cy="3423240"/>
          </a:xfrm>
        </p:grpSpPr>
        <p:sp>
          <p:nvSpPr>
            <p:cNvPr id="507" name="Freeform 125"/>
            <p:cNvSpPr/>
            <p:nvPr/>
          </p:nvSpPr>
          <p:spPr>
            <a:xfrm>
              <a:off x="12814920" y="5668920"/>
              <a:ext cx="4723200" cy="3423240"/>
            </a:xfrm>
            <a:custGeom>
              <a:avLst/>
              <a:gdLst>
                <a:gd name="textAreaLeft" fmla="*/ 0 w 4723200"/>
                <a:gd name="textAreaRight" fmla="*/ 4723560 w 4723200"/>
                <a:gd name="textAreaTop" fmla="*/ 0 h 3423240"/>
                <a:gd name="textAreaBottom" fmla="*/ 3423600 h 3423240"/>
              </a:gdLst>
              <a:ahLst/>
              <a:rect l="textAreaLeft" t="textAreaTop" r="textAreaRight" b="textAreaBottom"/>
              <a:pathLst>
                <a:path w="6298184" h="4564659">
                  <a:moveTo>
                    <a:pt x="0" y="0"/>
                  </a:moveTo>
                  <a:lnTo>
                    <a:pt x="6298184" y="0"/>
                  </a:lnTo>
                  <a:lnTo>
                    <a:pt x="6298184" y="4564659"/>
                  </a:lnTo>
                  <a:lnTo>
                    <a:pt x="0" y="4564659"/>
                  </a:lnTo>
                  <a:close/>
                </a:path>
              </a:pathLst>
            </a:custGeom>
            <a:solidFill>
              <a:srgbClr val="0e2240"/>
            </a:solidFill>
            <a:ln cap="sq" w="19050">
              <a:solidFill>
                <a:srgbClr val="0e224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508" name="TextBox 126"/>
          <p:cNvSpPr/>
          <p:nvPr/>
        </p:nvSpPr>
        <p:spPr>
          <a:xfrm>
            <a:off x="13209840" y="5960880"/>
            <a:ext cx="3945600" cy="15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4198"/>
              </a:lnSpc>
            </a:pPr>
            <a:r>
              <a:rPr b="1" lang="en-US" sz="3500" spc="-1" strike="noStrike">
                <a:solidFill>
                  <a:srgbClr val="ffffff"/>
                </a:solidFill>
                <a:latin typeface="Playfair Display Bold"/>
                <a:ea typeface="Playfair Display Bold"/>
              </a:rPr>
              <a:t>Transmission does not hurt detection.</a:t>
            </a:r>
            <a:endParaRPr b="0" lang="es-ES" sz="35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09" name="Group 127"/>
          <p:cNvGrpSpPr/>
          <p:nvPr/>
        </p:nvGrpSpPr>
        <p:grpSpPr>
          <a:xfrm>
            <a:off x="13279320" y="7648920"/>
            <a:ext cx="4000680" cy="91080"/>
            <a:chOff x="13279320" y="7648920"/>
            <a:chExt cx="4000680" cy="91080"/>
          </a:xfrm>
        </p:grpSpPr>
        <p:sp>
          <p:nvSpPr>
            <p:cNvPr id="510" name="Freeform 128"/>
            <p:cNvSpPr/>
            <p:nvPr/>
          </p:nvSpPr>
          <p:spPr>
            <a:xfrm>
              <a:off x="13279320" y="7648920"/>
              <a:ext cx="4000680" cy="91080"/>
            </a:xfrm>
            <a:custGeom>
              <a:avLst/>
              <a:gdLst>
                <a:gd name="textAreaLeft" fmla="*/ 0 w 4000680"/>
                <a:gd name="textAreaRight" fmla="*/ 4001040 w 4000680"/>
                <a:gd name="textAreaTop" fmla="*/ 0 h 91080"/>
                <a:gd name="textAreaBottom" fmla="*/ 91440 h 91080"/>
              </a:gdLst>
              <a:ahLst/>
              <a:rect l="textAreaLeft" t="textAreaTop" r="textAreaRight" b="textAreaBottom"/>
              <a:pathLst>
                <a:path w="1488440" h="33983">
                  <a:moveTo>
                    <a:pt x="0" y="0"/>
                  </a:moveTo>
                  <a:lnTo>
                    <a:pt x="1488440" y="0"/>
                  </a:lnTo>
                  <a:lnTo>
                    <a:pt x="1488440" y="33983"/>
                  </a:lnTo>
                  <a:lnTo>
                    <a:pt x="0" y="33983"/>
                  </a:lnTo>
                  <a:close/>
                </a:path>
              </a:pathLst>
            </a:custGeom>
            <a:solidFill>
              <a:srgbClr val="f7f9fc"/>
            </a:solidFill>
            <a:ln cap="sq" w="1905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511" name="TextBox 129"/>
          <p:cNvSpPr/>
          <p:nvPr/>
        </p:nvSpPr>
        <p:spPr>
          <a:xfrm>
            <a:off x="13304520" y="7937280"/>
            <a:ext cx="385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216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Open Sans 1 Bold"/>
                <a:ea typeface="Open Sans 1 Bold"/>
              </a:rPr>
              <a:t>accuracy never drops below 91%.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TextBox 130"/>
          <p:cNvSpPr/>
          <p:nvPr/>
        </p:nvSpPr>
        <p:spPr>
          <a:xfrm>
            <a:off x="14130000" y="9613440"/>
            <a:ext cx="6797520" cy="39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3078"/>
              </a:lnSpc>
            </a:pPr>
            <a:r>
              <a:rPr b="1" lang="en-US" sz="2200" spc="-1" strike="noStrike">
                <a:solidFill>
                  <a:srgbClr val="4d4b66"/>
                </a:solidFill>
                <a:latin typeface="Montserrat Bold"/>
                <a:ea typeface="Montserrat Bold"/>
              </a:rPr>
              <a:t>11/15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13" name="Picture 131" descr=""/>
          <p:cNvPicPr/>
          <p:nvPr/>
        </p:nvPicPr>
        <p:blipFill>
          <a:blip r:embed="rId27"/>
          <a:stretch/>
        </p:blipFill>
        <p:spPr>
          <a:xfrm>
            <a:off x="7756200" y="632880"/>
            <a:ext cx="2718000" cy="956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4" name="Group 2"/>
          <p:cNvGrpSpPr/>
          <p:nvPr/>
        </p:nvGrpSpPr>
        <p:grpSpPr>
          <a:xfrm>
            <a:off x="540000" y="556920"/>
            <a:ext cx="1088640" cy="1088640"/>
            <a:chOff x="540000" y="556920"/>
            <a:chExt cx="1088640" cy="1088640"/>
          </a:xfrm>
        </p:grpSpPr>
        <p:sp>
          <p:nvSpPr>
            <p:cNvPr id="515" name="Freeform 3"/>
            <p:cNvSpPr/>
            <p:nvPr/>
          </p:nvSpPr>
          <p:spPr>
            <a:xfrm>
              <a:off x="540000" y="556920"/>
              <a:ext cx="1088640" cy="1088640"/>
            </a:xfrm>
            <a:custGeom>
              <a:avLst/>
              <a:gdLst>
                <a:gd name="textAreaLeft" fmla="*/ 0 w 1088640"/>
                <a:gd name="textAreaRight" fmla="*/ 1089000 w 1088640"/>
                <a:gd name="textAreaTop" fmla="*/ 0 h 1088640"/>
                <a:gd name="textAreaBottom" fmla="*/ 1089000 h 1088640"/>
              </a:gdLst>
              <a:ahLst/>
              <a:rect l="textAreaLeft" t="textAreaTop" r="textAreaRight" b="textAreaBottom"/>
              <a:pathLst>
                <a:path w="1451864" h="1451864">
                  <a:moveTo>
                    <a:pt x="0" y="725932"/>
                  </a:moveTo>
                  <a:cubicBezTo>
                    <a:pt x="0" y="324993"/>
                    <a:pt x="324993" y="0"/>
                    <a:pt x="725932" y="0"/>
                  </a:cubicBezTo>
                  <a:cubicBezTo>
                    <a:pt x="1126871" y="0"/>
                    <a:pt x="1451864" y="324993"/>
                    <a:pt x="1451864" y="725932"/>
                  </a:cubicBezTo>
                  <a:cubicBezTo>
                    <a:pt x="1451864" y="1126871"/>
                    <a:pt x="1126871" y="1451864"/>
                    <a:pt x="725932" y="1451864"/>
                  </a:cubicBezTo>
                  <a:cubicBezTo>
                    <a:pt x="324993" y="1451864"/>
                    <a:pt x="0" y="1126871"/>
                    <a:pt x="0" y="725932"/>
                  </a:cubicBezTo>
                  <a:close/>
                </a:path>
              </a:pathLst>
            </a:custGeom>
            <a:solidFill>
              <a:srgbClr val="13294b"/>
            </a:solidFill>
            <a:ln cap="sq" w="19050">
              <a:solidFill>
                <a:srgbClr val="13294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516" name="Group 4"/>
          <p:cNvGrpSpPr/>
          <p:nvPr/>
        </p:nvGrpSpPr>
        <p:grpSpPr>
          <a:xfrm>
            <a:off x="559080" y="556920"/>
            <a:ext cx="1069560" cy="1069560"/>
            <a:chOff x="559080" y="556920"/>
            <a:chExt cx="1069560" cy="1069560"/>
          </a:xfrm>
        </p:grpSpPr>
        <p:sp>
          <p:nvSpPr>
            <p:cNvPr id="517" name="Freeform 5"/>
            <p:cNvSpPr/>
            <p:nvPr/>
          </p:nvSpPr>
          <p:spPr>
            <a:xfrm>
              <a:off x="559080" y="556920"/>
              <a:ext cx="1069560" cy="1069560"/>
            </a:xfrm>
            <a:custGeom>
              <a:avLst/>
              <a:gdLst>
                <a:gd name="textAreaLeft" fmla="*/ 0 w 1069560"/>
                <a:gd name="textAreaRight" fmla="*/ 1069920 w 1069560"/>
                <a:gd name="textAreaTop" fmla="*/ 0 h 1069560"/>
                <a:gd name="textAreaBottom" fmla="*/ 1069920 h 1069560"/>
              </a:gdLst>
              <a:ahLst/>
              <a:rect l="textAreaLeft" t="textAreaTop" r="textAreaRight" b="textAreaBottom"/>
              <a:pathLst>
                <a:path w="1426464" h="1426464">
                  <a:moveTo>
                    <a:pt x="0" y="0"/>
                  </a:moveTo>
                  <a:lnTo>
                    <a:pt x="1426464" y="0"/>
                  </a:lnTo>
                  <a:lnTo>
                    <a:pt x="1426464" y="1426464"/>
                  </a:lnTo>
                  <a:lnTo>
                    <a:pt x="0" y="1426464"/>
                  </a:lnTo>
                  <a:close/>
                </a:path>
              </a:pathLst>
            </a:custGeom>
            <a:blipFill rotWithShape="0">
              <a:blip r:embed="rId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18" name="TextBox 6"/>
            <p:cNvSpPr/>
            <p:nvPr/>
          </p:nvSpPr>
          <p:spPr>
            <a:xfrm>
              <a:off x="559080" y="556920"/>
              <a:ext cx="1069560" cy="1069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ts val="3960"/>
                </a:lnSpc>
              </a:pPr>
              <a:r>
                <a:rPr b="1" lang="en-US" sz="3300" spc="-1" strike="noStrike">
                  <a:solidFill>
                    <a:srgbClr val="ffffff"/>
                  </a:solidFill>
                  <a:latin typeface="Georgia Bold"/>
                  <a:ea typeface="Georgia Bold"/>
                </a:rPr>
                <a:t>08</a:t>
              </a:r>
              <a:endParaRPr b="0" lang="es-ES" sz="33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19" name="Group 7"/>
          <p:cNvGrpSpPr/>
          <p:nvPr/>
        </p:nvGrpSpPr>
        <p:grpSpPr>
          <a:xfrm>
            <a:off x="1833480" y="438840"/>
            <a:ext cx="14497560" cy="1343880"/>
            <a:chOff x="1833480" y="438840"/>
            <a:chExt cx="14497560" cy="1343880"/>
          </a:xfrm>
        </p:grpSpPr>
        <p:sp>
          <p:nvSpPr>
            <p:cNvPr id="520" name="Freeform 8"/>
            <p:cNvSpPr/>
            <p:nvPr/>
          </p:nvSpPr>
          <p:spPr>
            <a:xfrm>
              <a:off x="1833480" y="438840"/>
              <a:ext cx="14497560" cy="1343880"/>
            </a:xfrm>
            <a:custGeom>
              <a:avLst/>
              <a:gdLst>
                <a:gd name="textAreaLeft" fmla="*/ 0 w 14497560"/>
                <a:gd name="textAreaRight" fmla="*/ 14497920 w 14497560"/>
                <a:gd name="textAreaTop" fmla="*/ 0 h 1343880"/>
                <a:gd name="textAreaBottom" fmla="*/ 1344240 h 1343880"/>
              </a:gdLst>
              <a:ahLst/>
              <a:rect l="textAreaLeft" t="textAreaTop" r="textAreaRight" b="textAreaBottom"/>
              <a:pathLst>
                <a:path w="18836639" h="1792224">
                  <a:moveTo>
                    <a:pt x="0" y="0"/>
                  </a:moveTo>
                  <a:lnTo>
                    <a:pt x="18836639" y="0"/>
                  </a:lnTo>
                  <a:lnTo>
                    <a:pt x="18836639" y="1792224"/>
                  </a:lnTo>
                  <a:lnTo>
                    <a:pt x="0" y="1792224"/>
                  </a:lnTo>
                  <a:close/>
                </a:path>
              </a:pathLst>
            </a:custGeom>
            <a:blipFill rotWithShape="0">
              <a:blip r:embed="rId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21" name="TextBox 9"/>
            <p:cNvSpPr/>
            <p:nvPr/>
          </p:nvSpPr>
          <p:spPr>
            <a:xfrm>
              <a:off x="1833480" y="438840"/>
              <a:ext cx="14497560" cy="1343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6120"/>
                </a:lnSpc>
              </a:pPr>
              <a:r>
                <a:rPr b="1" lang="en-US" sz="5100" spc="-1" strike="noStrike">
                  <a:solidFill>
                    <a:srgbClr val="13294b"/>
                  </a:solidFill>
                  <a:latin typeface="Playfair Display Bold"/>
                  <a:ea typeface="Playfair Display Bold"/>
                </a:rPr>
                <a:t>Model Evaluation (                  )</a:t>
              </a:r>
              <a:endParaRPr b="0" lang="es-ES" sz="51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22" name="Group 10"/>
          <p:cNvGrpSpPr/>
          <p:nvPr/>
        </p:nvGrpSpPr>
        <p:grpSpPr>
          <a:xfrm>
            <a:off x="744840" y="1938240"/>
            <a:ext cx="16797600" cy="39240"/>
            <a:chOff x="744840" y="1938240"/>
            <a:chExt cx="16797600" cy="39240"/>
          </a:xfrm>
        </p:grpSpPr>
        <p:sp>
          <p:nvSpPr>
            <p:cNvPr id="523" name="Freeform 11"/>
            <p:cNvSpPr/>
            <p:nvPr/>
          </p:nvSpPr>
          <p:spPr>
            <a:xfrm>
              <a:off x="744840" y="1938240"/>
              <a:ext cx="16797600" cy="39240"/>
            </a:xfrm>
            <a:custGeom>
              <a:avLst/>
              <a:gdLst>
                <a:gd name="textAreaLeft" fmla="*/ 0 w 16797600"/>
                <a:gd name="textAreaRight" fmla="*/ 16797960 w 16797600"/>
                <a:gd name="textAreaTop" fmla="*/ 0 h 39240"/>
                <a:gd name="textAreaBottom" fmla="*/ 39600 h 39240"/>
              </a:gdLst>
              <a:ahLst/>
              <a:rect l="textAreaLeft" t="textAreaTop" r="textAreaRight" b="textAreaBottom"/>
              <a:pathLst>
                <a:path w="22397086" h="52832">
                  <a:moveTo>
                    <a:pt x="0" y="0"/>
                  </a:moveTo>
                  <a:lnTo>
                    <a:pt x="22397086" y="0"/>
                  </a:lnTo>
                  <a:lnTo>
                    <a:pt x="22397086" y="52832"/>
                  </a:lnTo>
                  <a:lnTo>
                    <a:pt x="0" y="52832"/>
                  </a:lnTo>
                  <a:close/>
                </a:path>
              </a:pathLst>
            </a:custGeom>
            <a:solidFill>
              <a:srgbClr val="d8dee8"/>
            </a:solidFill>
            <a:ln cap="sq" w="19050">
              <a:solidFill>
                <a:srgbClr val="d8dee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400" bIns="-54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24" name="Group 12"/>
          <p:cNvGrpSpPr/>
          <p:nvPr/>
        </p:nvGrpSpPr>
        <p:grpSpPr>
          <a:xfrm>
            <a:off x="747360" y="2351880"/>
            <a:ext cx="7445160" cy="1961640"/>
            <a:chOff x="747360" y="2351880"/>
            <a:chExt cx="7445160" cy="1961640"/>
          </a:xfrm>
        </p:grpSpPr>
        <p:sp>
          <p:nvSpPr>
            <p:cNvPr id="525" name="Freeform 13"/>
            <p:cNvSpPr/>
            <p:nvPr/>
          </p:nvSpPr>
          <p:spPr>
            <a:xfrm>
              <a:off x="747360" y="2351880"/>
              <a:ext cx="7445160" cy="1961640"/>
            </a:xfrm>
            <a:custGeom>
              <a:avLst/>
              <a:gdLst>
                <a:gd name="textAreaLeft" fmla="*/ 0 w 7445160"/>
                <a:gd name="textAreaRight" fmla="*/ 7445520 w 7445160"/>
                <a:gd name="textAreaTop" fmla="*/ 0 h 1961640"/>
                <a:gd name="textAreaBottom" fmla="*/ 1962000 h 1961640"/>
              </a:gdLst>
              <a:ahLst/>
              <a:rect l="textAreaLeft" t="textAreaTop" r="textAreaRight" b="textAreaBottom"/>
              <a:pathLst>
                <a:path w="9927390" h="2615946">
                  <a:moveTo>
                    <a:pt x="0" y="0"/>
                  </a:moveTo>
                  <a:lnTo>
                    <a:pt x="9927390" y="0"/>
                  </a:lnTo>
                  <a:lnTo>
                    <a:pt x="9927390" y="2615946"/>
                  </a:lnTo>
                  <a:lnTo>
                    <a:pt x="0" y="2615946"/>
                  </a:lnTo>
                  <a:close/>
                </a:path>
              </a:pathLst>
            </a:custGeom>
            <a:solidFill>
              <a:srgbClr val="f7f9fc"/>
            </a:solidFill>
            <a:ln cap="sq" w="14288">
              <a:solidFill>
                <a:srgbClr val="dde3e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26" name="Group 14"/>
          <p:cNvGrpSpPr/>
          <p:nvPr/>
        </p:nvGrpSpPr>
        <p:grpSpPr>
          <a:xfrm>
            <a:off x="744840" y="2349720"/>
            <a:ext cx="135360" cy="1966320"/>
            <a:chOff x="744840" y="2349720"/>
            <a:chExt cx="135360" cy="1966320"/>
          </a:xfrm>
        </p:grpSpPr>
        <p:sp>
          <p:nvSpPr>
            <p:cNvPr id="527" name="Freeform 15"/>
            <p:cNvSpPr/>
            <p:nvPr/>
          </p:nvSpPr>
          <p:spPr>
            <a:xfrm>
              <a:off x="744840" y="2349720"/>
              <a:ext cx="135360" cy="1966320"/>
            </a:xfrm>
            <a:custGeom>
              <a:avLst/>
              <a:gdLst>
                <a:gd name="textAreaLeft" fmla="*/ 0 w 135360"/>
                <a:gd name="textAreaRight" fmla="*/ 135720 w 135360"/>
                <a:gd name="textAreaTop" fmla="*/ 0 h 1966320"/>
                <a:gd name="textAreaBottom" fmla="*/ 1966680 h 1966320"/>
              </a:gdLst>
              <a:ahLst/>
              <a:rect l="textAreaLeft" t="textAreaTop" r="textAreaRight" b="textAreaBottom"/>
              <a:pathLst>
                <a:path w="180848" h="2622296">
                  <a:moveTo>
                    <a:pt x="0" y="0"/>
                  </a:moveTo>
                  <a:lnTo>
                    <a:pt x="180848" y="0"/>
                  </a:lnTo>
                  <a:lnTo>
                    <a:pt x="180848" y="2622296"/>
                  </a:lnTo>
                  <a:lnTo>
                    <a:pt x="0" y="2622296"/>
                  </a:lnTo>
                  <a:close/>
                </a:path>
              </a:pathLst>
            </a:custGeom>
            <a:solidFill>
              <a:srgbClr val="0e2240"/>
            </a:solidFill>
            <a:ln cap="sq" w="19050">
              <a:solidFill>
                <a:srgbClr val="2d6de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528" name="Group 16"/>
          <p:cNvGrpSpPr/>
          <p:nvPr/>
        </p:nvGrpSpPr>
        <p:grpSpPr>
          <a:xfrm>
            <a:off x="2777400" y="2953440"/>
            <a:ext cx="4673520" cy="1281600"/>
            <a:chOff x="2777400" y="2953440"/>
            <a:chExt cx="4673520" cy="1281600"/>
          </a:xfrm>
        </p:grpSpPr>
        <p:sp>
          <p:nvSpPr>
            <p:cNvPr id="529" name="Freeform 17"/>
            <p:cNvSpPr/>
            <p:nvPr/>
          </p:nvSpPr>
          <p:spPr>
            <a:xfrm>
              <a:off x="2777400" y="2953440"/>
              <a:ext cx="4673520" cy="1281600"/>
            </a:xfrm>
            <a:custGeom>
              <a:avLst/>
              <a:gdLst>
                <a:gd name="textAreaLeft" fmla="*/ 0 w 4673520"/>
                <a:gd name="textAreaRight" fmla="*/ 4673880 w 4673520"/>
                <a:gd name="textAreaTop" fmla="*/ 0 h 1281600"/>
                <a:gd name="textAreaBottom" fmla="*/ 1281960 h 1281600"/>
              </a:gdLst>
              <a:ahLst/>
              <a:rect l="textAreaLeft" t="textAreaTop" r="textAreaRight" b="textAreaBottom"/>
              <a:pathLst>
                <a:path w="6231940" h="1709420">
                  <a:moveTo>
                    <a:pt x="0" y="0"/>
                  </a:moveTo>
                  <a:lnTo>
                    <a:pt x="6231940" y="0"/>
                  </a:lnTo>
                  <a:lnTo>
                    <a:pt x="6231940" y="1709420"/>
                  </a:lnTo>
                  <a:lnTo>
                    <a:pt x="0" y="1709420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30" name="TextBox 18"/>
            <p:cNvSpPr/>
            <p:nvPr/>
          </p:nvSpPr>
          <p:spPr>
            <a:xfrm>
              <a:off x="2777400" y="2953440"/>
              <a:ext cx="4673520" cy="1281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ts val="6001"/>
                </a:lnSpc>
              </a:pPr>
              <a:r>
                <a:rPr b="1" lang="en-US" sz="5000" spc="-1" strike="noStrike">
                  <a:solidFill>
                    <a:srgbClr val="13294b"/>
                  </a:solidFill>
                  <a:latin typeface="Montserrat Bold"/>
                  <a:ea typeface="Montserrat Bold"/>
                </a:rPr>
                <a:t>93.7%</a:t>
              </a:r>
              <a:endParaRPr b="0" lang="es-ES" sz="50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31" name="Group 19"/>
          <p:cNvGrpSpPr/>
          <p:nvPr/>
        </p:nvGrpSpPr>
        <p:grpSpPr>
          <a:xfrm>
            <a:off x="1131480" y="2483640"/>
            <a:ext cx="5081400" cy="511560"/>
            <a:chOff x="1131480" y="2483640"/>
            <a:chExt cx="5081400" cy="511560"/>
          </a:xfrm>
        </p:grpSpPr>
        <p:sp>
          <p:nvSpPr>
            <p:cNvPr id="532" name="Freeform 20"/>
            <p:cNvSpPr/>
            <p:nvPr/>
          </p:nvSpPr>
          <p:spPr>
            <a:xfrm>
              <a:off x="1131480" y="2483640"/>
              <a:ext cx="5081400" cy="511560"/>
            </a:xfrm>
            <a:custGeom>
              <a:avLst/>
              <a:gdLst>
                <a:gd name="textAreaLeft" fmla="*/ 0 w 5081400"/>
                <a:gd name="textAreaRight" fmla="*/ 5081760 w 5081400"/>
                <a:gd name="textAreaTop" fmla="*/ 0 h 511560"/>
                <a:gd name="textAreaBottom" fmla="*/ 511920 h 511560"/>
              </a:gdLst>
              <a:ahLst/>
              <a:rect l="textAreaLeft" t="textAreaTop" r="textAreaRight" b="textAreaBottom"/>
              <a:pathLst>
                <a:path w="6775703" h="682368">
                  <a:moveTo>
                    <a:pt x="0" y="0"/>
                  </a:moveTo>
                  <a:lnTo>
                    <a:pt x="6775703" y="0"/>
                  </a:lnTo>
                  <a:lnTo>
                    <a:pt x="6775703" y="682368"/>
                  </a:lnTo>
                  <a:lnTo>
                    <a:pt x="0" y="682368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33" name="TextBox 21"/>
            <p:cNvSpPr/>
            <p:nvPr/>
          </p:nvSpPr>
          <p:spPr>
            <a:xfrm>
              <a:off x="1131480" y="2483640"/>
              <a:ext cx="5081400" cy="511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2999"/>
                </a:lnSpc>
              </a:pPr>
              <a:r>
                <a:rPr b="1" lang="en-US" sz="2500" spc="-1" strike="noStrike">
                  <a:solidFill>
                    <a:srgbClr val="000000"/>
                  </a:solidFill>
                  <a:latin typeface="Open Sans 1 Bold"/>
                  <a:ea typeface="Open Sans 1 Bold"/>
                </a:rPr>
                <a:t>Real/Fake accuracy (                  )</a:t>
              </a:r>
              <a:endParaRPr b="0" lang="es-ES" sz="25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34" name="Group 22"/>
          <p:cNvGrpSpPr/>
          <p:nvPr/>
        </p:nvGrpSpPr>
        <p:grpSpPr>
          <a:xfrm>
            <a:off x="9840600" y="2351880"/>
            <a:ext cx="7699320" cy="1961640"/>
            <a:chOff x="9840600" y="2351880"/>
            <a:chExt cx="7699320" cy="1961640"/>
          </a:xfrm>
        </p:grpSpPr>
        <p:sp>
          <p:nvSpPr>
            <p:cNvPr id="535" name="Freeform 23"/>
            <p:cNvSpPr/>
            <p:nvPr/>
          </p:nvSpPr>
          <p:spPr>
            <a:xfrm>
              <a:off x="9840600" y="2351880"/>
              <a:ext cx="7699320" cy="1961640"/>
            </a:xfrm>
            <a:custGeom>
              <a:avLst/>
              <a:gdLst>
                <a:gd name="textAreaLeft" fmla="*/ 0 w 7699320"/>
                <a:gd name="textAreaRight" fmla="*/ 7699680 w 7699320"/>
                <a:gd name="textAreaTop" fmla="*/ 0 h 1961640"/>
                <a:gd name="textAreaBottom" fmla="*/ 1962000 h 1961640"/>
              </a:gdLst>
              <a:ahLst/>
              <a:rect l="textAreaLeft" t="textAreaTop" r="textAreaRight" b="textAreaBottom"/>
              <a:pathLst>
                <a:path w="10266380" h="2615946">
                  <a:moveTo>
                    <a:pt x="0" y="0"/>
                  </a:moveTo>
                  <a:lnTo>
                    <a:pt x="10266380" y="0"/>
                  </a:lnTo>
                  <a:lnTo>
                    <a:pt x="10266380" y="2615946"/>
                  </a:lnTo>
                  <a:lnTo>
                    <a:pt x="0" y="2615946"/>
                  </a:lnTo>
                  <a:close/>
                </a:path>
              </a:pathLst>
            </a:custGeom>
            <a:solidFill>
              <a:srgbClr val="f7f9fc"/>
            </a:solidFill>
            <a:ln cap="sq" w="14288">
              <a:solidFill>
                <a:srgbClr val="dde3e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36" name="Group 24"/>
          <p:cNvGrpSpPr/>
          <p:nvPr/>
        </p:nvGrpSpPr>
        <p:grpSpPr>
          <a:xfrm>
            <a:off x="9840600" y="2351880"/>
            <a:ext cx="135360" cy="1966320"/>
            <a:chOff x="9840600" y="2351880"/>
            <a:chExt cx="135360" cy="1966320"/>
          </a:xfrm>
        </p:grpSpPr>
        <p:sp>
          <p:nvSpPr>
            <p:cNvPr id="537" name="Freeform 25"/>
            <p:cNvSpPr/>
            <p:nvPr/>
          </p:nvSpPr>
          <p:spPr>
            <a:xfrm>
              <a:off x="9840600" y="2351880"/>
              <a:ext cx="135360" cy="1966320"/>
            </a:xfrm>
            <a:custGeom>
              <a:avLst/>
              <a:gdLst>
                <a:gd name="textAreaLeft" fmla="*/ 0 w 135360"/>
                <a:gd name="textAreaRight" fmla="*/ 135720 w 135360"/>
                <a:gd name="textAreaTop" fmla="*/ 0 h 1966320"/>
                <a:gd name="textAreaBottom" fmla="*/ 1966680 h 1966320"/>
              </a:gdLst>
              <a:ahLst/>
              <a:rect l="textAreaLeft" t="textAreaTop" r="textAreaRight" b="textAreaBottom"/>
              <a:pathLst>
                <a:path w="180848" h="2622296">
                  <a:moveTo>
                    <a:pt x="0" y="0"/>
                  </a:moveTo>
                  <a:lnTo>
                    <a:pt x="180848" y="0"/>
                  </a:lnTo>
                  <a:lnTo>
                    <a:pt x="180848" y="2622296"/>
                  </a:lnTo>
                  <a:lnTo>
                    <a:pt x="0" y="2622296"/>
                  </a:lnTo>
                  <a:close/>
                </a:path>
              </a:pathLst>
            </a:custGeom>
            <a:solidFill>
              <a:srgbClr val="0e2240"/>
            </a:solidFill>
            <a:ln cap="sq" w="1905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538" name="Group 26"/>
          <p:cNvGrpSpPr/>
          <p:nvPr/>
        </p:nvGrpSpPr>
        <p:grpSpPr>
          <a:xfrm>
            <a:off x="11163240" y="2932560"/>
            <a:ext cx="4673520" cy="1302480"/>
            <a:chOff x="11163240" y="2932560"/>
            <a:chExt cx="4673520" cy="1302480"/>
          </a:xfrm>
        </p:grpSpPr>
        <p:sp>
          <p:nvSpPr>
            <p:cNvPr id="539" name="Freeform 27"/>
            <p:cNvSpPr/>
            <p:nvPr/>
          </p:nvSpPr>
          <p:spPr>
            <a:xfrm>
              <a:off x="11163240" y="2932560"/>
              <a:ext cx="4673520" cy="1302480"/>
            </a:xfrm>
            <a:custGeom>
              <a:avLst/>
              <a:gdLst>
                <a:gd name="textAreaLeft" fmla="*/ 0 w 4673520"/>
                <a:gd name="textAreaRight" fmla="*/ 4673880 w 4673520"/>
                <a:gd name="textAreaTop" fmla="*/ 0 h 1302480"/>
                <a:gd name="textAreaBottom" fmla="*/ 1302840 h 1302480"/>
              </a:gdLst>
              <a:ahLst/>
              <a:rect l="textAreaLeft" t="textAreaTop" r="textAreaRight" b="textAreaBottom"/>
              <a:pathLst>
                <a:path w="6231940" h="1737106">
                  <a:moveTo>
                    <a:pt x="0" y="0"/>
                  </a:moveTo>
                  <a:lnTo>
                    <a:pt x="6231940" y="0"/>
                  </a:lnTo>
                  <a:lnTo>
                    <a:pt x="6231940" y="1737106"/>
                  </a:lnTo>
                  <a:lnTo>
                    <a:pt x="0" y="1737106"/>
                  </a:lnTo>
                  <a:close/>
                </a:path>
              </a:pathLst>
            </a:custGeom>
            <a:blipFill rotWithShape="0">
              <a:blip r:embed="rId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40" name="TextBox 28"/>
            <p:cNvSpPr/>
            <p:nvPr/>
          </p:nvSpPr>
          <p:spPr>
            <a:xfrm>
              <a:off x="11163240" y="2932560"/>
              <a:ext cx="4673520" cy="1302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ts val="6001"/>
                </a:lnSpc>
              </a:pPr>
              <a:r>
                <a:rPr b="1" lang="en-US" sz="5000" spc="-1" strike="noStrike">
                  <a:solidFill>
                    <a:srgbClr val="13294b"/>
                  </a:solidFill>
                  <a:latin typeface="Montserrat Bold"/>
                  <a:ea typeface="Montserrat Bold"/>
                </a:rPr>
                <a:t>90.9%</a:t>
              </a:r>
              <a:endParaRPr b="0" lang="es-ES" sz="50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41" name="Group 29"/>
          <p:cNvGrpSpPr/>
          <p:nvPr/>
        </p:nvGrpSpPr>
        <p:grpSpPr>
          <a:xfrm>
            <a:off x="10332720" y="2400120"/>
            <a:ext cx="5174280" cy="511560"/>
            <a:chOff x="10332720" y="2400120"/>
            <a:chExt cx="5174280" cy="511560"/>
          </a:xfrm>
        </p:grpSpPr>
        <p:sp>
          <p:nvSpPr>
            <p:cNvPr id="542" name="Freeform 30"/>
            <p:cNvSpPr/>
            <p:nvPr/>
          </p:nvSpPr>
          <p:spPr>
            <a:xfrm>
              <a:off x="10332720" y="2400120"/>
              <a:ext cx="5174280" cy="511560"/>
            </a:xfrm>
            <a:custGeom>
              <a:avLst/>
              <a:gdLst>
                <a:gd name="textAreaLeft" fmla="*/ 0 w 5174280"/>
                <a:gd name="textAreaRight" fmla="*/ 5174640 w 5174280"/>
                <a:gd name="textAreaTop" fmla="*/ 0 h 511560"/>
                <a:gd name="textAreaBottom" fmla="*/ 511920 h 511560"/>
              </a:gdLst>
              <a:ahLst/>
              <a:rect l="textAreaLeft" t="textAreaTop" r="textAreaRight" b="textAreaBottom"/>
              <a:pathLst>
                <a:path w="6899597" h="682368">
                  <a:moveTo>
                    <a:pt x="0" y="0"/>
                  </a:moveTo>
                  <a:lnTo>
                    <a:pt x="6899597" y="0"/>
                  </a:lnTo>
                  <a:lnTo>
                    <a:pt x="6899597" y="682368"/>
                  </a:lnTo>
                  <a:lnTo>
                    <a:pt x="0" y="682368"/>
                  </a:lnTo>
                  <a:close/>
                </a:path>
              </a:pathLst>
            </a:custGeom>
            <a:blipFill rotWithShape="0">
              <a:blip r:embed="rId6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43" name="TextBox 31"/>
            <p:cNvSpPr/>
            <p:nvPr/>
          </p:nvSpPr>
          <p:spPr>
            <a:xfrm>
              <a:off x="10332720" y="2400120"/>
              <a:ext cx="5174280" cy="511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2999"/>
                </a:lnSpc>
              </a:pPr>
              <a:r>
                <a:rPr b="1" lang="en-US" sz="2500" spc="-1" strike="noStrike">
                  <a:solidFill>
                    <a:srgbClr val="000000"/>
                  </a:solidFill>
                  <a:latin typeface="Open Sans 1 Bold"/>
                  <a:ea typeface="Open Sans 1 Bold"/>
                </a:rPr>
                <a:t>Transform accuracy (                  )</a:t>
              </a:r>
              <a:endParaRPr b="0" lang="es-ES" sz="25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44" name="Group 32"/>
          <p:cNvGrpSpPr/>
          <p:nvPr/>
        </p:nvGrpSpPr>
        <p:grpSpPr>
          <a:xfrm>
            <a:off x="754560" y="4690800"/>
            <a:ext cx="11658240" cy="548280"/>
            <a:chOff x="754560" y="4690800"/>
            <a:chExt cx="11658240" cy="548280"/>
          </a:xfrm>
        </p:grpSpPr>
        <p:sp>
          <p:nvSpPr>
            <p:cNvPr id="545" name="Freeform 33"/>
            <p:cNvSpPr/>
            <p:nvPr/>
          </p:nvSpPr>
          <p:spPr>
            <a:xfrm>
              <a:off x="754560" y="4690800"/>
              <a:ext cx="11658240" cy="548280"/>
            </a:xfrm>
            <a:custGeom>
              <a:avLst/>
              <a:gdLst>
                <a:gd name="textAreaLeft" fmla="*/ 0 w 11658240"/>
                <a:gd name="textAreaRight" fmla="*/ 11658600 w 11658240"/>
                <a:gd name="textAreaTop" fmla="*/ 0 h 548280"/>
                <a:gd name="textAreaBottom" fmla="*/ 548640 h 548280"/>
              </a:gdLst>
              <a:ahLst/>
              <a:rect l="textAreaLeft" t="textAreaTop" r="textAreaRight" b="textAreaBottom"/>
              <a:pathLst>
                <a:path w="15544800" h="731520">
                  <a:moveTo>
                    <a:pt x="0" y="0"/>
                  </a:moveTo>
                  <a:lnTo>
                    <a:pt x="15544800" y="0"/>
                  </a:lnTo>
                  <a:lnTo>
                    <a:pt x="15544800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0">
              <a:blip r:embed="rId7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46" name="TextBox 34"/>
            <p:cNvSpPr/>
            <p:nvPr/>
          </p:nvSpPr>
          <p:spPr>
            <a:xfrm>
              <a:off x="754560" y="4690800"/>
              <a:ext cx="11658240" cy="54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3061"/>
                </a:lnSpc>
              </a:pPr>
              <a:r>
                <a:rPr b="1" lang="en-US" sz="2550" spc="-1" strike="noStrike">
                  <a:solidFill>
                    <a:srgbClr val="13294b"/>
                  </a:solidFill>
                  <a:latin typeface="Playfair Display Bold"/>
                  <a:ea typeface="Playfair Display Bold"/>
                </a:rPr>
                <a:t>Robustness — Real/Fake and Transform accuracy stays higher with </a:t>
              </a:r>
              <a:endParaRPr b="0" lang="es-ES" sz="25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47" name="Group 35"/>
          <p:cNvGrpSpPr/>
          <p:nvPr/>
        </p:nvGrpSpPr>
        <p:grpSpPr>
          <a:xfrm>
            <a:off x="5279040" y="5380920"/>
            <a:ext cx="210600" cy="210600"/>
            <a:chOff x="5279040" y="5380920"/>
            <a:chExt cx="210600" cy="210600"/>
          </a:xfrm>
        </p:grpSpPr>
        <p:sp>
          <p:nvSpPr>
            <p:cNvPr id="548" name="Freeform 36"/>
            <p:cNvSpPr/>
            <p:nvPr/>
          </p:nvSpPr>
          <p:spPr>
            <a:xfrm>
              <a:off x="5279040" y="5380920"/>
              <a:ext cx="210600" cy="210600"/>
            </a:xfrm>
            <a:custGeom>
              <a:avLst/>
              <a:gdLst>
                <a:gd name="textAreaLeft" fmla="*/ 0 w 210600"/>
                <a:gd name="textAreaRight" fmla="*/ 210960 w 210600"/>
                <a:gd name="textAreaTop" fmla="*/ 0 h 210600"/>
                <a:gd name="textAreaBottom" fmla="*/ 210960 h 210600"/>
              </a:gdLst>
              <a:ahLst/>
              <a:rect l="textAreaLeft" t="textAreaTop" r="textAreaRight" b="textAreaBottom"/>
              <a:pathLst>
                <a:path w="281432" h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2d6dec"/>
            </a:solidFill>
            <a:ln cap="sq" w="19050">
              <a:solidFill>
                <a:srgbClr val="2d6de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49" name="Group 37"/>
          <p:cNvGrpSpPr/>
          <p:nvPr/>
        </p:nvGrpSpPr>
        <p:grpSpPr>
          <a:xfrm>
            <a:off x="6858360" y="5380920"/>
            <a:ext cx="210600" cy="210600"/>
            <a:chOff x="6858360" y="5380920"/>
            <a:chExt cx="210600" cy="210600"/>
          </a:xfrm>
        </p:grpSpPr>
        <p:sp>
          <p:nvSpPr>
            <p:cNvPr id="550" name="Freeform 38"/>
            <p:cNvSpPr/>
            <p:nvPr/>
          </p:nvSpPr>
          <p:spPr>
            <a:xfrm>
              <a:off x="6858360" y="5380920"/>
              <a:ext cx="210600" cy="210600"/>
            </a:xfrm>
            <a:custGeom>
              <a:avLst/>
              <a:gdLst>
                <a:gd name="textAreaLeft" fmla="*/ 0 w 210600"/>
                <a:gd name="textAreaRight" fmla="*/ 210960 w 210600"/>
                <a:gd name="textAreaTop" fmla="*/ 0 h 210600"/>
                <a:gd name="textAreaBottom" fmla="*/ 210960 h 210600"/>
              </a:gdLst>
              <a:ahLst/>
              <a:rect l="textAreaLeft" t="textAreaTop" r="textAreaRight" b="textAreaBottom"/>
              <a:pathLst>
                <a:path w="281432" h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fa7508"/>
            </a:solidFill>
            <a:ln cap="sq" w="19050">
              <a:solidFill>
                <a:srgbClr val="16a085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51" name="Group 39"/>
          <p:cNvGrpSpPr/>
          <p:nvPr/>
        </p:nvGrpSpPr>
        <p:grpSpPr>
          <a:xfrm>
            <a:off x="754560" y="8894520"/>
            <a:ext cx="548280" cy="308520"/>
            <a:chOff x="754560" y="8894520"/>
            <a:chExt cx="548280" cy="308520"/>
          </a:xfrm>
        </p:grpSpPr>
        <p:sp>
          <p:nvSpPr>
            <p:cNvPr id="552" name="Freeform 40"/>
            <p:cNvSpPr/>
            <p:nvPr/>
          </p:nvSpPr>
          <p:spPr>
            <a:xfrm>
              <a:off x="754560" y="8901720"/>
              <a:ext cx="548280" cy="301320"/>
            </a:xfrm>
            <a:custGeom>
              <a:avLst/>
              <a:gdLst>
                <a:gd name="textAreaLeft" fmla="*/ 0 w 548280"/>
                <a:gd name="textAreaRight" fmla="*/ 548640 w 548280"/>
                <a:gd name="textAreaTop" fmla="*/ 0 h 301320"/>
                <a:gd name="textAreaBottom" fmla="*/ 301680 h 301320"/>
              </a:gdLst>
              <a:ahLst/>
              <a:rect l="textAreaLeft" t="textAreaTop" r="textAreaRight" b="textAreaBottom"/>
              <a:pathLst>
                <a:path w="731520" h="402336">
                  <a:moveTo>
                    <a:pt x="0" y="0"/>
                  </a:moveTo>
                  <a:lnTo>
                    <a:pt x="731520" y="0"/>
                  </a:lnTo>
                  <a:lnTo>
                    <a:pt x="731520" y="402336"/>
                  </a:lnTo>
                  <a:lnTo>
                    <a:pt x="0" y="402336"/>
                  </a:lnTo>
                  <a:close/>
                </a:path>
              </a:pathLst>
            </a:custGeom>
            <a:blipFill rotWithShape="0">
              <a:blip r:embed="rId8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3" name="TextBox 41"/>
            <p:cNvSpPr/>
            <p:nvPr/>
          </p:nvSpPr>
          <p:spPr>
            <a:xfrm>
              <a:off x="754560" y="8894520"/>
              <a:ext cx="548280" cy="308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r">
                <a:lnSpc>
                  <a:spcPts val="1621"/>
                </a:lnSpc>
              </a:pPr>
              <a:r>
                <a:rPr b="0" lang="en-US" sz="1350" spc="-1" strike="noStrike">
                  <a:solidFill>
                    <a:srgbClr val="9fb0c8"/>
                  </a:solidFill>
                  <a:latin typeface="Open Sans 1"/>
                  <a:ea typeface="Open Sans 1"/>
                </a:rPr>
                <a:t>0</a:t>
              </a:r>
              <a:endParaRPr b="0" lang="es-ES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54" name="Group 42"/>
          <p:cNvGrpSpPr/>
          <p:nvPr/>
        </p:nvGrpSpPr>
        <p:grpSpPr>
          <a:xfrm>
            <a:off x="1430640" y="8417520"/>
            <a:ext cx="10854360" cy="35280"/>
            <a:chOff x="1430640" y="8417520"/>
            <a:chExt cx="10854360" cy="35280"/>
          </a:xfrm>
        </p:grpSpPr>
        <p:sp>
          <p:nvSpPr>
            <p:cNvPr id="555" name="Freeform 43"/>
            <p:cNvSpPr/>
            <p:nvPr/>
          </p:nvSpPr>
          <p:spPr>
            <a:xfrm>
              <a:off x="1430640" y="8417520"/>
              <a:ext cx="10854360" cy="35280"/>
            </a:xfrm>
            <a:custGeom>
              <a:avLst/>
              <a:gdLst>
                <a:gd name="textAreaLeft" fmla="*/ 0 w 10854360"/>
                <a:gd name="textAreaRight" fmla="*/ 10854720 w 10854360"/>
                <a:gd name="textAreaTop" fmla="*/ 0 h 35280"/>
                <a:gd name="textAreaBottom" fmla="*/ 35640 h 35280"/>
              </a:gdLst>
              <a:ahLst/>
              <a:rect l="textAreaLeft" t="textAreaTop" r="textAreaRight" b="textAreaBottom"/>
              <a:pathLst>
                <a:path w="14472920" h="47371">
                  <a:moveTo>
                    <a:pt x="0" y="0"/>
                  </a:moveTo>
                  <a:lnTo>
                    <a:pt x="14472920" y="0"/>
                  </a:lnTo>
                  <a:lnTo>
                    <a:pt x="14472920" y="47371"/>
                  </a:lnTo>
                  <a:lnTo>
                    <a:pt x="0" y="47371"/>
                  </a:lnTo>
                  <a:close/>
                </a:path>
              </a:pathLst>
            </a:custGeom>
            <a:solidFill>
              <a:srgbClr val="e8edf4"/>
            </a:solidFill>
            <a:ln cap="sq" w="19050">
              <a:solidFill>
                <a:srgbClr val="e8edf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9360" bIns="-936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56" name="Group 44"/>
          <p:cNvGrpSpPr/>
          <p:nvPr/>
        </p:nvGrpSpPr>
        <p:grpSpPr>
          <a:xfrm>
            <a:off x="754560" y="8269200"/>
            <a:ext cx="548280" cy="308520"/>
            <a:chOff x="754560" y="8269200"/>
            <a:chExt cx="548280" cy="308520"/>
          </a:xfrm>
        </p:grpSpPr>
        <p:sp>
          <p:nvSpPr>
            <p:cNvPr id="557" name="Freeform 45"/>
            <p:cNvSpPr/>
            <p:nvPr/>
          </p:nvSpPr>
          <p:spPr>
            <a:xfrm>
              <a:off x="754560" y="8276400"/>
              <a:ext cx="548280" cy="301320"/>
            </a:xfrm>
            <a:custGeom>
              <a:avLst/>
              <a:gdLst>
                <a:gd name="textAreaLeft" fmla="*/ 0 w 548280"/>
                <a:gd name="textAreaRight" fmla="*/ 548640 w 548280"/>
                <a:gd name="textAreaTop" fmla="*/ 0 h 301320"/>
                <a:gd name="textAreaBottom" fmla="*/ 301680 h 301320"/>
              </a:gdLst>
              <a:ahLst/>
              <a:rect l="textAreaLeft" t="textAreaTop" r="textAreaRight" b="textAreaBottom"/>
              <a:pathLst>
                <a:path w="731520" h="402336">
                  <a:moveTo>
                    <a:pt x="0" y="0"/>
                  </a:moveTo>
                  <a:lnTo>
                    <a:pt x="731520" y="0"/>
                  </a:lnTo>
                  <a:lnTo>
                    <a:pt x="731520" y="402336"/>
                  </a:lnTo>
                  <a:lnTo>
                    <a:pt x="0" y="402336"/>
                  </a:lnTo>
                  <a:close/>
                </a:path>
              </a:pathLst>
            </a:custGeom>
            <a:blipFill rotWithShape="0">
              <a:blip r:embed="rId9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8" name="TextBox 46"/>
            <p:cNvSpPr/>
            <p:nvPr/>
          </p:nvSpPr>
          <p:spPr>
            <a:xfrm>
              <a:off x="754560" y="8269200"/>
              <a:ext cx="548280" cy="308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r">
                <a:lnSpc>
                  <a:spcPts val="1621"/>
                </a:lnSpc>
              </a:pPr>
              <a:r>
                <a:rPr b="0" lang="en-US" sz="1350" spc="-1" strike="noStrike">
                  <a:solidFill>
                    <a:srgbClr val="9fb0c8"/>
                  </a:solidFill>
                  <a:latin typeface="Open Sans 1"/>
                  <a:ea typeface="Open Sans 1"/>
                </a:rPr>
                <a:t>20</a:t>
              </a:r>
              <a:endParaRPr b="0" lang="es-ES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59" name="Group 47"/>
          <p:cNvGrpSpPr/>
          <p:nvPr/>
        </p:nvGrpSpPr>
        <p:grpSpPr>
          <a:xfrm>
            <a:off x="1430640" y="7792200"/>
            <a:ext cx="10854360" cy="35280"/>
            <a:chOff x="1430640" y="7792200"/>
            <a:chExt cx="10854360" cy="35280"/>
          </a:xfrm>
        </p:grpSpPr>
        <p:sp>
          <p:nvSpPr>
            <p:cNvPr id="560" name="Freeform 48"/>
            <p:cNvSpPr/>
            <p:nvPr/>
          </p:nvSpPr>
          <p:spPr>
            <a:xfrm>
              <a:off x="1430640" y="7792200"/>
              <a:ext cx="10854360" cy="35280"/>
            </a:xfrm>
            <a:custGeom>
              <a:avLst/>
              <a:gdLst>
                <a:gd name="textAreaLeft" fmla="*/ 0 w 10854360"/>
                <a:gd name="textAreaRight" fmla="*/ 10854720 w 10854360"/>
                <a:gd name="textAreaTop" fmla="*/ 0 h 35280"/>
                <a:gd name="textAreaBottom" fmla="*/ 35640 h 35280"/>
              </a:gdLst>
              <a:ahLst/>
              <a:rect l="textAreaLeft" t="textAreaTop" r="textAreaRight" b="textAreaBottom"/>
              <a:pathLst>
                <a:path w="14472920" h="47371">
                  <a:moveTo>
                    <a:pt x="0" y="0"/>
                  </a:moveTo>
                  <a:lnTo>
                    <a:pt x="14472920" y="0"/>
                  </a:lnTo>
                  <a:lnTo>
                    <a:pt x="14472920" y="47371"/>
                  </a:lnTo>
                  <a:lnTo>
                    <a:pt x="0" y="47371"/>
                  </a:lnTo>
                  <a:close/>
                </a:path>
              </a:pathLst>
            </a:custGeom>
            <a:solidFill>
              <a:srgbClr val="e8edf4"/>
            </a:solidFill>
            <a:ln cap="sq" w="19050">
              <a:solidFill>
                <a:srgbClr val="e8edf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9360" bIns="-936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61" name="Group 49"/>
          <p:cNvGrpSpPr/>
          <p:nvPr/>
        </p:nvGrpSpPr>
        <p:grpSpPr>
          <a:xfrm>
            <a:off x="754560" y="7643520"/>
            <a:ext cx="548280" cy="308520"/>
            <a:chOff x="754560" y="7643520"/>
            <a:chExt cx="548280" cy="308520"/>
          </a:xfrm>
        </p:grpSpPr>
        <p:sp>
          <p:nvSpPr>
            <p:cNvPr id="562" name="Freeform 50"/>
            <p:cNvSpPr/>
            <p:nvPr/>
          </p:nvSpPr>
          <p:spPr>
            <a:xfrm>
              <a:off x="754560" y="7650720"/>
              <a:ext cx="548280" cy="301320"/>
            </a:xfrm>
            <a:custGeom>
              <a:avLst/>
              <a:gdLst>
                <a:gd name="textAreaLeft" fmla="*/ 0 w 548280"/>
                <a:gd name="textAreaRight" fmla="*/ 548640 w 548280"/>
                <a:gd name="textAreaTop" fmla="*/ 0 h 301320"/>
                <a:gd name="textAreaBottom" fmla="*/ 301680 h 301320"/>
              </a:gdLst>
              <a:ahLst/>
              <a:rect l="textAreaLeft" t="textAreaTop" r="textAreaRight" b="textAreaBottom"/>
              <a:pathLst>
                <a:path w="731520" h="402336">
                  <a:moveTo>
                    <a:pt x="0" y="0"/>
                  </a:moveTo>
                  <a:lnTo>
                    <a:pt x="731520" y="0"/>
                  </a:lnTo>
                  <a:lnTo>
                    <a:pt x="731520" y="402336"/>
                  </a:lnTo>
                  <a:lnTo>
                    <a:pt x="0" y="402336"/>
                  </a:lnTo>
                  <a:close/>
                </a:path>
              </a:pathLst>
            </a:custGeom>
            <a:blipFill rotWithShape="0">
              <a:blip r:embed="rId10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63" name="TextBox 51"/>
            <p:cNvSpPr/>
            <p:nvPr/>
          </p:nvSpPr>
          <p:spPr>
            <a:xfrm>
              <a:off x="754560" y="7643520"/>
              <a:ext cx="548280" cy="308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r">
                <a:lnSpc>
                  <a:spcPts val="1621"/>
                </a:lnSpc>
              </a:pPr>
              <a:r>
                <a:rPr b="0" lang="en-US" sz="1350" spc="-1" strike="noStrike">
                  <a:solidFill>
                    <a:srgbClr val="9fb0c8"/>
                  </a:solidFill>
                  <a:latin typeface="Open Sans 1"/>
                  <a:ea typeface="Open Sans 1"/>
                </a:rPr>
                <a:t>40</a:t>
              </a:r>
              <a:endParaRPr b="0" lang="es-ES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64" name="Group 52"/>
          <p:cNvGrpSpPr/>
          <p:nvPr/>
        </p:nvGrpSpPr>
        <p:grpSpPr>
          <a:xfrm>
            <a:off x="1430640" y="7166520"/>
            <a:ext cx="10854360" cy="35280"/>
            <a:chOff x="1430640" y="7166520"/>
            <a:chExt cx="10854360" cy="35280"/>
          </a:xfrm>
        </p:grpSpPr>
        <p:sp>
          <p:nvSpPr>
            <p:cNvPr id="565" name="Freeform 53"/>
            <p:cNvSpPr/>
            <p:nvPr/>
          </p:nvSpPr>
          <p:spPr>
            <a:xfrm>
              <a:off x="1430640" y="7166520"/>
              <a:ext cx="10854360" cy="35280"/>
            </a:xfrm>
            <a:custGeom>
              <a:avLst/>
              <a:gdLst>
                <a:gd name="textAreaLeft" fmla="*/ 0 w 10854360"/>
                <a:gd name="textAreaRight" fmla="*/ 10854720 w 10854360"/>
                <a:gd name="textAreaTop" fmla="*/ 0 h 35280"/>
                <a:gd name="textAreaBottom" fmla="*/ 35640 h 35280"/>
              </a:gdLst>
              <a:ahLst/>
              <a:rect l="textAreaLeft" t="textAreaTop" r="textAreaRight" b="textAreaBottom"/>
              <a:pathLst>
                <a:path w="14472920" h="47371">
                  <a:moveTo>
                    <a:pt x="0" y="0"/>
                  </a:moveTo>
                  <a:lnTo>
                    <a:pt x="14472920" y="0"/>
                  </a:lnTo>
                  <a:lnTo>
                    <a:pt x="14472920" y="47371"/>
                  </a:lnTo>
                  <a:lnTo>
                    <a:pt x="0" y="47371"/>
                  </a:lnTo>
                  <a:close/>
                </a:path>
              </a:pathLst>
            </a:custGeom>
            <a:solidFill>
              <a:srgbClr val="e8edf4"/>
            </a:solidFill>
            <a:ln cap="sq" w="19050">
              <a:solidFill>
                <a:srgbClr val="e8edf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9360" bIns="-936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66" name="Group 54"/>
          <p:cNvGrpSpPr/>
          <p:nvPr/>
        </p:nvGrpSpPr>
        <p:grpSpPr>
          <a:xfrm>
            <a:off x="754560" y="7018200"/>
            <a:ext cx="548280" cy="308520"/>
            <a:chOff x="754560" y="7018200"/>
            <a:chExt cx="548280" cy="308520"/>
          </a:xfrm>
        </p:grpSpPr>
        <p:sp>
          <p:nvSpPr>
            <p:cNvPr id="567" name="Freeform 55"/>
            <p:cNvSpPr/>
            <p:nvPr/>
          </p:nvSpPr>
          <p:spPr>
            <a:xfrm>
              <a:off x="754560" y="7025400"/>
              <a:ext cx="548280" cy="301320"/>
            </a:xfrm>
            <a:custGeom>
              <a:avLst/>
              <a:gdLst>
                <a:gd name="textAreaLeft" fmla="*/ 0 w 548280"/>
                <a:gd name="textAreaRight" fmla="*/ 548640 w 548280"/>
                <a:gd name="textAreaTop" fmla="*/ 0 h 301320"/>
                <a:gd name="textAreaBottom" fmla="*/ 301680 h 301320"/>
              </a:gdLst>
              <a:ahLst/>
              <a:rect l="textAreaLeft" t="textAreaTop" r="textAreaRight" b="textAreaBottom"/>
              <a:pathLst>
                <a:path w="731520" h="402336">
                  <a:moveTo>
                    <a:pt x="0" y="0"/>
                  </a:moveTo>
                  <a:lnTo>
                    <a:pt x="731520" y="0"/>
                  </a:lnTo>
                  <a:lnTo>
                    <a:pt x="731520" y="402336"/>
                  </a:lnTo>
                  <a:lnTo>
                    <a:pt x="0" y="402336"/>
                  </a:lnTo>
                  <a:close/>
                </a:path>
              </a:pathLst>
            </a:custGeom>
            <a:blipFill rotWithShape="0">
              <a:blip r:embed="rId1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68" name="TextBox 56"/>
            <p:cNvSpPr/>
            <p:nvPr/>
          </p:nvSpPr>
          <p:spPr>
            <a:xfrm>
              <a:off x="754560" y="7018200"/>
              <a:ext cx="548280" cy="308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r">
                <a:lnSpc>
                  <a:spcPts val="1621"/>
                </a:lnSpc>
              </a:pPr>
              <a:r>
                <a:rPr b="0" lang="en-US" sz="1350" spc="-1" strike="noStrike">
                  <a:solidFill>
                    <a:srgbClr val="9fb0c8"/>
                  </a:solidFill>
                  <a:latin typeface="Open Sans 1"/>
                  <a:ea typeface="Open Sans 1"/>
                </a:rPr>
                <a:t>60</a:t>
              </a:r>
              <a:endParaRPr b="0" lang="es-ES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69" name="Group 57"/>
          <p:cNvGrpSpPr/>
          <p:nvPr/>
        </p:nvGrpSpPr>
        <p:grpSpPr>
          <a:xfrm>
            <a:off x="1430640" y="6541200"/>
            <a:ext cx="10854360" cy="35280"/>
            <a:chOff x="1430640" y="6541200"/>
            <a:chExt cx="10854360" cy="35280"/>
          </a:xfrm>
        </p:grpSpPr>
        <p:sp>
          <p:nvSpPr>
            <p:cNvPr id="570" name="Freeform 58"/>
            <p:cNvSpPr/>
            <p:nvPr/>
          </p:nvSpPr>
          <p:spPr>
            <a:xfrm>
              <a:off x="1430640" y="6541200"/>
              <a:ext cx="10854360" cy="35280"/>
            </a:xfrm>
            <a:custGeom>
              <a:avLst/>
              <a:gdLst>
                <a:gd name="textAreaLeft" fmla="*/ 0 w 10854360"/>
                <a:gd name="textAreaRight" fmla="*/ 10854720 w 10854360"/>
                <a:gd name="textAreaTop" fmla="*/ 0 h 35280"/>
                <a:gd name="textAreaBottom" fmla="*/ 35640 h 35280"/>
              </a:gdLst>
              <a:ahLst/>
              <a:rect l="textAreaLeft" t="textAreaTop" r="textAreaRight" b="textAreaBottom"/>
              <a:pathLst>
                <a:path w="14472920" h="47371">
                  <a:moveTo>
                    <a:pt x="0" y="0"/>
                  </a:moveTo>
                  <a:lnTo>
                    <a:pt x="14472920" y="0"/>
                  </a:lnTo>
                  <a:lnTo>
                    <a:pt x="14472920" y="47371"/>
                  </a:lnTo>
                  <a:lnTo>
                    <a:pt x="0" y="47371"/>
                  </a:lnTo>
                  <a:close/>
                </a:path>
              </a:pathLst>
            </a:custGeom>
            <a:solidFill>
              <a:srgbClr val="e8edf4"/>
            </a:solidFill>
            <a:ln cap="sq" w="19050">
              <a:solidFill>
                <a:srgbClr val="e8edf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9360" bIns="-936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71" name="Group 59"/>
          <p:cNvGrpSpPr/>
          <p:nvPr/>
        </p:nvGrpSpPr>
        <p:grpSpPr>
          <a:xfrm>
            <a:off x="754560" y="6392880"/>
            <a:ext cx="548280" cy="308520"/>
            <a:chOff x="754560" y="6392880"/>
            <a:chExt cx="548280" cy="308520"/>
          </a:xfrm>
        </p:grpSpPr>
        <p:sp>
          <p:nvSpPr>
            <p:cNvPr id="572" name="Freeform 60"/>
            <p:cNvSpPr/>
            <p:nvPr/>
          </p:nvSpPr>
          <p:spPr>
            <a:xfrm>
              <a:off x="754560" y="6399720"/>
              <a:ext cx="548280" cy="301320"/>
            </a:xfrm>
            <a:custGeom>
              <a:avLst/>
              <a:gdLst>
                <a:gd name="textAreaLeft" fmla="*/ 0 w 548280"/>
                <a:gd name="textAreaRight" fmla="*/ 548640 w 548280"/>
                <a:gd name="textAreaTop" fmla="*/ 0 h 301320"/>
                <a:gd name="textAreaBottom" fmla="*/ 301680 h 301320"/>
              </a:gdLst>
              <a:ahLst/>
              <a:rect l="textAreaLeft" t="textAreaTop" r="textAreaRight" b="textAreaBottom"/>
              <a:pathLst>
                <a:path w="731520" h="402336">
                  <a:moveTo>
                    <a:pt x="0" y="0"/>
                  </a:moveTo>
                  <a:lnTo>
                    <a:pt x="731520" y="0"/>
                  </a:lnTo>
                  <a:lnTo>
                    <a:pt x="731520" y="402336"/>
                  </a:lnTo>
                  <a:lnTo>
                    <a:pt x="0" y="402336"/>
                  </a:lnTo>
                  <a:close/>
                </a:path>
              </a:pathLst>
            </a:custGeom>
            <a:blipFill rotWithShape="0">
              <a:blip r:embed="rId1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73" name="TextBox 61"/>
            <p:cNvSpPr/>
            <p:nvPr/>
          </p:nvSpPr>
          <p:spPr>
            <a:xfrm>
              <a:off x="754560" y="6392880"/>
              <a:ext cx="548280" cy="308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r">
                <a:lnSpc>
                  <a:spcPts val="1621"/>
                </a:lnSpc>
              </a:pPr>
              <a:r>
                <a:rPr b="0" lang="en-US" sz="1350" spc="-1" strike="noStrike">
                  <a:solidFill>
                    <a:srgbClr val="9fb0c8"/>
                  </a:solidFill>
                  <a:latin typeface="Open Sans 1"/>
                  <a:ea typeface="Open Sans 1"/>
                </a:rPr>
                <a:t>80</a:t>
              </a:r>
              <a:endParaRPr b="0" lang="es-ES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74" name="Group 62"/>
          <p:cNvGrpSpPr/>
          <p:nvPr/>
        </p:nvGrpSpPr>
        <p:grpSpPr>
          <a:xfrm>
            <a:off x="1430640" y="5915880"/>
            <a:ext cx="10854360" cy="35280"/>
            <a:chOff x="1430640" y="5915880"/>
            <a:chExt cx="10854360" cy="35280"/>
          </a:xfrm>
        </p:grpSpPr>
        <p:sp>
          <p:nvSpPr>
            <p:cNvPr id="575" name="Freeform 63"/>
            <p:cNvSpPr/>
            <p:nvPr/>
          </p:nvSpPr>
          <p:spPr>
            <a:xfrm>
              <a:off x="1430640" y="5915880"/>
              <a:ext cx="10854360" cy="35280"/>
            </a:xfrm>
            <a:custGeom>
              <a:avLst/>
              <a:gdLst>
                <a:gd name="textAreaLeft" fmla="*/ 0 w 10854360"/>
                <a:gd name="textAreaRight" fmla="*/ 10854720 w 10854360"/>
                <a:gd name="textAreaTop" fmla="*/ 0 h 35280"/>
                <a:gd name="textAreaBottom" fmla="*/ 35640 h 35280"/>
              </a:gdLst>
              <a:ahLst/>
              <a:rect l="textAreaLeft" t="textAreaTop" r="textAreaRight" b="textAreaBottom"/>
              <a:pathLst>
                <a:path w="14472920" h="47371">
                  <a:moveTo>
                    <a:pt x="0" y="0"/>
                  </a:moveTo>
                  <a:lnTo>
                    <a:pt x="14472920" y="0"/>
                  </a:lnTo>
                  <a:lnTo>
                    <a:pt x="14472920" y="47371"/>
                  </a:lnTo>
                  <a:lnTo>
                    <a:pt x="0" y="47371"/>
                  </a:lnTo>
                  <a:close/>
                </a:path>
              </a:pathLst>
            </a:custGeom>
            <a:solidFill>
              <a:srgbClr val="e8edf4"/>
            </a:solidFill>
            <a:ln cap="sq" w="19050">
              <a:solidFill>
                <a:srgbClr val="e8edf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9360" bIns="-936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76" name="Group 64"/>
          <p:cNvGrpSpPr/>
          <p:nvPr/>
        </p:nvGrpSpPr>
        <p:grpSpPr>
          <a:xfrm>
            <a:off x="754560" y="5767200"/>
            <a:ext cx="548280" cy="308520"/>
            <a:chOff x="754560" y="5767200"/>
            <a:chExt cx="548280" cy="308520"/>
          </a:xfrm>
        </p:grpSpPr>
        <p:sp>
          <p:nvSpPr>
            <p:cNvPr id="577" name="Freeform 65"/>
            <p:cNvSpPr/>
            <p:nvPr/>
          </p:nvSpPr>
          <p:spPr>
            <a:xfrm>
              <a:off x="754560" y="5774400"/>
              <a:ext cx="548280" cy="301320"/>
            </a:xfrm>
            <a:custGeom>
              <a:avLst/>
              <a:gdLst>
                <a:gd name="textAreaLeft" fmla="*/ 0 w 548280"/>
                <a:gd name="textAreaRight" fmla="*/ 548640 w 548280"/>
                <a:gd name="textAreaTop" fmla="*/ 0 h 301320"/>
                <a:gd name="textAreaBottom" fmla="*/ 301680 h 301320"/>
              </a:gdLst>
              <a:ahLst/>
              <a:rect l="textAreaLeft" t="textAreaTop" r="textAreaRight" b="textAreaBottom"/>
              <a:pathLst>
                <a:path w="731520" h="402336">
                  <a:moveTo>
                    <a:pt x="0" y="0"/>
                  </a:moveTo>
                  <a:lnTo>
                    <a:pt x="731520" y="0"/>
                  </a:lnTo>
                  <a:lnTo>
                    <a:pt x="731520" y="402336"/>
                  </a:lnTo>
                  <a:lnTo>
                    <a:pt x="0" y="402336"/>
                  </a:lnTo>
                  <a:close/>
                </a:path>
              </a:pathLst>
            </a:custGeom>
            <a:blipFill rotWithShape="0">
              <a:blip r:embed="rId1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78" name="TextBox 66"/>
            <p:cNvSpPr/>
            <p:nvPr/>
          </p:nvSpPr>
          <p:spPr>
            <a:xfrm>
              <a:off x="754560" y="5767200"/>
              <a:ext cx="548280" cy="308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r">
                <a:lnSpc>
                  <a:spcPts val="1621"/>
                </a:lnSpc>
              </a:pPr>
              <a:r>
                <a:rPr b="0" lang="en-US" sz="1350" spc="-1" strike="noStrike">
                  <a:solidFill>
                    <a:srgbClr val="9fb0c8"/>
                  </a:solidFill>
                  <a:latin typeface="Open Sans 1"/>
                  <a:ea typeface="Open Sans 1"/>
                </a:rPr>
                <a:t>100</a:t>
              </a:r>
              <a:endParaRPr b="0" lang="es-ES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79" name="Group 67"/>
          <p:cNvGrpSpPr/>
          <p:nvPr/>
        </p:nvGrpSpPr>
        <p:grpSpPr>
          <a:xfrm>
            <a:off x="1430640" y="9043200"/>
            <a:ext cx="10854360" cy="48960"/>
            <a:chOff x="1430640" y="9043200"/>
            <a:chExt cx="10854360" cy="48960"/>
          </a:xfrm>
        </p:grpSpPr>
        <p:sp>
          <p:nvSpPr>
            <p:cNvPr id="580" name="Freeform 68"/>
            <p:cNvSpPr/>
            <p:nvPr/>
          </p:nvSpPr>
          <p:spPr>
            <a:xfrm>
              <a:off x="1430640" y="9043200"/>
              <a:ext cx="10854360" cy="48960"/>
            </a:xfrm>
            <a:custGeom>
              <a:avLst/>
              <a:gdLst>
                <a:gd name="textAreaLeft" fmla="*/ 0 w 10854360"/>
                <a:gd name="textAreaRight" fmla="*/ 10854720 w 10854360"/>
                <a:gd name="textAreaTop" fmla="*/ 0 h 48960"/>
                <a:gd name="textAreaBottom" fmla="*/ 49320 h 48960"/>
              </a:gdLst>
              <a:ahLst/>
              <a:rect l="textAreaLeft" t="textAreaTop" r="textAreaRight" b="textAreaBottom"/>
              <a:pathLst>
                <a:path w="14472920" h="65659">
                  <a:moveTo>
                    <a:pt x="0" y="0"/>
                  </a:moveTo>
                  <a:lnTo>
                    <a:pt x="14472920" y="0"/>
                  </a:lnTo>
                  <a:lnTo>
                    <a:pt x="14472920" y="65659"/>
                  </a:lnTo>
                  <a:lnTo>
                    <a:pt x="0" y="65659"/>
                  </a:lnTo>
                  <a:close/>
                </a:path>
              </a:pathLst>
            </a:custGeom>
            <a:solidFill>
              <a:srgbClr val="c5cedc"/>
            </a:solidFill>
            <a:ln cap="sq" w="19050">
              <a:solidFill>
                <a:srgbClr val="c5ced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81" name="Group 69"/>
          <p:cNvGrpSpPr/>
          <p:nvPr/>
        </p:nvGrpSpPr>
        <p:grpSpPr>
          <a:xfrm>
            <a:off x="2804400" y="6166080"/>
            <a:ext cx="869040" cy="2895840"/>
            <a:chOff x="2804400" y="6166080"/>
            <a:chExt cx="869040" cy="2895840"/>
          </a:xfrm>
        </p:grpSpPr>
        <p:sp>
          <p:nvSpPr>
            <p:cNvPr id="582" name="Freeform 70"/>
            <p:cNvSpPr/>
            <p:nvPr/>
          </p:nvSpPr>
          <p:spPr>
            <a:xfrm>
              <a:off x="2804400" y="6166080"/>
              <a:ext cx="869040" cy="2895840"/>
            </a:xfrm>
            <a:custGeom>
              <a:avLst/>
              <a:gdLst>
                <a:gd name="textAreaLeft" fmla="*/ 0 w 869040"/>
                <a:gd name="textAreaRight" fmla="*/ 869400 w 869040"/>
                <a:gd name="textAreaTop" fmla="*/ 0 h 2895840"/>
                <a:gd name="textAreaBottom" fmla="*/ 2896200 h 2895840"/>
              </a:gdLst>
              <a:ahLst/>
              <a:rect l="textAreaLeft" t="textAreaTop" r="textAreaRight" b="textAreaBottom"/>
              <a:pathLst>
                <a:path w="1159256" h="3861435">
                  <a:moveTo>
                    <a:pt x="0" y="0"/>
                  </a:moveTo>
                  <a:lnTo>
                    <a:pt x="1159256" y="0"/>
                  </a:lnTo>
                  <a:lnTo>
                    <a:pt x="1159256" y="3861435"/>
                  </a:lnTo>
                  <a:lnTo>
                    <a:pt x="0" y="3861435"/>
                  </a:lnTo>
                  <a:close/>
                </a:path>
              </a:pathLst>
            </a:custGeom>
            <a:solidFill>
              <a:srgbClr val="2d6dec"/>
            </a:solidFill>
            <a:ln cap="sq" w="19050">
              <a:solidFill>
                <a:srgbClr val="2d6de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83" name="Group 71"/>
          <p:cNvGrpSpPr/>
          <p:nvPr/>
        </p:nvGrpSpPr>
        <p:grpSpPr>
          <a:xfrm>
            <a:off x="2608200" y="5819040"/>
            <a:ext cx="1261440" cy="353520"/>
            <a:chOff x="2608200" y="5819040"/>
            <a:chExt cx="1261440" cy="353520"/>
          </a:xfrm>
        </p:grpSpPr>
        <p:sp>
          <p:nvSpPr>
            <p:cNvPr id="584" name="Freeform 72"/>
            <p:cNvSpPr/>
            <p:nvPr/>
          </p:nvSpPr>
          <p:spPr>
            <a:xfrm>
              <a:off x="2608200" y="5819040"/>
              <a:ext cx="1261440" cy="353520"/>
            </a:xfrm>
            <a:custGeom>
              <a:avLst/>
              <a:gdLst>
                <a:gd name="textAreaLeft" fmla="*/ 0 w 1261440"/>
                <a:gd name="textAreaRight" fmla="*/ 1261800 w 1261440"/>
                <a:gd name="textAreaTop" fmla="*/ 0 h 353520"/>
                <a:gd name="textAreaBottom" fmla="*/ 353880 h 353520"/>
              </a:gdLst>
              <a:ahLst/>
              <a:rect l="textAreaLeft" t="textAreaTop" r="textAreaRight" b="textAreaBottom"/>
              <a:pathLst>
                <a:path w="1682496" h="471977">
                  <a:moveTo>
                    <a:pt x="0" y="0"/>
                  </a:moveTo>
                  <a:lnTo>
                    <a:pt x="1682496" y="0"/>
                  </a:lnTo>
                  <a:lnTo>
                    <a:pt x="1682496" y="471977"/>
                  </a:lnTo>
                  <a:lnTo>
                    <a:pt x="0" y="471977"/>
                  </a:lnTo>
                  <a:close/>
                </a:path>
              </a:pathLst>
            </a:custGeom>
            <a:blipFill rotWithShape="0">
              <a:blip r:embed="rId1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85" name="TextBox 73"/>
            <p:cNvSpPr/>
            <p:nvPr/>
          </p:nvSpPr>
          <p:spPr>
            <a:xfrm>
              <a:off x="2608200" y="5825880"/>
              <a:ext cx="1261440" cy="34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ts val="2069"/>
                </a:lnSpc>
              </a:pPr>
              <a:r>
                <a:rPr b="1" lang="en-US" sz="1729" spc="-1" strike="noStrike">
                  <a:solidFill>
                    <a:srgbClr val="13294b"/>
                  </a:solidFill>
                  <a:latin typeface="Open Sans 1 Bold"/>
                  <a:ea typeface="Open Sans 1 Bold"/>
                </a:rPr>
                <a:t>93.7%</a:t>
              </a:r>
              <a:endParaRPr b="0" lang="es-ES" sz="1729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86" name="Group 74"/>
          <p:cNvGrpSpPr/>
          <p:nvPr/>
        </p:nvGrpSpPr>
        <p:grpSpPr>
          <a:xfrm>
            <a:off x="3792240" y="6172920"/>
            <a:ext cx="869040" cy="2889000"/>
            <a:chOff x="3792240" y="6172920"/>
            <a:chExt cx="869040" cy="2889000"/>
          </a:xfrm>
        </p:grpSpPr>
        <p:sp>
          <p:nvSpPr>
            <p:cNvPr id="587" name="Freeform 75"/>
            <p:cNvSpPr/>
            <p:nvPr/>
          </p:nvSpPr>
          <p:spPr>
            <a:xfrm>
              <a:off x="3792240" y="6172920"/>
              <a:ext cx="869040" cy="2889000"/>
            </a:xfrm>
            <a:custGeom>
              <a:avLst/>
              <a:gdLst>
                <a:gd name="textAreaLeft" fmla="*/ 0 w 869040"/>
                <a:gd name="textAreaRight" fmla="*/ 869400 w 869040"/>
                <a:gd name="textAreaTop" fmla="*/ 0 h 2889000"/>
                <a:gd name="textAreaBottom" fmla="*/ 2889360 h 2889000"/>
              </a:gdLst>
              <a:ahLst/>
              <a:rect l="textAreaLeft" t="textAreaTop" r="textAreaRight" b="textAreaBottom"/>
              <a:pathLst>
                <a:path w="1159256" h="3852322">
                  <a:moveTo>
                    <a:pt x="0" y="0"/>
                  </a:moveTo>
                  <a:lnTo>
                    <a:pt x="1159256" y="0"/>
                  </a:lnTo>
                  <a:lnTo>
                    <a:pt x="1159256" y="3852322"/>
                  </a:lnTo>
                  <a:lnTo>
                    <a:pt x="0" y="3852322"/>
                  </a:lnTo>
                  <a:close/>
                </a:path>
              </a:pathLst>
            </a:custGeom>
            <a:solidFill>
              <a:srgbClr val="fa7508"/>
            </a:solidFill>
            <a:ln cap="sq" w="19050">
              <a:solidFill>
                <a:srgbClr val="16a085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88" name="Group 76"/>
          <p:cNvGrpSpPr/>
          <p:nvPr/>
        </p:nvGrpSpPr>
        <p:grpSpPr>
          <a:xfrm>
            <a:off x="3596040" y="5811840"/>
            <a:ext cx="1261440" cy="353520"/>
            <a:chOff x="3596040" y="5811840"/>
            <a:chExt cx="1261440" cy="353520"/>
          </a:xfrm>
        </p:grpSpPr>
        <p:sp>
          <p:nvSpPr>
            <p:cNvPr id="589" name="Freeform 77"/>
            <p:cNvSpPr/>
            <p:nvPr/>
          </p:nvSpPr>
          <p:spPr>
            <a:xfrm>
              <a:off x="3596040" y="5811840"/>
              <a:ext cx="1261440" cy="353520"/>
            </a:xfrm>
            <a:custGeom>
              <a:avLst/>
              <a:gdLst>
                <a:gd name="textAreaLeft" fmla="*/ 0 w 1261440"/>
                <a:gd name="textAreaRight" fmla="*/ 1261800 w 1261440"/>
                <a:gd name="textAreaTop" fmla="*/ 0 h 353520"/>
                <a:gd name="textAreaBottom" fmla="*/ 353880 h 353520"/>
              </a:gdLst>
              <a:ahLst/>
              <a:rect l="textAreaLeft" t="textAreaTop" r="textAreaRight" b="textAreaBottom"/>
              <a:pathLst>
                <a:path w="1682496" h="471977">
                  <a:moveTo>
                    <a:pt x="0" y="0"/>
                  </a:moveTo>
                  <a:lnTo>
                    <a:pt x="1682496" y="0"/>
                  </a:lnTo>
                  <a:lnTo>
                    <a:pt x="1682496" y="471977"/>
                  </a:lnTo>
                  <a:lnTo>
                    <a:pt x="0" y="471977"/>
                  </a:lnTo>
                  <a:close/>
                </a:path>
              </a:pathLst>
            </a:custGeom>
            <a:blipFill rotWithShape="0">
              <a:blip r:embed="rId1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90" name="TextBox 78"/>
            <p:cNvSpPr/>
            <p:nvPr/>
          </p:nvSpPr>
          <p:spPr>
            <a:xfrm>
              <a:off x="3596040" y="5819040"/>
              <a:ext cx="1261440" cy="34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ts val="2069"/>
                </a:lnSpc>
              </a:pPr>
              <a:r>
                <a:rPr b="1" lang="en-US" sz="1729" spc="-1" strike="noStrike">
                  <a:solidFill>
                    <a:srgbClr val="13294b"/>
                  </a:solidFill>
                  <a:latin typeface="Open Sans 1 Bold"/>
                  <a:ea typeface="Open Sans 1 Bold"/>
                </a:rPr>
                <a:t>93.7%</a:t>
              </a:r>
              <a:endParaRPr b="0" lang="es-ES" sz="1729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91" name="Group 79"/>
          <p:cNvGrpSpPr/>
          <p:nvPr/>
        </p:nvGrpSpPr>
        <p:grpSpPr>
          <a:xfrm>
            <a:off x="2632680" y="9162360"/>
            <a:ext cx="3291480" cy="383760"/>
            <a:chOff x="2632680" y="9162360"/>
            <a:chExt cx="3291480" cy="383760"/>
          </a:xfrm>
        </p:grpSpPr>
        <p:sp>
          <p:nvSpPr>
            <p:cNvPr id="592" name="Freeform 80"/>
            <p:cNvSpPr/>
            <p:nvPr/>
          </p:nvSpPr>
          <p:spPr>
            <a:xfrm>
              <a:off x="2632680" y="9162360"/>
              <a:ext cx="3291480" cy="383760"/>
            </a:xfrm>
            <a:custGeom>
              <a:avLst/>
              <a:gdLst>
                <a:gd name="textAreaLeft" fmla="*/ 0 w 3291480"/>
                <a:gd name="textAreaRight" fmla="*/ 3291840 w 3291480"/>
                <a:gd name="textAreaTop" fmla="*/ 0 h 383760"/>
                <a:gd name="textAreaBottom" fmla="*/ 384120 h 383760"/>
              </a:gdLst>
              <a:ahLst/>
              <a:rect l="textAreaLeft" t="textAreaTop" r="textAreaRight" b="textAreaBottom"/>
              <a:pathLst>
                <a:path w="4389120" h="512064">
                  <a:moveTo>
                    <a:pt x="0" y="0"/>
                  </a:moveTo>
                  <a:lnTo>
                    <a:pt x="4389120" y="0"/>
                  </a:lnTo>
                  <a:lnTo>
                    <a:pt x="4389120" y="512064"/>
                  </a:lnTo>
                  <a:lnTo>
                    <a:pt x="0" y="512064"/>
                  </a:lnTo>
                  <a:close/>
                </a:path>
              </a:pathLst>
            </a:custGeom>
            <a:blipFill rotWithShape="0">
              <a:blip r:embed="rId16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93" name="TextBox 81"/>
            <p:cNvSpPr/>
            <p:nvPr/>
          </p:nvSpPr>
          <p:spPr>
            <a:xfrm>
              <a:off x="2632680" y="9169560"/>
              <a:ext cx="3291480" cy="376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ts val="2160"/>
                </a:lnSpc>
              </a:pPr>
              <a:r>
                <a:rPr b="1" lang="en-US" sz="1800" spc="-1" strike="noStrike">
                  <a:solidFill>
                    <a:srgbClr val="5b6478"/>
                  </a:solidFill>
                  <a:latin typeface="Open Sans 1 Bold"/>
                  <a:ea typeface="Open Sans 1 Bold"/>
                </a:rPr>
                <a:t>Real/Fake</a:t>
              </a:r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94" name="Group 82"/>
          <p:cNvGrpSpPr/>
          <p:nvPr/>
        </p:nvGrpSpPr>
        <p:grpSpPr>
          <a:xfrm>
            <a:off x="10136520" y="5882040"/>
            <a:ext cx="1261440" cy="388080"/>
            <a:chOff x="10136520" y="5882040"/>
            <a:chExt cx="1261440" cy="388080"/>
          </a:xfrm>
        </p:grpSpPr>
        <p:sp>
          <p:nvSpPr>
            <p:cNvPr id="595" name="Freeform 83"/>
            <p:cNvSpPr/>
            <p:nvPr/>
          </p:nvSpPr>
          <p:spPr>
            <a:xfrm>
              <a:off x="10136520" y="5882040"/>
              <a:ext cx="1261440" cy="388080"/>
            </a:xfrm>
            <a:custGeom>
              <a:avLst/>
              <a:gdLst>
                <a:gd name="textAreaLeft" fmla="*/ 0 w 1261440"/>
                <a:gd name="textAreaRight" fmla="*/ 1261800 w 1261440"/>
                <a:gd name="textAreaTop" fmla="*/ 0 h 388080"/>
                <a:gd name="textAreaBottom" fmla="*/ 388440 h 388080"/>
              </a:gdLst>
              <a:ahLst/>
              <a:rect l="textAreaLeft" t="textAreaTop" r="textAreaRight" b="textAreaBottom"/>
              <a:pathLst>
                <a:path w="1682496" h="517728">
                  <a:moveTo>
                    <a:pt x="0" y="0"/>
                  </a:moveTo>
                  <a:lnTo>
                    <a:pt x="1682496" y="0"/>
                  </a:lnTo>
                  <a:lnTo>
                    <a:pt x="1682496" y="517728"/>
                  </a:lnTo>
                  <a:lnTo>
                    <a:pt x="0" y="517728"/>
                  </a:lnTo>
                  <a:close/>
                </a:path>
              </a:pathLst>
            </a:custGeom>
            <a:blipFill rotWithShape="0">
              <a:blip r:embed="rId17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96" name="TextBox 84"/>
            <p:cNvSpPr/>
            <p:nvPr/>
          </p:nvSpPr>
          <p:spPr>
            <a:xfrm>
              <a:off x="10136520" y="5889240"/>
              <a:ext cx="1261440" cy="38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ts val="2069"/>
                </a:lnSpc>
              </a:pPr>
              <a:r>
                <a:rPr b="1" lang="en-US" sz="1729" spc="-1" strike="noStrike">
                  <a:solidFill>
                    <a:srgbClr val="13294b"/>
                  </a:solidFill>
                  <a:latin typeface="Open Sans 1 Bold"/>
                  <a:ea typeface="Open Sans 1 Bold"/>
                </a:rPr>
                <a:t>90.9%</a:t>
              </a:r>
              <a:endParaRPr b="0" lang="es-ES" sz="1729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97" name="Group 85"/>
          <p:cNvGrpSpPr/>
          <p:nvPr/>
        </p:nvGrpSpPr>
        <p:grpSpPr>
          <a:xfrm>
            <a:off x="9284040" y="6076080"/>
            <a:ext cx="869040" cy="2985480"/>
            <a:chOff x="9284040" y="6076080"/>
            <a:chExt cx="869040" cy="2985480"/>
          </a:xfrm>
        </p:grpSpPr>
        <p:sp>
          <p:nvSpPr>
            <p:cNvPr id="598" name="Freeform 86"/>
            <p:cNvSpPr/>
            <p:nvPr/>
          </p:nvSpPr>
          <p:spPr>
            <a:xfrm>
              <a:off x="9284040" y="6076080"/>
              <a:ext cx="869040" cy="2985480"/>
            </a:xfrm>
            <a:custGeom>
              <a:avLst/>
              <a:gdLst>
                <a:gd name="textAreaLeft" fmla="*/ 0 w 869040"/>
                <a:gd name="textAreaRight" fmla="*/ 869400 w 869040"/>
                <a:gd name="textAreaTop" fmla="*/ 0 h 2985480"/>
                <a:gd name="textAreaBottom" fmla="*/ 2985840 h 2985480"/>
              </a:gdLst>
              <a:ahLst/>
              <a:rect l="textAreaLeft" t="textAreaTop" r="textAreaRight" b="textAreaBottom"/>
              <a:pathLst>
                <a:path w="1159256" h="3981183">
                  <a:moveTo>
                    <a:pt x="0" y="0"/>
                  </a:moveTo>
                  <a:lnTo>
                    <a:pt x="1159256" y="0"/>
                  </a:lnTo>
                  <a:lnTo>
                    <a:pt x="1159256" y="3981183"/>
                  </a:lnTo>
                  <a:lnTo>
                    <a:pt x="0" y="3981183"/>
                  </a:lnTo>
                  <a:close/>
                </a:path>
              </a:pathLst>
            </a:custGeom>
            <a:solidFill>
              <a:srgbClr val="fa7508"/>
            </a:solidFill>
            <a:ln cap="sq" w="19050">
              <a:solidFill>
                <a:srgbClr val="16a085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99" name="Group 87"/>
          <p:cNvGrpSpPr/>
          <p:nvPr/>
        </p:nvGrpSpPr>
        <p:grpSpPr>
          <a:xfrm>
            <a:off x="9070920" y="5668920"/>
            <a:ext cx="1261440" cy="353520"/>
            <a:chOff x="9070920" y="5668920"/>
            <a:chExt cx="1261440" cy="353520"/>
          </a:xfrm>
        </p:grpSpPr>
        <p:sp>
          <p:nvSpPr>
            <p:cNvPr id="600" name="Freeform 88"/>
            <p:cNvSpPr/>
            <p:nvPr/>
          </p:nvSpPr>
          <p:spPr>
            <a:xfrm>
              <a:off x="9070920" y="5668920"/>
              <a:ext cx="1261440" cy="353520"/>
            </a:xfrm>
            <a:custGeom>
              <a:avLst/>
              <a:gdLst>
                <a:gd name="textAreaLeft" fmla="*/ 0 w 1261440"/>
                <a:gd name="textAreaRight" fmla="*/ 1261800 w 1261440"/>
                <a:gd name="textAreaTop" fmla="*/ 0 h 353520"/>
                <a:gd name="textAreaBottom" fmla="*/ 353880 h 353520"/>
              </a:gdLst>
              <a:ahLst/>
              <a:rect l="textAreaLeft" t="textAreaTop" r="textAreaRight" b="textAreaBottom"/>
              <a:pathLst>
                <a:path w="1682496" h="471977">
                  <a:moveTo>
                    <a:pt x="0" y="0"/>
                  </a:moveTo>
                  <a:lnTo>
                    <a:pt x="1682496" y="0"/>
                  </a:lnTo>
                  <a:lnTo>
                    <a:pt x="1682496" y="471977"/>
                  </a:lnTo>
                  <a:lnTo>
                    <a:pt x="0" y="471977"/>
                  </a:lnTo>
                  <a:close/>
                </a:path>
              </a:pathLst>
            </a:custGeom>
            <a:blipFill rotWithShape="0">
              <a:blip r:embed="rId18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01" name="TextBox 89"/>
            <p:cNvSpPr/>
            <p:nvPr/>
          </p:nvSpPr>
          <p:spPr>
            <a:xfrm>
              <a:off x="9070920" y="5675760"/>
              <a:ext cx="1261440" cy="34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ts val="2069"/>
                </a:lnSpc>
              </a:pPr>
              <a:r>
                <a:rPr b="1" lang="en-US" sz="1729" spc="-1" strike="noStrike">
                  <a:solidFill>
                    <a:srgbClr val="13294b"/>
                  </a:solidFill>
                  <a:latin typeface="Open Sans 1 Bold"/>
                  <a:ea typeface="Open Sans 1 Bold"/>
                </a:rPr>
                <a:t>94.4%</a:t>
              </a:r>
              <a:endParaRPr b="0" lang="es-ES" sz="1729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02" name="Group 90"/>
          <p:cNvGrpSpPr/>
          <p:nvPr/>
        </p:nvGrpSpPr>
        <p:grpSpPr>
          <a:xfrm>
            <a:off x="8073000" y="9149400"/>
            <a:ext cx="3291480" cy="383760"/>
            <a:chOff x="8073000" y="9149400"/>
            <a:chExt cx="3291480" cy="383760"/>
          </a:xfrm>
        </p:grpSpPr>
        <p:sp>
          <p:nvSpPr>
            <p:cNvPr id="603" name="Freeform 91"/>
            <p:cNvSpPr/>
            <p:nvPr/>
          </p:nvSpPr>
          <p:spPr>
            <a:xfrm>
              <a:off x="8073000" y="9149400"/>
              <a:ext cx="3291480" cy="383760"/>
            </a:xfrm>
            <a:custGeom>
              <a:avLst/>
              <a:gdLst>
                <a:gd name="textAreaLeft" fmla="*/ 0 w 3291480"/>
                <a:gd name="textAreaRight" fmla="*/ 3291840 w 3291480"/>
                <a:gd name="textAreaTop" fmla="*/ 0 h 383760"/>
                <a:gd name="textAreaBottom" fmla="*/ 384120 h 383760"/>
              </a:gdLst>
              <a:ahLst/>
              <a:rect l="textAreaLeft" t="textAreaTop" r="textAreaRight" b="textAreaBottom"/>
              <a:pathLst>
                <a:path w="4389120" h="512064">
                  <a:moveTo>
                    <a:pt x="0" y="0"/>
                  </a:moveTo>
                  <a:lnTo>
                    <a:pt x="4389120" y="0"/>
                  </a:lnTo>
                  <a:lnTo>
                    <a:pt x="4389120" y="512064"/>
                  </a:lnTo>
                  <a:lnTo>
                    <a:pt x="0" y="512064"/>
                  </a:lnTo>
                  <a:close/>
                </a:path>
              </a:pathLst>
            </a:custGeom>
            <a:blipFill rotWithShape="0">
              <a:blip r:embed="rId19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04" name="TextBox 92"/>
            <p:cNvSpPr/>
            <p:nvPr/>
          </p:nvSpPr>
          <p:spPr>
            <a:xfrm>
              <a:off x="8073000" y="9156600"/>
              <a:ext cx="3291480" cy="376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ts val="2160"/>
                </a:lnSpc>
              </a:pPr>
              <a:r>
                <a:rPr b="1" lang="en-US" sz="1800" spc="-1" strike="noStrike">
                  <a:solidFill>
                    <a:srgbClr val="5b6478"/>
                  </a:solidFill>
                  <a:latin typeface="Open Sans 1 Bold"/>
                  <a:ea typeface="Open Sans 1 Bold"/>
                </a:rPr>
                <a:t>Transform</a:t>
              </a:r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05" name="Group 93"/>
          <p:cNvGrpSpPr/>
          <p:nvPr/>
        </p:nvGrpSpPr>
        <p:grpSpPr>
          <a:xfrm>
            <a:off x="12814920" y="5668920"/>
            <a:ext cx="4723200" cy="3423240"/>
            <a:chOff x="12814920" y="5668920"/>
            <a:chExt cx="4723200" cy="3423240"/>
          </a:xfrm>
        </p:grpSpPr>
        <p:sp>
          <p:nvSpPr>
            <p:cNvPr id="606" name="Freeform 94"/>
            <p:cNvSpPr/>
            <p:nvPr/>
          </p:nvSpPr>
          <p:spPr>
            <a:xfrm>
              <a:off x="12814920" y="5668920"/>
              <a:ext cx="4723200" cy="3423240"/>
            </a:xfrm>
            <a:custGeom>
              <a:avLst/>
              <a:gdLst>
                <a:gd name="textAreaLeft" fmla="*/ 0 w 4723200"/>
                <a:gd name="textAreaRight" fmla="*/ 4723560 w 4723200"/>
                <a:gd name="textAreaTop" fmla="*/ 0 h 3423240"/>
                <a:gd name="textAreaBottom" fmla="*/ 3423600 h 3423240"/>
              </a:gdLst>
              <a:ahLst/>
              <a:rect l="textAreaLeft" t="textAreaTop" r="textAreaRight" b="textAreaBottom"/>
              <a:pathLst>
                <a:path w="6298184" h="4564659">
                  <a:moveTo>
                    <a:pt x="0" y="0"/>
                  </a:moveTo>
                  <a:lnTo>
                    <a:pt x="6298184" y="0"/>
                  </a:lnTo>
                  <a:lnTo>
                    <a:pt x="6298184" y="4564659"/>
                  </a:lnTo>
                  <a:lnTo>
                    <a:pt x="0" y="4564659"/>
                  </a:lnTo>
                  <a:close/>
                </a:path>
              </a:pathLst>
            </a:custGeom>
            <a:solidFill>
              <a:srgbClr val="0e2240"/>
            </a:solidFill>
            <a:ln cap="sq" w="19050">
              <a:solidFill>
                <a:srgbClr val="0e224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607" name="TextBox 95"/>
          <p:cNvSpPr/>
          <p:nvPr/>
        </p:nvSpPr>
        <p:spPr>
          <a:xfrm>
            <a:off x="13010400" y="5940000"/>
            <a:ext cx="4332600" cy="15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4198"/>
              </a:lnSpc>
            </a:pPr>
            <a:r>
              <a:rPr b="1" lang="en-US" sz="3500" spc="-1" strike="noStrike">
                <a:solidFill>
                  <a:srgbClr val="ffffff"/>
                </a:solidFill>
                <a:latin typeface="Playfair Display Bold"/>
                <a:ea typeface="Playfair Display Bold"/>
              </a:rPr>
              <a:t>Multi-task synergy improves robustness</a:t>
            </a:r>
            <a:endParaRPr b="0" lang="es-ES" sz="35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08" name="Group 96"/>
          <p:cNvGrpSpPr/>
          <p:nvPr/>
        </p:nvGrpSpPr>
        <p:grpSpPr>
          <a:xfrm>
            <a:off x="13032000" y="7641360"/>
            <a:ext cx="4332600" cy="98640"/>
            <a:chOff x="13032000" y="7641360"/>
            <a:chExt cx="4332600" cy="98640"/>
          </a:xfrm>
        </p:grpSpPr>
        <p:sp>
          <p:nvSpPr>
            <p:cNvPr id="609" name="Freeform 97"/>
            <p:cNvSpPr/>
            <p:nvPr/>
          </p:nvSpPr>
          <p:spPr>
            <a:xfrm>
              <a:off x="13032000" y="7641360"/>
              <a:ext cx="4332600" cy="98640"/>
            </a:xfrm>
            <a:custGeom>
              <a:avLst/>
              <a:gdLst>
                <a:gd name="textAreaLeft" fmla="*/ 0 w 4332600"/>
                <a:gd name="textAreaRight" fmla="*/ 4332960 w 4332600"/>
                <a:gd name="textAreaTop" fmla="*/ 0 h 98640"/>
                <a:gd name="textAreaBottom" fmla="*/ 99000 h 98640"/>
              </a:gdLst>
              <a:ahLst/>
              <a:rect l="textAreaLeft" t="textAreaTop" r="textAreaRight" b="textAreaBottom"/>
              <a:pathLst>
                <a:path w="1488440" h="33983">
                  <a:moveTo>
                    <a:pt x="0" y="0"/>
                  </a:moveTo>
                  <a:lnTo>
                    <a:pt x="1488440" y="0"/>
                  </a:lnTo>
                  <a:lnTo>
                    <a:pt x="1488440" y="33983"/>
                  </a:lnTo>
                  <a:lnTo>
                    <a:pt x="0" y="33983"/>
                  </a:lnTo>
                  <a:close/>
                </a:path>
              </a:pathLst>
            </a:custGeom>
            <a:solidFill>
              <a:srgbClr val="f7f9fc"/>
            </a:solidFill>
            <a:ln cap="sq" w="1905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610" name="TextBox 98"/>
          <p:cNvSpPr/>
          <p:nvPr/>
        </p:nvSpPr>
        <p:spPr>
          <a:xfrm>
            <a:off x="13250880" y="7920000"/>
            <a:ext cx="385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216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Open Sans 1 Bold"/>
                <a:ea typeface="Open Sans 1 Bold"/>
              </a:rPr>
              <a:t>Shared features, superior results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" name="TextBox 99"/>
          <p:cNvSpPr/>
          <p:nvPr/>
        </p:nvSpPr>
        <p:spPr>
          <a:xfrm>
            <a:off x="14130000" y="9613440"/>
            <a:ext cx="6797520" cy="39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3078"/>
              </a:lnSpc>
            </a:pPr>
            <a:r>
              <a:rPr b="1" lang="en-US" sz="2200" spc="-1" strike="noStrike">
                <a:solidFill>
                  <a:srgbClr val="4d4b66"/>
                </a:solidFill>
                <a:latin typeface="Montserrat Bold"/>
                <a:ea typeface="Montserrat Bold"/>
              </a:rPr>
              <a:t>12/15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12" name="Picture 100" descr=""/>
          <p:cNvPicPr/>
          <p:nvPr/>
        </p:nvPicPr>
        <p:blipFill>
          <a:blip r:embed="rId20"/>
          <a:stretch/>
        </p:blipFill>
        <p:spPr>
          <a:xfrm>
            <a:off x="7560720" y="583920"/>
            <a:ext cx="3581280" cy="1100160"/>
          </a:xfrm>
          <a:prstGeom prst="rect">
            <a:avLst/>
          </a:prstGeom>
          <a:ln w="0">
            <a:noFill/>
          </a:ln>
        </p:spPr>
      </p:pic>
      <p:pic>
        <p:nvPicPr>
          <p:cNvPr id="613" name="Picture 101" descr=""/>
          <p:cNvPicPr/>
          <p:nvPr/>
        </p:nvPicPr>
        <p:blipFill>
          <a:blip r:embed="rId21"/>
          <a:stretch/>
        </p:blipFill>
        <p:spPr>
          <a:xfrm>
            <a:off x="4284720" y="2487240"/>
            <a:ext cx="1658520" cy="583200"/>
          </a:xfrm>
          <a:prstGeom prst="rect">
            <a:avLst/>
          </a:prstGeom>
          <a:ln w="0">
            <a:noFill/>
          </a:ln>
        </p:spPr>
      </p:pic>
      <p:pic>
        <p:nvPicPr>
          <p:cNvPr id="614" name="Picture 102" descr=""/>
          <p:cNvPicPr/>
          <p:nvPr/>
        </p:nvPicPr>
        <p:blipFill>
          <a:blip r:embed="rId22"/>
          <a:stretch/>
        </p:blipFill>
        <p:spPr>
          <a:xfrm>
            <a:off x="13552200" y="2384640"/>
            <a:ext cx="1658520" cy="583200"/>
          </a:xfrm>
          <a:prstGeom prst="rect">
            <a:avLst/>
          </a:prstGeom>
          <a:ln w="0">
            <a:noFill/>
          </a:ln>
        </p:spPr>
      </p:pic>
      <p:grpSp>
        <p:nvGrpSpPr>
          <p:cNvPr id="615" name="Group 103"/>
          <p:cNvGrpSpPr/>
          <p:nvPr/>
        </p:nvGrpSpPr>
        <p:grpSpPr>
          <a:xfrm>
            <a:off x="4815720" y="7614000"/>
            <a:ext cx="869040" cy="1438200"/>
            <a:chOff x="4815720" y="7614000"/>
            <a:chExt cx="869040" cy="1438200"/>
          </a:xfrm>
        </p:grpSpPr>
        <p:sp>
          <p:nvSpPr>
            <p:cNvPr id="616" name="Freeform 104"/>
            <p:cNvSpPr/>
            <p:nvPr/>
          </p:nvSpPr>
          <p:spPr>
            <a:xfrm>
              <a:off x="4815720" y="7614000"/>
              <a:ext cx="869040" cy="1438200"/>
            </a:xfrm>
            <a:custGeom>
              <a:avLst/>
              <a:gdLst>
                <a:gd name="textAreaLeft" fmla="*/ 0 w 869040"/>
                <a:gd name="textAreaRight" fmla="*/ 869400 w 869040"/>
                <a:gd name="textAreaTop" fmla="*/ 0 h 1438200"/>
                <a:gd name="textAreaBottom" fmla="*/ 1438560 h 1438200"/>
              </a:gdLst>
              <a:ahLst/>
              <a:rect l="textAreaLeft" t="textAreaTop" r="textAreaRight" b="textAreaBottom"/>
              <a:pathLst>
                <a:path w="1159256" h="1918068">
                  <a:moveTo>
                    <a:pt x="0" y="0"/>
                  </a:moveTo>
                  <a:lnTo>
                    <a:pt x="1159256" y="0"/>
                  </a:lnTo>
                  <a:lnTo>
                    <a:pt x="1159256" y="1918068"/>
                  </a:lnTo>
                  <a:lnTo>
                    <a:pt x="0" y="1918068"/>
                  </a:lnTo>
                  <a:close/>
                </a:path>
              </a:pathLst>
            </a:custGeom>
            <a:solidFill>
              <a:srgbClr val="16a085"/>
            </a:solidFill>
            <a:ln cap="sq" w="19050">
              <a:solidFill>
                <a:srgbClr val="16a085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17" name="Group 105"/>
          <p:cNvGrpSpPr/>
          <p:nvPr/>
        </p:nvGrpSpPr>
        <p:grpSpPr>
          <a:xfrm>
            <a:off x="8303400" y="7980120"/>
            <a:ext cx="869040" cy="1056600"/>
            <a:chOff x="8303400" y="7980120"/>
            <a:chExt cx="869040" cy="1056600"/>
          </a:xfrm>
        </p:grpSpPr>
        <p:sp>
          <p:nvSpPr>
            <p:cNvPr id="618" name="Freeform 106"/>
            <p:cNvSpPr/>
            <p:nvPr/>
          </p:nvSpPr>
          <p:spPr>
            <a:xfrm>
              <a:off x="8303400" y="7980120"/>
              <a:ext cx="869040" cy="1056600"/>
            </a:xfrm>
            <a:custGeom>
              <a:avLst/>
              <a:gdLst>
                <a:gd name="textAreaLeft" fmla="*/ 0 w 869040"/>
                <a:gd name="textAreaRight" fmla="*/ 869400 w 869040"/>
                <a:gd name="textAreaTop" fmla="*/ 0 h 1056600"/>
                <a:gd name="textAreaBottom" fmla="*/ 1056960 h 1056600"/>
              </a:gdLst>
              <a:ahLst/>
              <a:rect l="textAreaLeft" t="textAreaTop" r="textAreaRight" b="textAreaBottom"/>
              <a:pathLst>
                <a:path w="1159256" h="1409389">
                  <a:moveTo>
                    <a:pt x="0" y="0"/>
                  </a:moveTo>
                  <a:lnTo>
                    <a:pt x="1159256" y="0"/>
                  </a:lnTo>
                  <a:lnTo>
                    <a:pt x="1159256" y="1409389"/>
                  </a:lnTo>
                  <a:lnTo>
                    <a:pt x="0" y="1409389"/>
                  </a:lnTo>
                  <a:close/>
                </a:path>
              </a:pathLst>
            </a:custGeom>
            <a:solidFill>
              <a:srgbClr val="2d6dec"/>
            </a:solidFill>
            <a:ln cap="sq" w="19050">
              <a:solidFill>
                <a:srgbClr val="16a085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19" name="Group 107"/>
          <p:cNvGrpSpPr/>
          <p:nvPr/>
        </p:nvGrpSpPr>
        <p:grpSpPr>
          <a:xfrm>
            <a:off x="8296560" y="5380920"/>
            <a:ext cx="210600" cy="210600"/>
            <a:chOff x="8296560" y="5380920"/>
            <a:chExt cx="210600" cy="210600"/>
          </a:xfrm>
        </p:grpSpPr>
        <p:sp>
          <p:nvSpPr>
            <p:cNvPr id="620" name="Freeform 108"/>
            <p:cNvSpPr/>
            <p:nvPr/>
          </p:nvSpPr>
          <p:spPr>
            <a:xfrm>
              <a:off x="8296560" y="5380920"/>
              <a:ext cx="210600" cy="210600"/>
            </a:xfrm>
            <a:custGeom>
              <a:avLst/>
              <a:gdLst>
                <a:gd name="textAreaLeft" fmla="*/ 0 w 210600"/>
                <a:gd name="textAreaRight" fmla="*/ 210960 w 210600"/>
                <a:gd name="textAreaTop" fmla="*/ 0 h 210600"/>
                <a:gd name="textAreaBottom" fmla="*/ 210960 h 210600"/>
              </a:gdLst>
              <a:ahLst/>
              <a:rect l="textAreaLeft" t="textAreaTop" r="textAreaRight" b="textAreaBottom"/>
              <a:pathLst>
                <a:path w="281432" h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16a085"/>
            </a:solidFill>
            <a:ln cap="sq" w="19050">
              <a:solidFill>
                <a:srgbClr val="2d6de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621" name="Picture 109" descr=""/>
          <p:cNvPicPr/>
          <p:nvPr/>
        </p:nvPicPr>
        <p:blipFill>
          <a:blip r:embed="rId23"/>
          <a:stretch/>
        </p:blipFill>
        <p:spPr>
          <a:xfrm>
            <a:off x="5537160" y="5314680"/>
            <a:ext cx="928440" cy="326520"/>
          </a:xfrm>
          <a:prstGeom prst="rect">
            <a:avLst/>
          </a:prstGeom>
          <a:ln w="0">
            <a:noFill/>
          </a:ln>
        </p:spPr>
      </p:pic>
      <p:pic>
        <p:nvPicPr>
          <p:cNvPr id="622" name="Picture 110" descr=""/>
          <p:cNvPicPr/>
          <p:nvPr/>
        </p:nvPicPr>
        <p:blipFill>
          <a:blip r:embed="rId24"/>
          <a:stretch/>
        </p:blipFill>
        <p:spPr>
          <a:xfrm>
            <a:off x="7115760" y="5314680"/>
            <a:ext cx="928440" cy="326520"/>
          </a:xfrm>
          <a:prstGeom prst="rect">
            <a:avLst/>
          </a:prstGeom>
          <a:ln w="0">
            <a:noFill/>
          </a:ln>
        </p:spPr>
      </p:pic>
      <p:pic>
        <p:nvPicPr>
          <p:cNvPr id="623" name="Picture 111" descr=""/>
          <p:cNvPicPr/>
          <p:nvPr/>
        </p:nvPicPr>
        <p:blipFill>
          <a:blip r:embed="rId25"/>
          <a:stretch/>
        </p:blipFill>
        <p:spPr>
          <a:xfrm>
            <a:off x="8553960" y="5322960"/>
            <a:ext cx="928440" cy="326520"/>
          </a:xfrm>
          <a:prstGeom prst="rect">
            <a:avLst/>
          </a:prstGeom>
          <a:ln w="0">
            <a:noFill/>
          </a:ln>
        </p:spPr>
      </p:pic>
      <p:grpSp>
        <p:nvGrpSpPr>
          <p:cNvPr id="624" name="Group 112"/>
          <p:cNvGrpSpPr/>
          <p:nvPr/>
        </p:nvGrpSpPr>
        <p:grpSpPr>
          <a:xfrm>
            <a:off x="4662720" y="7263360"/>
            <a:ext cx="1261440" cy="353520"/>
            <a:chOff x="4662720" y="7263360"/>
            <a:chExt cx="1261440" cy="353520"/>
          </a:xfrm>
        </p:grpSpPr>
        <p:sp>
          <p:nvSpPr>
            <p:cNvPr id="625" name="Freeform 113"/>
            <p:cNvSpPr/>
            <p:nvPr/>
          </p:nvSpPr>
          <p:spPr>
            <a:xfrm>
              <a:off x="4662720" y="7263360"/>
              <a:ext cx="1261440" cy="353520"/>
            </a:xfrm>
            <a:custGeom>
              <a:avLst/>
              <a:gdLst>
                <a:gd name="textAreaLeft" fmla="*/ 0 w 1261440"/>
                <a:gd name="textAreaRight" fmla="*/ 1261800 w 1261440"/>
                <a:gd name="textAreaTop" fmla="*/ 0 h 353520"/>
                <a:gd name="textAreaBottom" fmla="*/ 353880 h 353520"/>
              </a:gdLst>
              <a:ahLst/>
              <a:rect l="textAreaLeft" t="textAreaTop" r="textAreaRight" b="textAreaBottom"/>
              <a:pathLst>
                <a:path w="1682496" h="471977">
                  <a:moveTo>
                    <a:pt x="0" y="0"/>
                  </a:moveTo>
                  <a:lnTo>
                    <a:pt x="1682496" y="0"/>
                  </a:lnTo>
                  <a:lnTo>
                    <a:pt x="1682496" y="471977"/>
                  </a:lnTo>
                  <a:lnTo>
                    <a:pt x="0" y="471977"/>
                  </a:lnTo>
                  <a:close/>
                </a:path>
              </a:pathLst>
            </a:custGeom>
            <a:blipFill rotWithShape="0">
              <a:blip r:embed="rId26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26" name="TextBox 114"/>
            <p:cNvSpPr/>
            <p:nvPr/>
          </p:nvSpPr>
          <p:spPr>
            <a:xfrm>
              <a:off x="4662720" y="7270560"/>
              <a:ext cx="1261440" cy="34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ts val="2069"/>
                </a:lnSpc>
              </a:pPr>
              <a:r>
                <a:rPr b="1" lang="en-US" sz="1729" spc="-1" strike="noStrike">
                  <a:solidFill>
                    <a:srgbClr val="13294b"/>
                  </a:solidFill>
                  <a:latin typeface="Open Sans 1 Bold"/>
                  <a:ea typeface="Open Sans 1 Bold"/>
                </a:rPr>
                <a:t>45.6%</a:t>
              </a:r>
              <a:endParaRPr b="0" lang="es-ES" sz="1729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27" name="Group 115"/>
          <p:cNvGrpSpPr/>
          <p:nvPr/>
        </p:nvGrpSpPr>
        <p:grpSpPr>
          <a:xfrm>
            <a:off x="8107200" y="7598520"/>
            <a:ext cx="1261440" cy="353520"/>
            <a:chOff x="8107200" y="7598520"/>
            <a:chExt cx="1261440" cy="353520"/>
          </a:xfrm>
        </p:grpSpPr>
        <p:sp>
          <p:nvSpPr>
            <p:cNvPr id="628" name="Freeform 116"/>
            <p:cNvSpPr/>
            <p:nvPr/>
          </p:nvSpPr>
          <p:spPr>
            <a:xfrm>
              <a:off x="8107200" y="7598520"/>
              <a:ext cx="1261440" cy="353520"/>
            </a:xfrm>
            <a:custGeom>
              <a:avLst/>
              <a:gdLst>
                <a:gd name="textAreaLeft" fmla="*/ 0 w 1261440"/>
                <a:gd name="textAreaRight" fmla="*/ 1261800 w 1261440"/>
                <a:gd name="textAreaTop" fmla="*/ 0 h 353520"/>
                <a:gd name="textAreaBottom" fmla="*/ 353880 h 353520"/>
              </a:gdLst>
              <a:ahLst/>
              <a:rect l="textAreaLeft" t="textAreaTop" r="textAreaRight" b="textAreaBottom"/>
              <a:pathLst>
                <a:path w="1682496" h="471977">
                  <a:moveTo>
                    <a:pt x="0" y="0"/>
                  </a:moveTo>
                  <a:lnTo>
                    <a:pt x="1682496" y="0"/>
                  </a:lnTo>
                  <a:lnTo>
                    <a:pt x="1682496" y="471977"/>
                  </a:lnTo>
                  <a:lnTo>
                    <a:pt x="0" y="471977"/>
                  </a:lnTo>
                  <a:close/>
                </a:path>
              </a:pathLst>
            </a:custGeom>
            <a:blipFill rotWithShape="0">
              <a:blip r:embed="rId27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29" name="TextBox 117"/>
            <p:cNvSpPr/>
            <p:nvPr/>
          </p:nvSpPr>
          <p:spPr>
            <a:xfrm>
              <a:off x="8107200" y="7605720"/>
              <a:ext cx="1261440" cy="34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ts val="2069"/>
                </a:lnSpc>
              </a:pPr>
              <a:r>
                <a:rPr b="1" lang="en-US" sz="1729" spc="-1" strike="noStrike">
                  <a:solidFill>
                    <a:srgbClr val="13294b"/>
                  </a:solidFill>
                  <a:latin typeface="Open Sans 1 Bold"/>
                  <a:ea typeface="Open Sans 1 Bold"/>
                </a:rPr>
                <a:t>34.2%</a:t>
              </a:r>
              <a:endParaRPr b="0" lang="es-ES" sz="1729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30" name="Group 118"/>
          <p:cNvGrpSpPr/>
          <p:nvPr/>
        </p:nvGrpSpPr>
        <p:grpSpPr>
          <a:xfrm>
            <a:off x="10332720" y="6234120"/>
            <a:ext cx="869040" cy="2827800"/>
            <a:chOff x="10332720" y="6234120"/>
            <a:chExt cx="869040" cy="2827800"/>
          </a:xfrm>
        </p:grpSpPr>
        <p:sp>
          <p:nvSpPr>
            <p:cNvPr id="631" name="Freeform 119"/>
            <p:cNvSpPr/>
            <p:nvPr/>
          </p:nvSpPr>
          <p:spPr>
            <a:xfrm>
              <a:off x="10332720" y="6234120"/>
              <a:ext cx="869040" cy="2827800"/>
            </a:xfrm>
            <a:custGeom>
              <a:avLst/>
              <a:gdLst>
                <a:gd name="textAreaLeft" fmla="*/ 0 w 869040"/>
                <a:gd name="textAreaRight" fmla="*/ 869400 w 869040"/>
                <a:gd name="textAreaTop" fmla="*/ 0 h 2827800"/>
                <a:gd name="textAreaBottom" fmla="*/ 2828160 h 2827800"/>
              </a:gdLst>
              <a:ahLst/>
              <a:rect l="textAreaLeft" t="textAreaTop" r="textAreaRight" b="textAreaBottom"/>
              <a:pathLst>
                <a:path w="1159256" h="3770697">
                  <a:moveTo>
                    <a:pt x="0" y="0"/>
                  </a:moveTo>
                  <a:lnTo>
                    <a:pt x="1159256" y="0"/>
                  </a:lnTo>
                  <a:lnTo>
                    <a:pt x="1159256" y="3770697"/>
                  </a:lnTo>
                  <a:lnTo>
                    <a:pt x="0" y="3770697"/>
                  </a:lnTo>
                  <a:close/>
                </a:path>
              </a:pathLst>
            </a:custGeom>
            <a:solidFill>
              <a:srgbClr val="16a085"/>
            </a:solidFill>
            <a:ln cap="sq" w="19050">
              <a:solidFill>
                <a:srgbClr val="2d6de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632" name="Picture 120" descr=""/>
          <p:cNvPicPr/>
          <p:nvPr/>
        </p:nvPicPr>
        <p:blipFill>
          <a:blip r:embed="rId28"/>
          <a:stretch/>
        </p:blipFill>
        <p:spPr>
          <a:xfrm>
            <a:off x="10834200" y="4714200"/>
            <a:ext cx="1427040" cy="501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3" name="Group 2"/>
          <p:cNvGrpSpPr/>
          <p:nvPr/>
        </p:nvGrpSpPr>
        <p:grpSpPr>
          <a:xfrm>
            <a:off x="744840" y="566640"/>
            <a:ext cx="1088640" cy="1088640"/>
            <a:chOff x="744840" y="566640"/>
            <a:chExt cx="1088640" cy="1088640"/>
          </a:xfrm>
        </p:grpSpPr>
        <p:sp>
          <p:nvSpPr>
            <p:cNvPr id="634" name="Freeform 3"/>
            <p:cNvSpPr/>
            <p:nvPr/>
          </p:nvSpPr>
          <p:spPr>
            <a:xfrm>
              <a:off x="744840" y="566640"/>
              <a:ext cx="1088640" cy="1088640"/>
            </a:xfrm>
            <a:custGeom>
              <a:avLst/>
              <a:gdLst>
                <a:gd name="textAreaLeft" fmla="*/ 0 w 1088640"/>
                <a:gd name="textAreaRight" fmla="*/ 1089000 w 1088640"/>
                <a:gd name="textAreaTop" fmla="*/ 0 h 1088640"/>
                <a:gd name="textAreaBottom" fmla="*/ 1089000 h 1088640"/>
              </a:gdLst>
              <a:ahLst/>
              <a:rect l="textAreaLeft" t="textAreaTop" r="textAreaRight" b="textAreaBottom"/>
              <a:pathLst>
                <a:path w="1451864" h="1451864">
                  <a:moveTo>
                    <a:pt x="0" y="725932"/>
                  </a:moveTo>
                  <a:cubicBezTo>
                    <a:pt x="0" y="324993"/>
                    <a:pt x="324993" y="0"/>
                    <a:pt x="725932" y="0"/>
                  </a:cubicBezTo>
                  <a:cubicBezTo>
                    <a:pt x="1126871" y="0"/>
                    <a:pt x="1451864" y="324993"/>
                    <a:pt x="1451864" y="725932"/>
                  </a:cubicBezTo>
                  <a:cubicBezTo>
                    <a:pt x="1451864" y="1126871"/>
                    <a:pt x="1126871" y="1451864"/>
                    <a:pt x="725932" y="1451864"/>
                  </a:cubicBezTo>
                  <a:cubicBezTo>
                    <a:pt x="324993" y="1451864"/>
                    <a:pt x="0" y="1126871"/>
                    <a:pt x="0" y="725932"/>
                  </a:cubicBezTo>
                  <a:close/>
                </a:path>
              </a:pathLst>
            </a:custGeom>
            <a:solidFill>
              <a:srgbClr val="13294b"/>
            </a:solidFill>
            <a:ln cap="sq" w="19050">
              <a:solidFill>
                <a:srgbClr val="13294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635" name="Group 4"/>
          <p:cNvGrpSpPr/>
          <p:nvPr/>
        </p:nvGrpSpPr>
        <p:grpSpPr>
          <a:xfrm>
            <a:off x="754560" y="576000"/>
            <a:ext cx="1069560" cy="1069560"/>
            <a:chOff x="754560" y="576000"/>
            <a:chExt cx="1069560" cy="1069560"/>
          </a:xfrm>
        </p:grpSpPr>
        <p:sp>
          <p:nvSpPr>
            <p:cNvPr id="636" name="Freeform 5"/>
            <p:cNvSpPr/>
            <p:nvPr/>
          </p:nvSpPr>
          <p:spPr>
            <a:xfrm>
              <a:off x="754560" y="576000"/>
              <a:ext cx="1069560" cy="1069560"/>
            </a:xfrm>
            <a:custGeom>
              <a:avLst/>
              <a:gdLst>
                <a:gd name="textAreaLeft" fmla="*/ 0 w 1069560"/>
                <a:gd name="textAreaRight" fmla="*/ 1069920 w 1069560"/>
                <a:gd name="textAreaTop" fmla="*/ 0 h 1069560"/>
                <a:gd name="textAreaBottom" fmla="*/ 1069920 h 1069560"/>
              </a:gdLst>
              <a:ahLst/>
              <a:rect l="textAreaLeft" t="textAreaTop" r="textAreaRight" b="textAreaBottom"/>
              <a:pathLst>
                <a:path w="1426464" h="1426464">
                  <a:moveTo>
                    <a:pt x="0" y="0"/>
                  </a:moveTo>
                  <a:lnTo>
                    <a:pt x="1426464" y="0"/>
                  </a:lnTo>
                  <a:lnTo>
                    <a:pt x="1426464" y="1426464"/>
                  </a:lnTo>
                  <a:lnTo>
                    <a:pt x="0" y="1426464"/>
                  </a:lnTo>
                  <a:close/>
                </a:path>
              </a:pathLst>
            </a:custGeom>
            <a:blipFill rotWithShape="0">
              <a:blip r:embed="rId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37" name="TextBox 6"/>
            <p:cNvSpPr/>
            <p:nvPr/>
          </p:nvSpPr>
          <p:spPr>
            <a:xfrm>
              <a:off x="754560" y="576000"/>
              <a:ext cx="1069560" cy="1069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ts val="3960"/>
                </a:lnSpc>
              </a:pPr>
              <a:r>
                <a:rPr b="1" lang="en-US" sz="3300" spc="-1" strike="noStrike">
                  <a:solidFill>
                    <a:srgbClr val="ffffff"/>
                  </a:solidFill>
                  <a:latin typeface="Georgia Bold"/>
                  <a:ea typeface="Georgia Bold"/>
                </a:rPr>
                <a:t>09</a:t>
              </a:r>
              <a:endParaRPr b="0" lang="es-ES" sz="33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38" name="Group 7"/>
          <p:cNvGrpSpPr/>
          <p:nvPr/>
        </p:nvGrpSpPr>
        <p:grpSpPr>
          <a:xfrm>
            <a:off x="2194560" y="438840"/>
            <a:ext cx="14127120" cy="1343880"/>
            <a:chOff x="2194560" y="438840"/>
            <a:chExt cx="14127120" cy="1343880"/>
          </a:xfrm>
        </p:grpSpPr>
        <p:sp>
          <p:nvSpPr>
            <p:cNvPr id="639" name="Freeform 8"/>
            <p:cNvSpPr/>
            <p:nvPr/>
          </p:nvSpPr>
          <p:spPr>
            <a:xfrm>
              <a:off x="2194560" y="438840"/>
              <a:ext cx="14127120" cy="1343880"/>
            </a:xfrm>
            <a:custGeom>
              <a:avLst/>
              <a:gdLst>
                <a:gd name="textAreaLeft" fmla="*/ 0 w 14127120"/>
                <a:gd name="textAreaRight" fmla="*/ 14127480 w 14127120"/>
                <a:gd name="textAreaTop" fmla="*/ 0 h 1343880"/>
                <a:gd name="textAreaBottom" fmla="*/ 1344240 h 1343880"/>
              </a:gdLst>
              <a:ahLst/>
              <a:rect l="textAreaLeft" t="textAreaTop" r="textAreaRight" b="textAreaBottom"/>
              <a:pathLst>
                <a:path w="18836639" h="1792224">
                  <a:moveTo>
                    <a:pt x="0" y="0"/>
                  </a:moveTo>
                  <a:lnTo>
                    <a:pt x="18836639" y="0"/>
                  </a:lnTo>
                  <a:lnTo>
                    <a:pt x="18836639" y="1792224"/>
                  </a:lnTo>
                  <a:lnTo>
                    <a:pt x="0" y="1792224"/>
                  </a:lnTo>
                  <a:close/>
                </a:path>
              </a:pathLst>
            </a:custGeom>
            <a:blipFill rotWithShape="0">
              <a:blip r:embed="rId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40" name="TextBox 9"/>
            <p:cNvSpPr/>
            <p:nvPr/>
          </p:nvSpPr>
          <p:spPr>
            <a:xfrm>
              <a:off x="2194560" y="438840"/>
              <a:ext cx="14127120" cy="1343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6120"/>
                </a:lnSpc>
              </a:pPr>
              <a:r>
                <a:rPr b="1" lang="en-US" sz="5100" spc="-1" strike="noStrike">
                  <a:solidFill>
                    <a:srgbClr val="13294b"/>
                  </a:solidFill>
                  <a:latin typeface="Playfair Display Bold"/>
                  <a:ea typeface="Playfair Display Bold"/>
                </a:rPr>
                <a:t>Ablation — Loss Weight α(alpha)</a:t>
              </a:r>
              <a:endParaRPr b="0" lang="es-ES" sz="51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41" name="Group 10"/>
          <p:cNvGrpSpPr/>
          <p:nvPr/>
        </p:nvGrpSpPr>
        <p:grpSpPr>
          <a:xfrm>
            <a:off x="744840" y="1938240"/>
            <a:ext cx="16797600" cy="39240"/>
            <a:chOff x="744840" y="1938240"/>
            <a:chExt cx="16797600" cy="39240"/>
          </a:xfrm>
        </p:grpSpPr>
        <p:sp>
          <p:nvSpPr>
            <p:cNvPr id="642" name="Freeform 11"/>
            <p:cNvSpPr/>
            <p:nvPr/>
          </p:nvSpPr>
          <p:spPr>
            <a:xfrm>
              <a:off x="744840" y="1938240"/>
              <a:ext cx="16797600" cy="39240"/>
            </a:xfrm>
            <a:custGeom>
              <a:avLst/>
              <a:gdLst>
                <a:gd name="textAreaLeft" fmla="*/ 0 w 16797600"/>
                <a:gd name="textAreaRight" fmla="*/ 16797960 w 16797600"/>
                <a:gd name="textAreaTop" fmla="*/ 0 h 39240"/>
                <a:gd name="textAreaBottom" fmla="*/ 39600 h 39240"/>
              </a:gdLst>
              <a:ahLst/>
              <a:rect l="textAreaLeft" t="textAreaTop" r="textAreaRight" b="textAreaBottom"/>
              <a:pathLst>
                <a:path w="22397086" h="52832">
                  <a:moveTo>
                    <a:pt x="0" y="0"/>
                  </a:moveTo>
                  <a:lnTo>
                    <a:pt x="22397086" y="0"/>
                  </a:lnTo>
                  <a:lnTo>
                    <a:pt x="22397086" y="52832"/>
                  </a:lnTo>
                  <a:lnTo>
                    <a:pt x="0" y="52832"/>
                  </a:lnTo>
                  <a:close/>
                </a:path>
              </a:pathLst>
            </a:custGeom>
            <a:solidFill>
              <a:srgbClr val="d8dee8"/>
            </a:solidFill>
            <a:ln cap="sq" w="19050">
              <a:solidFill>
                <a:srgbClr val="d8dee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400" bIns="-54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43" name="Group 12"/>
          <p:cNvGrpSpPr/>
          <p:nvPr/>
        </p:nvGrpSpPr>
        <p:grpSpPr>
          <a:xfrm>
            <a:off x="12760200" y="2369160"/>
            <a:ext cx="5033520" cy="1227600"/>
            <a:chOff x="12760200" y="2369160"/>
            <a:chExt cx="5033520" cy="1227600"/>
          </a:xfrm>
        </p:grpSpPr>
        <p:sp>
          <p:nvSpPr>
            <p:cNvPr id="644" name="Freeform 13"/>
            <p:cNvSpPr/>
            <p:nvPr/>
          </p:nvSpPr>
          <p:spPr>
            <a:xfrm>
              <a:off x="12760200" y="2375640"/>
              <a:ext cx="5033520" cy="1221120"/>
            </a:xfrm>
            <a:custGeom>
              <a:avLst/>
              <a:gdLst>
                <a:gd name="textAreaLeft" fmla="*/ 0 w 5033520"/>
                <a:gd name="textAreaRight" fmla="*/ 5033880 w 5033520"/>
                <a:gd name="textAreaTop" fmla="*/ 0 h 1221120"/>
                <a:gd name="textAreaBottom" fmla="*/ 1221480 h 1221120"/>
              </a:gdLst>
              <a:ahLst/>
              <a:rect l="textAreaLeft" t="textAreaTop" r="textAreaRight" b="textAreaBottom"/>
              <a:pathLst>
                <a:path w="7649073" h="1856113">
                  <a:moveTo>
                    <a:pt x="0" y="0"/>
                  </a:moveTo>
                  <a:lnTo>
                    <a:pt x="7649073" y="0"/>
                  </a:lnTo>
                  <a:lnTo>
                    <a:pt x="7649073" y="1856113"/>
                  </a:lnTo>
                  <a:lnTo>
                    <a:pt x="0" y="1856113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45" name="TextBox 14"/>
            <p:cNvSpPr/>
            <p:nvPr/>
          </p:nvSpPr>
          <p:spPr>
            <a:xfrm>
              <a:off x="12760200" y="2369160"/>
              <a:ext cx="5033520" cy="122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2341"/>
                </a:lnSpc>
              </a:pPr>
              <a:r>
                <a:rPr b="0" lang="en-US" sz="1950" spc="-1" strike="noStrike">
                  <a:solidFill>
                    <a:srgbClr val="5b6478"/>
                  </a:solidFill>
                  <a:latin typeface="Open Sans 1"/>
                  <a:ea typeface="Open Sans 1"/>
                </a:rPr>
                <a:t>Sweeping α shows whether the two tasks compete for the shared backbone.</a:t>
              </a:r>
              <a:endParaRPr b="0" lang="es-ES" sz="19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46" name="Group 15"/>
          <p:cNvGrpSpPr/>
          <p:nvPr/>
        </p:nvGrpSpPr>
        <p:grpSpPr>
          <a:xfrm>
            <a:off x="1005120" y="2438640"/>
            <a:ext cx="11658240" cy="703080"/>
            <a:chOff x="1005120" y="2438640"/>
            <a:chExt cx="11658240" cy="703080"/>
          </a:xfrm>
        </p:grpSpPr>
        <p:sp>
          <p:nvSpPr>
            <p:cNvPr id="647" name="Freeform 16"/>
            <p:cNvSpPr/>
            <p:nvPr/>
          </p:nvSpPr>
          <p:spPr>
            <a:xfrm>
              <a:off x="1005120" y="2438640"/>
              <a:ext cx="11658240" cy="703080"/>
            </a:xfrm>
            <a:custGeom>
              <a:avLst/>
              <a:gdLst>
                <a:gd name="textAreaLeft" fmla="*/ 0 w 11658240"/>
                <a:gd name="textAreaRight" fmla="*/ 11658600 w 11658240"/>
                <a:gd name="textAreaTop" fmla="*/ 0 h 703080"/>
                <a:gd name="textAreaBottom" fmla="*/ 703440 h 703080"/>
              </a:gdLst>
              <a:ahLst/>
              <a:rect l="textAreaLeft" t="textAreaTop" r="textAreaRight" b="textAreaBottom"/>
              <a:pathLst>
                <a:path w="15544800" h="938020">
                  <a:moveTo>
                    <a:pt x="0" y="0"/>
                  </a:moveTo>
                  <a:lnTo>
                    <a:pt x="15544800" y="0"/>
                  </a:lnTo>
                  <a:lnTo>
                    <a:pt x="15544800" y="938020"/>
                  </a:lnTo>
                  <a:lnTo>
                    <a:pt x="0" y="938020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48" name="TextBox 17"/>
            <p:cNvSpPr/>
            <p:nvPr/>
          </p:nvSpPr>
          <p:spPr>
            <a:xfrm>
              <a:off x="1005120" y="2438640"/>
              <a:ext cx="11658240" cy="703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ts val="4139"/>
                </a:lnSpc>
              </a:pPr>
              <a:r>
                <a:rPr b="1" lang="en-US" sz="3450" spc="-1" strike="noStrike">
                  <a:solidFill>
                    <a:srgbClr val="13294b"/>
                  </a:solidFill>
                  <a:latin typeface="Playfair Display Bold"/>
                  <a:ea typeface="Playfair Display Bold"/>
                </a:rPr>
                <a:t>Accuracy vs. α  (weight on the Real/Fake loss)</a:t>
              </a:r>
              <a:endParaRPr b="0" lang="es-ES" sz="34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49" name="Group 18"/>
          <p:cNvGrpSpPr/>
          <p:nvPr/>
        </p:nvGrpSpPr>
        <p:grpSpPr>
          <a:xfrm>
            <a:off x="12814920" y="3782880"/>
            <a:ext cx="4723200" cy="5406480"/>
            <a:chOff x="12814920" y="3782880"/>
            <a:chExt cx="4723200" cy="5406480"/>
          </a:xfrm>
        </p:grpSpPr>
        <p:sp>
          <p:nvSpPr>
            <p:cNvPr id="650" name="Freeform 19"/>
            <p:cNvSpPr/>
            <p:nvPr/>
          </p:nvSpPr>
          <p:spPr>
            <a:xfrm>
              <a:off x="12814920" y="3782880"/>
              <a:ext cx="4723200" cy="5406480"/>
            </a:xfrm>
            <a:custGeom>
              <a:avLst/>
              <a:gdLst>
                <a:gd name="textAreaLeft" fmla="*/ 0 w 4723200"/>
                <a:gd name="textAreaRight" fmla="*/ 4723560 w 4723200"/>
                <a:gd name="textAreaTop" fmla="*/ 0 h 5406480"/>
                <a:gd name="textAreaBottom" fmla="*/ 5406840 h 5406480"/>
              </a:gdLst>
              <a:ahLst/>
              <a:rect l="textAreaLeft" t="textAreaTop" r="textAreaRight" b="textAreaBottom"/>
              <a:pathLst>
                <a:path w="6298184" h="7209031">
                  <a:moveTo>
                    <a:pt x="0" y="0"/>
                  </a:moveTo>
                  <a:lnTo>
                    <a:pt x="6298184" y="0"/>
                  </a:lnTo>
                  <a:lnTo>
                    <a:pt x="6298184" y="7209031"/>
                  </a:lnTo>
                  <a:lnTo>
                    <a:pt x="0" y="7209031"/>
                  </a:lnTo>
                  <a:close/>
                </a:path>
              </a:pathLst>
            </a:custGeom>
            <a:solidFill>
              <a:srgbClr val="0e2240"/>
            </a:solidFill>
            <a:ln cap="sq" w="19050">
              <a:solidFill>
                <a:srgbClr val="0e224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651" name="Group 20"/>
          <p:cNvGrpSpPr/>
          <p:nvPr/>
        </p:nvGrpSpPr>
        <p:grpSpPr>
          <a:xfrm>
            <a:off x="13295160" y="6049080"/>
            <a:ext cx="3963960" cy="47160"/>
            <a:chOff x="13295160" y="6049080"/>
            <a:chExt cx="3963960" cy="47160"/>
          </a:xfrm>
        </p:grpSpPr>
        <p:sp>
          <p:nvSpPr>
            <p:cNvPr id="652" name="Freeform 21"/>
            <p:cNvSpPr/>
            <p:nvPr/>
          </p:nvSpPr>
          <p:spPr>
            <a:xfrm>
              <a:off x="13295160" y="6049080"/>
              <a:ext cx="3963960" cy="47160"/>
            </a:xfrm>
            <a:custGeom>
              <a:avLst/>
              <a:gdLst>
                <a:gd name="textAreaLeft" fmla="*/ 0 w 3963960"/>
                <a:gd name="textAreaRight" fmla="*/ 3964320 w 3963960"/>
                <a:gd name="textAreaTop" fmla="*/ 0 h 47160"/>
                <a:gd name="textAreaBottom" fmla="*/ 47520 h 47160"/>
              </a:gdLst>
              <a:ahLst/>
              <a:rect l="textAreaLeft" t="textAreaTop" r="textAreaRight" b="textAreaBottom"/>
              <a:pathLst>
                <a:path w="1488440" h="17907">
                  <a:moveTo>
                    <a:pt x="0" y="0"/>
                  </a:moveTo>
                  <a:lnTo>
                    <a:pt x="1488440" y="0"/>
                  </a:lnTo>
                  <a:lnTo>
                    <a:pt x="1488440" y="17907"/>
                  </a:lnTo>
                  <a:lnTo>
                    <a:pt x="0" y="17907"/>
                  </a:lnTo>
                  <a:close/>
                </a:path>
              </a:pathLst>
            </a:custGeom>
            <a:solidFill>
              <a:srgbClr val="f7f9fc"/>
            </a:solidFill>
            <a:ln cap="sq" w="19050">
              <a:solidFill>
                <a:srgbClr val="f7f9f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520" bIns="252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653" name="Freeform 22"/>
          <p:cNvSpPr/>
          <p:nvPr/>
        </p:nvSpPr>
        <p:spPr>
          <a:xfrm>
            <a:off x="744840" y="3142080"/>
            <a:ext cx="11786040" cy="6732360"/>
          </a:xfrm>
          <a:custGeom>
            <a:avLst/>
            <a:gdLst>
              <a:gd name="textAreaLeft" fmla="*/ 0 w 11786040"/>
              <a:gd name="textAreaRight" fmla="*/ 11786400 w 11786040"/>
              <a:gd name="textAreaTop" fmla="*/ 0 h 6732360"/>
              <a:gd name="textAreaBottom" fmla="*/ 6732720 h 6732360"/>
            </a:gdLst>
            <a:ahLst/>
            <a:rect l="textAreaLeft" t="textAreaTop" r="textAreaRight" b="textAreaBottom"/>
            <a:pathLst>
              <a:path w="11786232" h="6732885">
                <a:moveTo>
                  <a:pt x="0" y="0"/>
                </a:moveTo>
                <a:lnTo>
                  <a:pt x="11786232" y="0"/>
                </a:lnTo>
                <a:lnTo>
                  <a:pt x="11786232" y="6732885"/>
                </a:lnTo>
                <a:lnTo>
                  <a:pt x="0" y="673288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4" name="TextBox 23"/>
          <p:cNvSpPr/>
          <p:nvPr/>
        </p:nvSpPr>
        <p:spPr>
          <a:xfrm>
            <a:off x="13194720" y="4328280"/>
            <a:ext cx="40640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3960"/>
              </a:lnSpc>
            </a:pPr>
            <a:r>
              <a:rPr b="1" lang="en-US" sz="3300" spc="-1" strike="noStrike">
                <a:solidFill>
                  <a:srgbClr val="ffffff"/>
                </a:solidFill>
                <a:latin typeface="Playfair Display Bold"/>
                <a:ea typeface="Playfair Display Bold"/>
              </a:rPr>
              <a:t>Tasks complement — not compete.</a:t>
            </a:r>
            <a:endParaRPr b="0" lang="es-ES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" name="TextBox 24"/>
          <p:cNvSpPr/>
          <p:nvPr/>
        </p:nvSpPr>
        <p:spPr>
          <a:xfrm>
            <a:off x="13320360" y="6565680"/>
            <a:ext cx="3812760" cy="20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2730"/>
              </a:lnSpc>
            </a:pPr>
            <a:r>
              <a:rPr b="1" lang="en-US" sz="2280" spc="-1" strike="noStrike">
                <a:solidFill>
                  <a:srgbClr val="ffffff"/>
                </a:solidFill>
                <a:latin typeface="Open Sans 1 Bold"/>
                <a:ea typeface="Open Sans 1 Bold"/>
              </a:rPr>
              <a:t>•  </a:t>
            </a:r>
            <a:r>
              <a:rPr b="1" lang="en-US" sz="2280" spc="-1" strike="noStrike">
                <a:solidFill>
                  <a:srgbClr val="ffffff"/>
                </a:solidFill>
                <a:latin typeface="Open Sans 1 Bold"/>
                <a:ea typeface="Open Sans 1 Bold"/>
              </a:rPr>
              <a:t>α = 0.5 is the sweet spot: both heads peak together.</a:t>
            </a:r>
            <a:endParaRPr b="0" lang="es-ES" sz="228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273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2730"/>
              </a:lnSpc>
            </a:pPr>
            <a:r>
              <a:rPr b="1" lang="en-US" sz="2280" spc="-1" strike="noStrike">
                <a:solidFill>
                  <a:srgbClr val="ffffff"/>
                </a:solidFill>
                <a:latin typeface="Open Sans 1 Bold"/>
                <a:ea typeface="Open Sans 1 Bold"/>
              </a:rPr>
              <a:t>•  </a:t>
            </a:r>
            <a:r>
              <a:rPr b="1" lang="en-US" sz="2280" spc="-1" strike="noStrike">
                <a:solidFill>
                  <a:srgbClr val="ffffff"/>
                </a:solidFill>
                <a:latin typeface="Open Sans 1 Bold"/>
                <a:ea typeface="Open Sans 1 Bold"/>
              </a:rPr>
              <a:t>Joint even beats the transform baseline (94.4% vs 90.9%).</a:t>
            </a:r>
            <a:endParaRPr b="0" lang="es-ES" sz="2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6" name="TextBox 25"/>
          <p:cNvSpPr/>
          <p:nvPr/>
        </p:nvSpPr>
        <p:spPr>
          <a:xfrm>
            <a:off x="14130000" y="9613440"/>
            <a:ext cx="6797520" cy="39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3078"/>
              </a:lnSpc>
            </a:pPr>
            <a:r>
              <a:rPr b="1" lang="en-US" sz="2200" spc="-1" strike="noStrike">
                <a:solidFill>
                  <a:srgbClr val="4d4b66"/>
                </a:solidFill>
                <a:latin typeface="Montserrat Bold"/>
                <a:ea typeface="Montserrat Bold"/>
              </a:rPr>
              <a:t>13/15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7" name="Group 2"/>
          <p:cNvGrpSpPr/>
          <p:nvPr/>
        </p:nvGrpSpPr>
        <p:grpSpPr>
          <a:xfrm>
            <a:off x="744840" y="566640"/>
            <a:ext cx="1088640" cy="1088640"/>
            <a:chOff x="744840" y="566640"/>
            <a:chExt cx="1088640" cy="1088640"/>
          </a:xfrm>
        </p:grpSpPr>
        <p:sp>
          <p:nvSpPr>
            <p:cNvPr id="658" name="Freeform 3"/>
            <p:cNvSpPr/>
            <p:nvPr/>
          </p:nvSpPr>
          <p:spPr>
            <a:xfrm>
              <a:off x="744840" y="566640"/>
              <a:ext cx="1088640" cy="1088640"/>
            </a:xfrm>
            <a:custGeom>
              <a:avLst/>
              <a:gdLst>
                <a:gd name="textAreaLeft" fmla="*/ 0 w 1088640"/>
                <a:gd name="textAreaRight" fmla="*/ 1089000 w 1088640"/>
                <a:gd name="textAreaTop" fmla="*/ 0 h 1088640"/>
                <a:gd name="textAreaBottom" fmla="*/ 1089000 h 1088640"/>
              </a:gdLst>
              <a:ahLst/>
              <a:rect l="textAreaLeft" t="textAreaTop" r="textAreaRight" b="textAreaBottom"/>
              <a:pathLst>
                <a:path w="1451864" h="1451864">
                  <a:moveTo>
                    <a:pt x="0" y="725932"/>
                  </a:moveTo>
                  <a:cubicBezTo>
                    <a:pt x="0" y="324993"/>
                    <a:pt x="324993" y="0"/>
                    <a:pt x="725932" y="0"/>
                  </a:cubicBezTo>
                  <a:cubicBezTo>
                    <a:pt x="1126871" y="0"/>
                    <a:pt x="1451864" y="324993"/>
                    <a:pt x="1451864" y="725932"/>
                  </a:cubicBezTo>
                  <a:cubicBezTo>
                    <a:pt x="1451864" y="1126871"/>
                    <a:pt x="1126871" y="1451864"/>
                    <a:pt x="725932" y="1451864"/>
                  </a:cubicBezTo>
                  <a:cubicBezTo>
                    <a:pt x="324993" y="1451864"/>
                    <a:pt x="0" y="1126871"/>
                    <a:pt x="0" y="725932"/>
                  </a:cubicBezTo>
                  <a:close/>
                </a:path>
              </a:pathLst>
            </a:custGeom>
            <a:solidFill>
              <a:srgbClr val="13294b"/>
            </a:solidFill>
            <a:ln cap="sq" w="19050">
              <a:solidFill>
                <a:srgbClr val="13294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659" name="Group 4"/>
          <p:cNvGrpSpPr/>
          <p:nvPr/>
        </p:nvGrpSpPr>
        <p:grpSpPr>
          <a:xfrm>
            <a:off x="754560" y="576000"/>
            <a:ext cx="1069560" cy="1069560"/>
            <a:chOff x="754560" y="576000"/>
            <a:chExt cx="1069560" cy="1069560"/>
          </a:xfrm>
        </p:grpSpPr>
        <p:sp>
          <p:nvSpPr>
            <p:cNvPr id="660" name="Freeform 5"/>
            <p:cNvSpPr/>
            <p:nvPr/>
          </p:nvSpPr>
          <p:spPr>
            <a:xfrm>
              <a:off x="754560" y="576000"/>
              <a:ext cx="1069560" cy="1069560"/>
            </a:xfrm>
            <a:custGeom>
              <a:avLst/>
              <a:gdLst>
                <a:gd name="textAreaLeft" fmla="*/ 0 w 1069560"/>
                <a:gd name="textAreaRight" fmla="*/ 1069920 w 1069560"/>
                <a:gd name="textAreaTop" fmla="*/ 0 h 1069560"/>
                <a:gd name="textAreaBottom" fmla="*/ 1069920 h 1069560"/>
              </a:gdLst>
              <a:ahLst/>
              <a:rect l="textAreaLeft" t="textAreaTop" r="textAreaRight" b="textAreaBottom"/>
              <a:pathLst>
                <a:path w="1426464" h="1426464">
                  <a:moveTo>
                    <a:pt x="0" y="0"/>
                  </a:moveTo>
                  <a:lnTo>
                    <a:pt x="1426464" y="0"/>
                  </a:lnTo>
                  <a:lnTo>
                    <a:pt x="1426464" y="1426464"/>
                  </a:lnTo>
                  <a:lnTo>
                    <a:pt x="0" y="1426464"/>
                  </a:lnTo>
                  <a:close/>
                </a:path>
              </a:pathLst>
            </a:custGeom>
            <a:blipFill rotWithShape="0">
              <a:blip r:embed="rId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61" name="TextBox 6"/>
            <p:cNvSpPr/>
            <p:nvPr/>
          </p:nvSpPr>
          <p:spPr>
            <a:xfrm>
              <a:off x="754560" y="576000"/>
              <a:ext cx="1069560" cy="1069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ts val="3960"/>
                </a:lnSpc>
              </a:pPr>
              <a:r>
                <a:rPr b="1" lang="en-US" sz="3300" spc="-1" strike="noStrike">
                  <a:solidFill>
                    <a:srgbClr val="ffffff"/>
                  </a:solidFill>
                  <a:latin typeface="Georgia Bold"/>
                  <a:ea typeface="Georgia Bold"/>
                </a:rPr>
                <a:t>10</a:t>
              </a:r>
              <a:endParaRPr b="0" lang="es-ES" sz="33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62" name="Group 7"/>
          <p:cNvGrpSpPr/>
          <p:nvPr/>
        </p:nvGrpSpPr>
        <p:grpSpPr>
          <a:xfrm>
            <a:off x="2194560" y="438840"/>
            <a:ext cx="14127120" cy="1343880"/>
            <a:chOff x="2194560" y="438840"/>
            <a:chExt cx="14127120" cy="1343880"/>
          </a:xfrm>
        </p:grpSpPr>
        <p:sp>
          <p:nvSpPr>
            <p:cNvPr id="663" name="Freeform 8"/>
            <p:cNvSpPr/>
            <p:nvPr/>
          </p:nvSpPr>
          <p:spPr>
            <a:xfrm>
              <a:off x="2194560" y="438840"/>
              <a:ext cx="14127120" cy="1343880"/>
            </a:xfrm>
            <a:custGeom>
              <a:avLst/>
              <a:gdLst>
                <a:gd name="textAreaLeft" fmla="*/ 0 w 14127120"/>
                <a:gd name="textAreaRight" fmla="*/ 14127480 w 14127120"/>
                <a:gd name="textAreaTop" fmla="*/ 0 h 1343880"/>
                <a:gd name="textAreaBottom" fmla="*/ 1344240 h 1343880"/>
              </a:gdLst>
              <a:ahLst/>
              <a:rect l="textAreaLeft" t="textAreaTop" r="textAreaRight" b="textAreaBottom"/>
              <a:pathLst>
                <a:path w="18836639" h="1792224">
                  <a:moveTo>
                    <a:pt x="0" y="0"/>
                  </a:moveTo>
                  <a:lnTo>
                    <a:pt x="18836639" y="0"/>
                  </a:lnTo>
                  <a:lnTo>
                    <a:pt x="18836639" y="1792224"/>
                  </a:lnTo>
                  <a:lnTo>
                    <a:pt x="0" y="1792224"/>
                  </a:lnTo>
                  <a:close/>
                </a:path>
              </a:pathLst>
            </a:custGeom>
            <a:blipFill rotWithShape="0">
              <a:blip r:embed="rId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64" name="TextBox 9"/>
            <p:cNvSpPr/>
            <p:nvPr/>
          </p:nvSpPr>
          <p:spPr>
            <a:xfrm>
              <a:off x="2194560" y="438840"/>
              <a:ext cx="14127120" cy="1343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6120"/>
                </a:lnSpc>
              </a:pPr>
              <a:r>
                <a:rPr b="1" lang="en-US" sz="5100" spc="-1" strike="noStrike">
                  <a:solidFill>
                    <a:srgbClr val="13294b"/>
                  </a:solidFill>
                  <a:latin typeface="Playfair Display Bold"/>
                  <a:ea typeface="Playfair Display Bold"/>
                </a:rPr>
                <a:t>Conclusions &amp; Future Work</a:t>
              </a:r>
              <a:endParaRPr b="0" lang="es-ES" sz="51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65" name="Group 10"/>
          <p:cNvGrpSpPr/>
          <p:nvPr/>
        </p:nvGrpSpPr>
        <p:grpSpPr>
          <a:xfrm>
            <a:off x="744840" y="1938240"/>
            <a:ext cx="16797600" cy="39240"/>
            <a:chOff x="744840" y="1938240"/>
            <a:chExt cx="16797600" cy="39240"/>
          </a:xfrm>
        </p:grpSpPr>
        <p:sp>
          <p:nvSpPr>
            <p:cNvPr id="666" name="Freeform 11"/>
            <p:cNvSpPr/>
            <p:nvPr/>
          </p:nvSpPr>
          <p:spPr>
            <a:xfrm>
              <a:off x="744840" y="1938240"/>
              <a:ext cx="16797600" cy="39240"/>
            </a:xfrm>
            <a:custGeom>
              <a:avLst/>
              <a:gdLst>
                <a:gd name="textAreaLeft" fmla="*/ 0 w 16797600"/>
                <a:gd name="textAreaRight" fmla="*/ 16797960 w 16797600"/>
                <a:gd name="textAreaTop" fmla="*/ 0 h 39240"/>
                <a:gd name="textAreaBottom" fmla="*/ 39600 h 39240"/>
              </a:gdLst>
              <a:ahLst/>
              <a:rect l="textAreaLeft" t="textAreaTop" r="textAreaRight" b="textAreaBottom"/>
              <a:pathLst>
                <a:path w="22397086" h="52832">
                  <a:moveTo>
                    <a:pt x="0" y="0"/>
                  </a:moveTo>
                  <a:lnTo>
                    <a:pt x="22397086" y="0"/>
                  </a:lnTo>
                  <a:lnTo>
                    <a:pt x="22397086" y="52832"/>
                  </a:lnTo>
                  <a:lnTo>
                    <a:pt x="0" y="52832"/>
                  </a:lnTo>
                  <a:close/>
                </a:path>
              </a:pathLst>
            </a:custGeom>
            <a:solidFill>
              <a:srgbClr val="d8dee8"/>
            </a:solidFill>
            <a:ln cap="sq" w="19050">
              <a:solidFill>
                <a:srgbClr val="d8dee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400" bIns="-54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67" name="Group 12"/>
          <p:cNvGrpSpPr/>
          <p:nvPr/>
        </p:nvGrpSpPr>
        <p:grpSpPr>
          <a:xfrm>
            <a:off x="747360" y="2434320"/>
            <a:ext cx="10438200" cy="1906560"/>
            <a:chOff x="747360" y="2434320"/>
            <a:chExt cx="10438200" cy="1906560"/>
          </a:xfrm>
        </p:grpSpPr>
        <p:sp>
          <p:nvSpPr>
            <p:cNvPr id="668" name="Freeform 13"/>
            <p:cNvSpPr/>
            <p:nvPr/>
          </p:nvSpPr>
          <p:spPr>
            <a:xfrm>
              <a:off x="747360" y="2434320"/>
              <a:ext cx="10438200" cy="1906560"/>
            </a:xfrm>
            <a:custGeom>
              <a:avLst/>
              <a:gdLst>
                <a:gd name="textAreaLeft" fmla="*/ 0 w 10438200"/>
                <a:gd name="textAreaRight" fmla="*/ 10438560 w 10438200"/>
                <a:gd name="textAreaTop" fmla="*/ 0 h 1906560"/>
                <a:gd name="textAreaBottom" fmla="*/ 1906920 h 1906560"/>
              </a:gdLst>
              <a:ahLst/>
              <a:rect l="textAreaLeft" t="textAreaTop" r="textAreaRight" b="textAreaBottom"/>
              <a:pathLst>
                <a:path w="13917930" h="2542794">
                  <a:moveTo>
                    <a:pt x="0" y="0"/>
                  </a:moveTo>
                  <a:lnTo>
                    <a:pt x="13917930" y="0"/>
                  </a:lnTo>
                  <a:lnTo>
                    <a:pt x="13917930" y="2542794"/>
                  </a:lnTo>
                  <a:lnTo>
                    <a:pt x="0" y="2542794"/>
                  </a:lnTo>
                  <a:close/>
                </a:path>
              </a:pathLst>
            </a:custGeom>
            <a:solidFill>
              <a:srgbClr val="f7f9fc"/>
            </a:solidFill>
            <a:ln cap="sq" w="14288">
              <a:solidFill>
                <a:srgbClr val="dde3e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69" name="Group 14"/>
          <p:cNvGrpSpPr/>
          <p:nvPr/>
        </p:nvGrpSpPr>
        <p:grpSpPr>
          <a:xfrm>
            <a:off x="744840" y="2431800"/>
            <a:ext cx="135360" cy="1911600"/>
            <a:chOff x="744840" y="2431800"/>
            <a:chExt cx="135360" cy="1911600"/>
          </a:xfrm>
        </p:grpSpPr>
        <p:sp>
          <p:nvSpPr>
            <p:cNvPr id="670" name="Freeform 15"/>
            <p:cNvSpPr/>
            <p:nvPr/>
          </p:nvSpPr>
          <p:spPr>
            <a:xfrm>
              <a:off x="744840" y="2431800"/>
              <a:ext cx="135360" cy="1911600"/>
            </a:xfrm>
            <a:custGeom>
              <a:avLst/>
              <a:gdLst>
                <a:gd name="textAreaLeft" fmla="*/ 0 w 135360"/>
                <a:gd name="textAreaRight" fmla="*/ 135720 w 135360"/>
                <a:gd name="textAreaTop" fmla="*/ 0 h 1911600"/>
                <a:gd name="textAreaBottom" fmla="*/ 1911960 h 1911600"/>
              </a:gdLst>
              <a:ahLst/>
              <a:rect l="textAreaLeft" t="textAreaTop" r="textAreaRight" b="textAreaBottom"/>
              <a:pathLst>
                <a:path w="180848" h="2549144">
                  <a:moveTo>
                    <a:pt x="0" y="0"/>
                  </a:moveTo>
                  <a:lnTo>
                    <a:pt x="180848" y="0"/>
                  </a:lnTo>
                  <a:lnTo>
                    <a:pt x="180848" y="2549144"/>
                  </a:lnTo>
                  <a:lnTo>
                    <a:pt x="0" y="2549144"/>
                  </a:lnTo>
                  <a:close/>
                </a:path>
              </a:pathLst>
            </a:custGeom>
            <a:solidFill>
              <a:srgbClr val="0e2240"/>
            </a:solidFill>
            <a:ln cap="sq" w="1905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671" name="Group 16"/>
          <p:cNvGrpSpPr/>
          <p:nvPr/>
        </p:nvGrpSpPr>
        <p:grpSpPr>
          <a:xfrm>
            <a:off x="1225080" y="2925720"/>
            <a:ext cx="924120" cy="924120"/>
            <a:chOff x="1225080" y="2925720"/>
            <a:chExt cx="924120" cy="924120"/>
          </a:xfrm>
        </p:grpSpPr>
        <p:sp>
          <p:nvSpPr>
            <p:cNvPr id="672" name="Freeform 17"/>
            <p:cNvSpPr/>
            <p:nvPr/>
          </p:nvSpPr>
          <p:spPr>
            <a:xfrm>
              <a:off x="1225080" y="2925720"/>
              <a:ext cx="924120" cy="924120"/>
            </a:xfrm>
            <a:custGeom>
              <a:avLst/>
              <a:gdLst>
                <a:gd name="textAreaLeft" fmla="*/ 0 w 924120"/>
                <a:gd name="textAreaRight" fmla="*/ 924480 w 924120"/>
                <a:gd name="textAreaTop" fmla="*/ 0 h 924120"/>
                <a:gd name="textAreaBottom" fmla="*/ 924480 h 924120"/>
              </a:gdLst>
              <a:ahLst/>
              <a:rect l="textAreaLeft" t="textAreaTop" r="textAreaRight" b="textAreaBottom"/>
              <a:pathLst>
                <a:path w="1232408" h="1232408">
                  <a:moveTo>
                    <a:pt x="0" y="616204"/>
                  </a:moveTo>
                  <a:cubicBezTo>
                    <a:pt x="0" y="275844"/>
                    <a:pt x="275844" y="0"/>
                    <a:pt x="616204" y="0"/>
                  </a:cubicBezTo>
                  <a:cubicBezTo>
                    <a:pt x="956564" y="0"/>
                    <a:pt x="1232408" y="275844"/>
                    <a:pt x="1232408" y="616204"/>
                  </a:cubicBezTo>
                  <a:cubicBezTo>
                    <a:pt x="1232408" y="956564"/>
                    <a:pt x="956564" y="1232408"/>
                    <a:pt x="616204" y="1232408"/>
                  </a:cubicBezTo>
                  <a:cubicBezTo>
                    <a:pt x="275844" y="1232408"/>
                    <a:pt x="0" y="956564"/>
                    <a:pt x="0" y="616204"/>
                  </a:cubicBezTo>
                  <a:close/>
                </a:path>
              </a:pathLst>
            </a:custGeom>
            <a:solidFill>
              <a:srgbClr val="0e2240"/>
            </a:solidFill>
            <a:ln cap="sq" w="19050">
              <a:solidFill>
                <a:srgbClr val="eaf0f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673" name="Group 18"/>
          <p:cNvGrpSpPr/>
          <p:nvPr/>
        </p:nvGrpSpPr>
        <p:grpSpPr>
          <a:xfrm>
            <a:off x="1478880" y="3179520"/>
            <a:ext cx="416160" cy="416160"/>
            <a:chOff x="1478880" y="3179520"/>
            <a:chExt cx="416160" cy="416160"/>
          </a:xfrm>
        </p:grpSpPr>
        <p:sp>
          <p:nvSpPr>
            <p:cNvPr id="674" name="Freeform 19"/>
            <p:cNvSpPr/>
            <p:nvPr/>
          </p:nvSpPr>
          <p:spPr>
            <a:xfrm>
              <a:off x="1478880" y="3179520"/>
              <a:ext cx="416160" cy="416160"/>
            </a:xfrm>
            <a:custGeom>
              <a:avLst/>
              <a:gdLst>
                <a:gd name="textAreaLeft" fmla="*/ 0 w 416160"/>
                <a:gd name="textAreaRight" fmla="*/ 416520 w 416160"/>
                <a:gd name="textAreaTop" fmla="*/ 0 h 416160"/>
                <a:gd name="textAreaBottom" fmla="*/ 416520 h 416160"/>
              </a:gdLst>
              <a:ahLst/>
              <a:rect l="textAreaLeft" t="textAreaTop" r="textAreaRight" b="textAreaBottom"/>
              <a:pathLst>
                <a:path w="555244" h="555244">
                  <a:moveTo>
                    <a:pt x="0" y="0"/>
                  </a:moveTo>
                  <a:lnTo>
                    <a:pt x="555244" y="0"/>
                  </a:lnTo>
                  <a:lnTo>
                    <a:pt x="555244" y="555244"/>
                  </a:lnTo>
                  <a:lnTo>
                    <a:pt x="0" y="555244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75" name="Group 20"/>
          <p:cNvGrpSpPr/>
          <p:nvPr/>
        </p:nvGrpSpPr>
        <p:grpSpPr>
          <a:xfrm>
            <a:off x="2468880" y="2688480"/>
            <a:ext cx="8366400" cy="756720"/>
            <a:chOff x="2468880" y="2688480"/>
            <a:chExt cx="8366400" cy="756720"/>
          </a:xfrm>
        </p:grpSpPr>
        <p:sp>
          <p:nvSpPr>
            <p:cNvPr id="676" name="Freeform 21"/>
            <p:cNvSpPr/>
            <p:nvPr/>
          </p:nvSpPr>
          <p:spPr>
            <a:xfrm>
              <a:off x="2468880" y="2688480"/>
              <a:ext cx="8366400" cy="756720"/>
            </a:xfrm>
            <a:custGeom>
              <a:avLst/>
              <a:gdLst>
                <a:gd name="textAreaLeft" fmla="*/ 0 w 8366400"/>
                <a:gd name="textAreaRight" fmla="*/ 8366760 w 8366400"/>
                <a:gd name="textAreaTop" fmla="*/ 0 h 756720"/>
                <a:gd name="textAreaBottom" fmla="*/ 757080 h 756720"/>
              </a:gdLst>
              <a:ahLst/>
              <a:rect l="textAreaLeft" t="textAreaTop" r="textAreaRight" b="textAreaBottom"/>
              <a:pathLst>
                <a:path w="11155680" h="1009648">
                  <a:moveTo>
                    <a:pt x="0" y="0"/>
                  </a:moveTo>
                  <a:lnTo>
                    <a:pt x="11155680" y="0"/>
                  </a:lnTo>
                  <a:lnTo>
                    <a:pt x="11155680" y="1009648"/>
                  </a:lnTo>
                  <a:lnTo>
                    <a:pt x="0" y="1009648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77" name="TextBox 22"/>
            <p:cNvSpPr/>
            <p:nvPr/>
          </p:nvSpPr>
          <p:spPr>
            <a:xfrm>
              <a:off x="2468880" y="2695320"/>
              <a:ext cx="8366400" cy="749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4499"/>
                </a:lnSpc>
              </a:pPr>
              <a:r>
                <a:rPr b="1" lang="en-US" sz="3750" spc="-1" strike="noStrike">
                  <a:solidFill>
                    <a:srgbClr val="13294b"/>
                  </a:solidFill>
                  <a:latin typeface="Playfair Display Bold"/>
                  <a:ea typeface="Playfair Display Bold"/>
                </a:rPr>
                <a:t>One model, two answers</a:t>
              </a:r>
              <a:endParaRPr b="0" lang="es-ES" sz="37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78" name="Group 23"/>
          <p:cNvGrpSpPr/>
          <p:nvPr/>
        </p:nvGrpSpPr>
        <p:grpSpPr>
          <a:xfrm>
            <a:off x="2468880" y="3456360"/>
            <a:ext cx="8366400" cy="575640"/>
            <a:chOff x="2468880" y="3456360"/>
            <a:chExt cx="8366400" cy="575640"/>
          </a:xfrm>
        </p:grpSpPr>
        <p:sp>
          <p:nvSpPr>
            <p:cNvPr id="679" name="Freeform 24"/>
            <p:cNvSpPr/>
            <p:nvPr/>
          </p:nvSpPr>
          <p:spPr>
            <a:xfrm>
              <a:off x="2468880" y="3456360"/>
              <a:ext cx="8366400" cy="575640"/>
            </a:xfrm>
            <a:custGeom>
              <a:avLst/>
              <a:gdLst>
                <a:gd name="textAreaLeft" fmla="*/ 0 w 8366400"/>
                <a:gd name="textAreaRight" fmla="*/ 8366760 w 8366400"/>
                <a:gd name="textAreaTop" fmla="*/ 0 h 575640"/>
                <a:gd name="textAreaBottom" fmla="*/ 576000 h 575640"/>
              </a:gdLst>
              <a:ahLst/>
              <a:rect l="textAreaLeft" t="textAreaTop" r="textAreaRight" b="textAreaBottom"/>
              <a:pathLst>
                <a:path w="11155680" h="768096">
                  <a:moveTo>
                    <a:pt x="0" y="0"/>
                  </a:moveTo>
                  <a:lnTo>
                    <a:pt x="11155680" y="0"/>
                  </a:lnTo>
                  <a:lnTo>
                    <a:pt x="11155680" y="768096"/>
                  </a:lnTo>
                  <a:lnTo>
                    <a:pt x="0" y="768096"/>
                  </a:lnTo>
                  <a:close/>
                </a:path>
              </a:pathLst>
            </a:custGeom>
            <a:blipFill rotWithShape="0">
              <a:blip r:embed="rId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80" name="TextBox 25"/>
            <p:cNvSpPr/>
            <p:nvPr/>
          </p:nvSpPr>
          <p:spPr>
            <a:xfrm>
              <a:off x="2468880" y="3456360"/>
              <a:ext cx="8366400" cy="575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3149"/>
                </a:lnSpc>
              </a:pPr>
              <a:r>
                <a:rPr b="0" lang="en-US" sz="2620" spc="-1" strike="noStrike">
                  <a:solidFill>
                    <a:srgbClr val="000000"/>
                  </a:solidFill>
                  <a:latin typeface="Open Sans 1"/>
                  <a:ea typeface="Open Sans 1"/>
                </a:rPr>
                <a:t>93.7% real/fake · 94.4% transform accuracy.</a:t>
              </a:r>
              <a:endParaRPr b="0" lang="es-ES" sz="262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81" name="Group 26"/>
          <p:cNvGrpSpPr/>
          <p:nvPr/>
        </p:nvGrpSpPr>
        <p:grpSpPr>
          <a:xfrm>
            <a:off x="747360" y="4601520"/>
            <a:ext cx="10438200" cy="1906560"/>
            <a:chOff x="747360" y="4601520"/>
            <a:chExt cx="10438200" cy="1906560"/>
          </a:xfrm>
        </p:grpSpPr>
        <p:sp>
          <p:nvSpPr>
            <p:cNvPr id="682" name="Freeform 27"/>
            <p:cNvSpPr/>
            <p:nvPr/>
          </p:nvSpPr>
          <p:spPr>
            <a:xfrm>
              <a:off x="747360" y="4601520"/>
              <a:ext cx="10438200" cy="1906560"/>
            </a:xfrm>
            <a:custGeom>
              <a:avLst/>
              <a:gdLst>
                <a:gd name="textAreaLeft" fmla="*/ 0 w 10438200"/>
                <a:gd name="textAreaRight" fmla="*/ 10438560 w 10438200"/>
                <a:gd name="textAreaTop" fmla="*/ 0 h 1906560"/>
                <a:gd name="textAreaBottom" fmla="*/ 1906920 h 1906560"/>
              </a:gdLst>
              <a:ahLst/>
              <a:rect l="textAreaLeft" t="textAreaTop" r="textAreaRight" b="textAreaBottom"/>
              <a:pathLst>
                <a:path w="13917930" h="2542794">
                  <a:moveTo>
                    <a:pt x="0" y="0"/>
                  </a:moveTo>
                  <a:lnTo>
                    <a:pt x="13917930" y="0"/>
                  </a:lnTo>
                  <a:lnTo>
                    <a:pt x="13917930" y="2542794"/>
                  </a:lnTo>
                  <a:lnTo>
                    <a:pt x="0" y="2542794"/>
                  </a:lnTo>
                  <a:close/>
                </a:path>
              </a:pathLst>
            </a:custGeom>
            <a:solidFill>
              <a:srgbClr val="f7f9fc"/>
            </a:solidFill>
            <a:ln cap="sq" w="14288">
              <a:solidFill>
                <a:srgbClr val="dde3e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83" name="Group 28"/>
          <p:cNvGrpSpPr/>
          <p:nvPr/>
        </p:nvGrpSpPr>
        <p:grpSpPr>
          <a:xfrm>
            <a:off x="744840" y="4599000"/>
            <a:ext cx="135360" cy="1911600"/>
            <a:chOff x="744840" y="4599000"/>
            <a:chExt cx="135360" cy="1911600"/>
          </a:xfrm>
        </p:grpSpPr>
        <p:sp>
          <p:nvSpPr>
            <p:cNvPr id="684" name="Freeform 29"/>
            <p:cNvSpPr/>
            <p:nvPr/>
          </p:nvSpPr>
          <p:spPr>
            <a:xfrm>
              <a:off x="744840" y="4599000"/>
              <a:ext cx="135360" cy="1911600"/>
            </a:xfrm>
            <a:custGeom>
              <a:avLst/>
              <a:gdLst>
                <a:gd name="textAreaLeft" fmla="*/ 0 w 135360"/>
                <a:gd name="textAreaRight" fmla="*/ 135720 w 135360"/>
                <a:gd name="textAreaTop" fmla="*/ 0 h 1911600"/>
                <a:gd name="textAreaBottom" fmla="*/ 1911960 h 1911600"/>
              </a:gdLst>
              <a:ahLst/>
              <a:rect l="textAreaLeft" t="textAreaTop" r="textAreaRight" b="textAreaBottom"/>
              <a:pathLst>
                <a:path w="180848" h="2549144">
                  <a:moveTo>
                    <a:pt x="0" y="0"/>
                  </a:moveTo>
                  <a:lnTo>
                    <a:pt x="180848" y="0"/>
                  </a:lnTo>
                  <a:lnTo>
                    <a:pt x="180848" y="2549144"/>
                  </a:lnTo>
                  <a:lnTo>
                    <a:pt x="0" y="2549144"/>
                  </a:lnTo>
                  <a:close/>
                </a:path>
              </a:pathLst>
            </a:custGeom>
            <a:solidFill>
              <a:srgbClr val="0e2240"/>
            </a:solidFill>
            <a:ln cap="sq" w="1905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685" name="Group 30"/>
          <p:cNvGrpSpPr/>
          <p:nvPr/>
        </p:nvGrpSpPr>
        <p:grpSpPr>
          <a:xfrm>
            <a:off x="1225080" y="5092920"/>
            <a:ext cx="924120" cy="924120"/>
            <a:chOff x="1225080" y="5092920"/>
            <a:chExt cx="924120" cy="924120"/>
          </a:xfrm>
        </p:grpSpPr>
        <p:sp>
          <p:nvSpPr>
            <p:cNvPr id="686" name="Freeform 31"/>
            <p:cNvSpPr/>
            <p:nvPr/>
          </p:nvSpPr>
          <p:spPr>
            <a:xfrm>
              <a:off x="1225080" y="5092920"/>
              <a:ext cx="924120" cy="924120"/>
            </a:xfrm>
            <a:custGeom>
              <a:avLst/>
              <a:gdLst>
                <a:gd name="textAreaLeft" fmla="*/ 0 w 924120"/>
                <a:gd name="textAreaRight" fmla="*/ 924480 w 924120"/>
                <a:gd name="textAreaTop" fmla="*/ 0 h 924120"/>
                <a:gd name="textAreaBottom" fmla="*/ 924480 h 924120"/>
              </a:gdLst>
              <a:ahLst/>
              <a:rect l="textAreaLeft" t="textAreaTop" r="textAreaRight" b="textAreaBottom"/>
              <a:pathLst>
                <a:path w="1232408" h="1232408">
                  <a:moveTo>
                    <a:pt x="0" y="616204"/>
                  </a:moveTo>
                  <a:cubicBezTo>
                    <a:pt x="0" y="275844"/>
                    <a:pt x="275844" y="0"/>
                    <a:pt x="616204" y="0"/>
                  </a:cubicBezTo>
                  <a:cubicBezTo>
                    <a:pt x="956564" y="0"/>
                    <a:pt x="1232408" y="275844"/>
                    <a:pt x="1232408" y="616204"/>
                  </a:cubicBezTo>
                  <a:cubicBezTo>
                    <a:pt x="1232408" y="956564"/>
                    <a:pt x="956564" y="1232408"/>
                    <a:pt x="616204" y="1232408"/>
                  </a:cubicBezTo>
                  <a:cubicBezTo>
                    <a:pt x="275844" y="1232408"/>
                    <a:pt x="0" y="956564"/>
                    <a:pt x="0" y="616204"/>
                  </a:cubicBezTo>
                  <a:close/>
                </a:path>
              </a:pathLst>
            </a:custGeom>
            <a:solidFill>
              <a:srgbClr val="0e2240"/>
            </a:solidFill>
            <a:ln cap="sq" w="19050">
              <a:solidFill>
                <a:srgbClr val="eaf0f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687" name="Group 32"/>
          <p:cNvGrpSpPr/>
          <p:nvPr/>
        </p:nvGrpSpPr>
        <p:grpSpPr>
          <a:xfrm>
            <a:off x="1478880" y="5346720"/>
            <a:ext cx="416160" cy="416160"/>
            <a:chOff x="1478880" y="5346720"/>
            <a:chExt cx="416160" cy="416160"/>
          </a:xfrm>
        </p:grpSpPr>
        <p:sp>
          <p:nvSpPr>
            <p:cNvPr id="688" name="Freeform 33"/>
            <p:cNvSpPr/>
            <p:nvPr/>
          </p:nvSpPr>
          <p:spPr>
            <a:xfrm>
              <a:off x="1478880" y="5346720"/>
              <a:ext cx="416160" cy="416160"/>
            </a:xfrm>
            <a:custGeom>
              <a:avLst/>
              <a:gdLst>
                <a:gd name="textAreaLeft" fmla="*/ 0 w 416160"/>
                <a:gd name="textAreaRight" fmla="*/ 416520 w 416160"/>
                <a:gd name="textAreaTop" fmla="*/ 0 h 416160"/>
                <a:gd name="textAreaBottom" fmla="*/ 416520 h 416160"/>
              </a:gdLst>
              <a:ahLst/>
              <a:rect l="textAreaLeft" t="textAreaTop" r="textAreaRight" b="textAreaBottom"/>
              <a:pathLst>
                <a:path w="555244" h="555244">
                  <a:moveTo>
                    <a:pt x="0" y="0"/>
                  </a:moveTo>
                  <a:lnTo>
                    <a:pt x="555244" y="0"/>
                  </a:lnTo>
                  <a:lnTo>
                    <a:pt x="555244" y="555244"/>
                  </a:lnTo>
                  <a:lnTo>
                    <a:pt x="0" y="555244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6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89" name="Group 34"/>
          <p:cNvGrpSpPr/>
          <p:nvPr/>
        </p:nvGrpSpPr>
        <p:grpSpPr>
          <a:xfrm>
            <a:off x="2468880" y="4855320"/>
            <a:ext cx="8366400" cy="757080"/>
            <a:chOff x="2468880" y="4855320"/>
            <a:chExt cx="8366400" cy="757080"/>
          </a:xfrm>
        </p:grpSpPr>
        <p:sp>
          <p:nvSpPr>
            <p:cNvPr id="690" name="Freeform 35"/>
            <p:cNvSpPr/>
            <p:nvPr/>
          </p:nvSpPr>
          <p:spPr>
            <a:xfrm>
              <a:off x="2468880" y="4855320"/>
              <a:ext cx="8366400" cy="756720"/>
            </a:xfrm>
            <a:custGeom>
              <a:avLst/>
              <a:gdLst>
                <a:gd name="textAreaLeft" fmla="*/ 0 w 8366400"/>
                <a:gd name="textAreaRight" fmla="*/ 8366760 w 8366400"/>
                <a:gd name="textAreaTop" fmla="*/ 0 h 756720"/>
                <a:gd name="textAreaBottom" fmla="*/ 757080 h 756720"/>
              </a:gdLst>
              <a:ahLst/>
              <a:rect l="textAreaLeft" t="textAreaTop" r="textAreaRight" b="textAreaBottom"/>
              <a:pathLst>
                <a:path w="11155680" h="1009648">
                  <a:moveTo>
                    <a:pt x="0" y="0"/>
                  </a:moveTo>
                  <a:lnTo>
                    <a:pt x="11155680" y="0"/>
                  </a:lnTo>
                  <a:lnTo>
                    <a:pt x="11155680" y="1009648"/>
                  </a:lnTo>
                  <a:lnTo>
                    <a:pt x="0" y="1009648"/>
                  </a:lnTo>
                  <a:close/>
                </a:path>
              </a:pathLst>
            </a:custGeom>
            <a:blipFill rotWithShape="0">
              <a:blip r:embed="rId7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91" name="TextBox 36"/>
            <p:cNvSpPr/>
            <p:nvPr/>
          </p:nvSpPr>
          <p:spPr>
            <a:xfrm>
              <a:off x="2468880" y="4862520"/>
              <a:ext cx="8366400" cy="749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4499"/>
                </a:lnSpc>
              </a:pPr>
              <a:r>
                <a:rPr b="1" lang="en-US" sz="3750" spc="-1" strike="noStrike">
                  <a:solidFill>
                    <a:srgbClr val="13294b"/>
                  </a:solidFill>
                  <a:latin typeface="Playfair Display Bold"/>
                  <a:ea typeface="Playfair Display Bold"/>
                </a:rPr>
                <a:t>Transmission ≠ weakness</a:t>
              </a:r>
              <a:endParaRPr b="0" lang="es-ES" sz="37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92" name="Group 37"/>
          <p:cNvGrpSpPr/>
          <p:nvPr/>
        </p:nvGrpSpPr>
        <p:grpSpPr>
          <a:xfrm>
            <a:off x="2468880" y="5623560"/>
            <a:ext cx="8366400" cy="575640"/>
            <a:chOff x="2468880" y="5623560"/>
            <a:chExt cx="8366400" cy="575640"/>
          </a:xfrm>
        </p:grpSpPr>
        <p:sp>
          <p:nvSpPr>
            <p:cNvPr id="693" name="Freeform 38"/>
            <p:cNvSpPr/>
            <p:nvPr/>
          </p:nvSpPr>
          <p:spPr>
            <a:xfrm>
              <a:off x="2468880" y="5623560"/>
              <a:ext cx="8366400" cy="575640"/>
            </a:xfrm>
            <a:custGeom>
              <a:avLst/>
              <a:gdLst>
                <a:gd name="textAreaLeft" fmla="*/ 0 w 8366400"/>
                <a:gd name="textAreaRight" fmla="*/ 8366760 w 8366400"/>
                <a:gd name="textAreaTop" fmla="*/ 0 h 575640"/>
                <a:gd name="textAreaBottom" fmla="*/ 576000 h 575640"/>
              </a:gdLst>
              <a:ahLst/>
              <a:rect l="textAreaLeft" t="textAreaTop" r="textAreaRight" b="textAreaBottom"/>
              <a:pathLst>
                <a:path w="11155680" h="768096">
                  <a:moveTo>
                    <a:pt x="0" y="0"/>
                  </a:moveTo>
                  <a:lnTo>
                    <a:pt x="11155680" y="0"/>
                  </a:lnTo>
                  <a:lnTo>
                    <a:pt x="11155680" y="768096"/>
                  </a:lnTo>
                  <a:lnTo>
                    <a:pt x="0" y="768096"/>
                  </a:lnTo>
                  <a:close/>
                </a:path>
              </a:pathLst>
            </a:custGeom>
            <a:blipFill rotWithShape="0">
              <a:blip r:embed="rId8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94" name="TextBox 39"/>
            <p:cNvSpPr/>
            <p:nvPr/>
          </p:nvSpPr>
          <p:spPr>
            <a:xfrm>
              <a:off x="2468880" y="5623560"/>
              <a:ext cx="8366400" cy="575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3149"/>
                </a:lnSpc>
              </a:pPr>
              <a:r>
                <a:rPr b="0" lang="en-US" sz="2620" spc="-1" strike="noStrike">
                  <a:solidFill>
                    <a:srgbClr val="000000"/>
                  </a:solidFill>
                  <a:latin typeface="Open Sans 1"/>
                  <a:ea typeface="Open Sans 1"/>
                </a:rPr>
                <a:t>Detection stays robust under real-world edits.</a:t>
              </a:r>
              <a:endParaRPr b="0" lang="es-ES" sz="262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95" name="Group 40"/>
          <p:cNvGrpSpPr/>
          <p:nvPr/>
        </p:nvGrpSpPr>
        <p:grpSpPr>
          <a:xfrm>
            <a:off x="747360" y="6768720"/>
            <a:ext cx="10438200" cy="1906560"/>
            <a:chOff x="747360" y="6768720"/>
            <a:chExt cx="10438200" cy="1906560"/>
          </a:xfrm>
        </p:grpSpPr>
        <p:sp>
          <p:nvSpPr>
            <p:cNvPr id="696" name="Freeform 41"/>
            <p:cNvSpPr/>
            <p:nvPr/>
          </p:nvSpPr>
          <p:spPr>
            <a:xfrm>
              <a:off x="747360" y="6768720"/>
              <a:ext cx="10438200" cy="1906560"/>
            </a:xfrm>
            <a:custGeom>
              <a:avLst/>
              <a:gdLst>
                <a:gd name="textAreaLeft" fmla="*/ 0 w 10438200"/>
                <a:gd name="textAreaRight" fmla="*/ 10438560 w 10438200"/>
                <a:gd name="textAreaTop" fmla="*/ 0 h 1906560"/>
                <a:gd name="textAreaBottom" fmla="*/ 1906920 h 1906560"/>
              </a:gdLst>
              <a:ahLst/>
              <a:rect l="textAreaLeft" t="textAreaTop" r="textAreaRight" b="textAreaBottom"/>
              <a:pathLst>
                <a:path w="13917930" h="2542794">
                  <a:moveTo>
                    <a:pt x="0" y="0"/>
                  </a:moveTo>
                  <a:lnTo>
                    <a:pt x="13917930" y="0"/>
                  </a:lnTo>
                  <a:lnTo>
                    <a:pt x="13917930" y="2542794"/>
                  </a:lnTo>
                  <a:lnTo>
                    <a:pt x="0" y="2542794"/>
                  </a:lnTo>
                  <a:close/>
                </a:path>
              </a:pathLst>
            </a:custGeom>
            <a:solidFill>
              <a:srgbClr val="f7f9fc"/>
            </a:solidFill>
            <a:ln cap="sq" w="14288">
              <a:solidFill>
                <a:srgbClr val="dde3e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97" name="Group 42"/>
          <p:cNvGrpSpPr/>
          <p:nvPr/>
        </p:nvGrpSpPr>
        <p:grpSpPr>
          <a:xfrm>
            <a:off x="744840" y="6766200"/>
            <a:ext cx="135360" cy="1911600"/>
            <a:chOff x="744840" y="6766200"/>
            <a:chExt cx="135360" cy="1911600"/>
          </a:xfrm>
        </p:grpSpPr>
        <p:sp>
          <p:nvSpPr>
            <p:cNvPr id="698" name="Freeform 43"/>
            <p:cNvSpPr/>
            <p:nvPr/>
          </p:nvSpPr>
          <p:spPr>
            <a:xfrm>
              <a:off x="744840" y="6766200"/>
              <a:ext cx="135360" cy="1911600"/>
            </a:xfrm>
            <a:custGeom>
              <a:avLst/>
              <a:gdLst>
                <a:gd name="textAreaLeft" fmla="*/ 0 w 135360"/>
                <a:gd name="textAreaRight" fmla="*/ 135720 w 135360"/>
                <a:gd name="textAreaTop" fmla="*/ 0 h 1911600"/>
                <a:gd name="textAreaBottom" fmla="*/ 1911960 h 1911600"/>
              </a:gdLst>
              <a:ahLst/>
              <a:rect l="textAreaLeft" t="textAreaTop" r="textAreaRight" b="textAreaBottom"/>
              <a:pathLst>
                <a:path w="180848" h="2549144">
                  <a:moveTo>
                    <a:pt x="0" y="0"/>
                  </a:moveTo>
                  <a:lnTo>
                    <a:pt x="180848" y="0"/>
                  </a:lnTo>
                  <a:lnTo>
                    <a:pt x="180848" y="2549144"/>
                  </a:lnTo>
                  <a:lnTo>
                    <a:pt x="0" y="2549144"/>
                  </a:lnTo>
                  <a:close/>
                </a:path>
              </a:pathLst>
            </a:custGeom>
            <a:solidFill>
              <a:srgbClr val="0e2240"/>
            </a:solidFill>
            <a:ln cap="sq" w="1905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699" name="Group 44"/>
          <p:cNvGrpSpPr/>
          <p:nvPr/>
        </p:nvGrpSpPr>
        <p:grpSpPr>
          <a:xfrm>
            <a:off x="1225080" y="7260120"/>
            <a:ext cx="924120" cy="924120"/>
            <a:chOff x="1225080" y="7260120"/>
            <a:chExt cx="924120" cy="924120"/>
          </a:xfrm>
        </p:grpSpPr>
        <p:sp>
          <p:nvSpPr>
            <p:cNvPr id="700" name="Freeform 45"/>
            <p:cNvSpPr/>
            <p:nvPr/>
          </p:nvSpPr>
          <p:spPr>
            <a:xfrm>
              <a:off x="1225080" y="7260120"/>
              <a:ext cx="924120" cy="924120"/>
            </a:xfrm>
            <a:custGeom>
              <a:avLst/>
              <a:gdLst>
                <a:gd name="textAreaLeft" fmla="*/ 0 w 924120"/>
                <a:gd name="textAreaRight" fmla="*/ 924480 w 924120"/>
                <a:gd name="textAreaTop" fmla="*/ 0 h 924120"/>
                <a:gd name="textAreaBottom" fmla="*/ 924480 h 924120"/>
              </a:gdLst>
              <a:ahLst/>
              <a:rect l="textAreaLeft" t="textAreaTop" r="textAreaRight" b="textAreaBottom"/>
              <a:pathLst>
                <a:path w="1232408" h="1232408">
                  <a:moveTo>
                    <a:pt x="0" y="616204"/>
                  </a:moveTo>
                  <a:cubicBezTo>
                    <a:pt x="0" y="275844"/>
                    <a:pt x="275844" y="0"/>
                    <a:pt x="616204" y="0"/>
                  </a:cubicBezTo>
                  <a:cubicBezTo>
                    <a:pt x="956564" y="0"/>
                    <a:pt x="1232408" y="275844"/>
                    <a:pt x="1232408" y="616204"/>
                  </a:cubicBezTo>
                  <a:cubicBezTo>
                    <a:pt x="1232408" y="956564"/>
                    <a:pt x="956564" y="1232408"/>
                    <a:pt x="616204" y="1232408"/>
                  </a:cubicBezTo>
                  <a:cubicBezTo>
                    <a:pt x="275844" y="1232408"/>
                    <a:pt x="0" y="956564"/>
                    <a:pt x="0" y="616204"/>
                  </a:cubicBezTo>
                  <a:close/>
                </a:path>
              </a:pathLst>
            </a:custGeom>
            <a:solidFill>
              <a:srgbClr val="0e2240"/>
            </a:solidFill>
            <a:ln cap="sq" w="19050">
              <a:solidFill>
                <a:srgbClr val="eaf0f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701" name="Group 46"/>
          <p:cNvGrpSpPr/>
          <p:nvPr/>
        </p:nvGrpSpPr>
        <p:grpSpPr>
          <a:xfrm>
            <a:off x="1478880" y="7513920"/>
            <a:ext cx="416160" cy="416160"/>
            <a:chOff x="1478880" y="7513920"/>
            <a:chExt cx="416160" cy="416160"/>
          </a:xfrm>
        </p:grpSpPr>
        <p:sp>
          <p:nvSpPr>
            <p:cNvPr id="702" name="Freeform 47"/>
            <p:cNvSpPr/>
            <p:nvPr/>
          </p:nvSpPr>
          <p:spPr>
            <a:xfrm>
              <a:off x="1478880" y="7513920"/>
              <a:ext cx="416160" cy="416160"/>
            </a:xfrm>
            <a:custGeom>
              <a:avLst/>
              <a:gdLst>
                <a:gd name="textAreaLeft" fmla="*/ 0 w 416160"/>
                <a:gd name="textAreaRight" fmla="*/ 416520 w 416160"/>
                <a:gd name="textAreaTop" fmla="*/ 0 h 416160"/>
                <a:gd name="textAreaBottom" fmla="*/ 416520 h 416160"/>
              </a:gdLst>
              <a:ahLst/>
              <a:rect l="textAreaLeft" t="textAreaTop" r="textAreaRight" b="textAreaBottom"/>
              <a:pathLst>
                <a:path w="555244" h="555244">
                  <a:moveTo>
                    <a:pt x="0" y="0"/>
                  </a:moveTo>
                  <a:lnTo>
                    <a:pt x="555244" y="0"/>
                  </a:lnTo>
                  <a:lnTo>
                    <a:pt x="555244" y="555244"/>
                  </a:lnTo>
                  <a:lnTo>
                    <a:pt x="0" y="555244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9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03" name="Group 48"/>
          <p:cNvGrpSpPr/>
          <p:nvPr/>
        </p:nvGrpSpPr>
        <p:grpSpPr>
          <a:xfrm>
            <a:off x="2468880" y="7022520"/>
            <a:ext cx="8366400" cy="757080"/>
            <a:chOff x="2468880" y="7022520"/>
            <a:chExt cx="8366400" cy="757080"/>
          </a:xfrm>
        </p:grpSpPr>
        <p:sp>
          <p:nvSpPr>
            <p:cNvPr id="704" name="Freeform 49"/>
            <p:cNvSpPr/>
            <p:nvPr/>
          </p:nvSpPr>
          <p:spPr>
            <a:xfrm>
              <a:off x="2468880" y="7022520"/>
              <a:ext cx="8366400" cy="756720"/>
            </a:xfrm>
            <a:custGeom>
              <a:avLst/>
              <a:gdLst>
                <a:gd name="textAreaLeft" fmla="*/ 0 w 8366400"/>
                <a:gd name="textAreaRight" fmla="*/ 8366760 w 8366400"/>
                <a:gd name="textAreaTop" fmla="*/ 0 h 756720"/>
                <a:gd name="textAreaBottom" fmla="*/ 757080 h 756720"/>
              </a:gdLst>
              <a:ahLst/>
              <a:rect l="textAreaLeft" t="textAreaTop" r="textAreaRight" b="textAreaBottom"/>
              <a:pathLst>
                <a:path w="11155680" h="1009648">
                  <a:moveTo>
                    <a:pt x="0" y="0"/>
                  </a:moveTo>
                  <a:lnTo>
                    <a:pt x="11155680" y="0"/>
                  </a:lnTo>
                  <a:lnTo>
                    <a:pt x="11155680" y="1009648"/>
                  </a:lnTo>
                  <a:lnTo>
                    <a:pt x="0" y="1009648"/>
                  </a:lnTo>
                  <a:close/>
                </a:path>
              </a:pathLst>
            </a:custGeom>
            <a:blipFill rotWithShape="0">
              <a:blip r:embed="rId10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05" name="TextBox 50"/>
            <p:cNvSpPr/>
            <p:nvPr/>
          </p:nvSpPr>
          <p:spPr>
            <a:xfrm>
              <a:off x="2468880" y="7029720"/>
              <a:ext cx="8366400" cy="749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4499"/>
                </a:lnSpc>
              </a:pPr>
              <a:r>
                <a:rPr b="1" lang="en-US" sz="3750" spc="-1" strike="noStrike">
                  <a:solidFill>
                    <a:srgbClr val="13294b"/>
                  </a:solidFill>
                  <a:latin typeface="Playfair Display Bold"/>
                  <a:ea typeface="Playfair Display Bold"/>
                </a:rPr>
                <a:t>Tasks complement each other</a:t>
              </a:r>
              <a:endParaRPr b="0" lang="es-ES" sz="37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06" name="Group 51"/>
          <p:cNvGrpSpPr/>
          <p:nvPr/>
        </p:nvGrpSpPr>
        <p:grpSpPr>
          <a:xfrm>
            <a:off x="2468880" y="7790760"/>
            <a:ext cx="8366400" cy="575640"/>
            <a:chOff x="2468880" y="7790760"/>
            <a:chExt cx="8366400" cy="575640"/>
          </a:xfrm>
        </p:grpSpPr>
        <p:sp>
          <p:nvSpPr>
            <p:cNvPr id="707" name="Freeform 52"/>
            <p:cNvSpPr/>
            <p:nvPr/>
          </p:nvSpPr>
          <p:spPr>
            <a:xfrm>
              <a:off x="2468880" y="7790760"/>
              <a:ext cx="8366400" cy="575640"/>
            </a:xfrm>
            <a:custGeom>
              <a:avLst/>
              <a:gdLst>
                <a:gd name="textAreaLeft" fmla="*/ 0 w 8366400"/>
                <a:gd name="textAreaRight" fmla="*/ 8366760 w 8366400"/>
                <a:gd name="textAreaTop" fmla="*/ 0 h 575640"/>
                <a:gd name="textAreaBottom" fmla="*/ 576000 h 575640"/>
              </a:gdLst>
              <a:ahLst/>
              <a:rect l="textAreaLeft" t="textAreaTop" r="textAreaRight" b="textAreaBottom"/>
              <a:pathLst>
                <a:path w="11155680" h="768096">
                  <a:moveTo>
                    <a:pt x="0" y="0"/>
                  </a:moveTo>
                  <a:lnTo>
                    <a:pt x="11155680" y="0"/>
                  </a:lnTo>
                  <a:lnTo>
                    <a:pt x="11155680" y="768096"/>
                  </a:lnTo>
                  <a:lnTo>
                    <a:pt x="0" y="768096"/>
                  </a:lnTo>
                  <a:close/>
                </a:path>
              </a:pathLst>
            </a:custGeom>
            <a:blipFill rotWithShape="0">
              <a:blip r:embed="rId1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08" name="TextBox 53"/>
            <p:cNvSpPr/>
            <p:nvPr/>
          </p:nvSpPr>
          <p:spPr>
            <a:xfrm>
              <a:off x="2468880" y="7790760"/>
              <a:ext cx="8366400" cy="575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3149"/>
                </a:lnSpc>
              </a:pPr>
              <a:r>
                <a:rPr b="0" lang="en-US" sz="2620" spc="-1" strike="noStrike">
                  <a:solidFill>
                    <a:srgbClr val="000000"/>
                  </a:solidFill>
                  <a:latin typeface="Open Sans 1"/>
                  <a:ea typeface="Open Sans 1"/>
                </a:rPr>
                <a:t>Joint training beats both single-task baselines.</a:t>
              </a:r>
              <a:endParaRPr b="0" lang="es-ES" sz="262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09" name="Group 54"/>
          <p:cNvGrpSpPr/>
          <p:nvPr/>
        </p:nvGrpSpPr>
        <p:grpSpPr>
          <a:xfrm>
            <a:off x="11580480" y="2431800"/>
            <a:ext cx="5957640" cy="6245640"/>
            <a:chOff x="11580480" y="2431800"/>
            <a:chExt cx="5957640" cy="6245640"/>
          </a:xfrm>
        </p:grpSpPr>
        <p:sp>
          <p:nvSpPr>
            <p:cNvPr id="710" name="Freeform 55"/>
            <p:cNvSpPr/>
            <p:nvPr/>
          </p:nvSpPr>
          <p:spPr>
            <a:xfrm>
              <a:off x="11580480" y="2431800"/>
              <a:ext cx="5957640" cy="6245640"/>
            </a:xfrm>
            <a:custGeom>
              <a:avLst/>
              <a:gdLst>
                <a:gd name="textAreaLeft" fmla="*/ 0 w 5957640"/>
                <a:gd name="textAreaRight" fmla="*/ 5958000 w 5957640"/>
                <a:gd name="textAreaTop" fmla="*/ 0 h 6245640"/>
                <a:gd name="textAreaBottom" fmla="*/ 6246000 h 6245640"/>
              </a:gdLst>
              <a:ahLst/>
              <a:rect l="textAreaLeft" t="textAreaTop" r="textAreaRight" b="textAreaBottom"/>
              <a:pathLst>
                <a:path w="7944104" h="8328152">
                  <a:moveTo>
                    <a:pt x="0" y="0"/>
                  </a:moveTo>
                  <a:lnTo>
                    <a:pt x="7944104" y="0"/>
                  </a:lnTo>
                  <a:lnTo>
                    <a:pt x="7944104" y="8328152"/>
                  </a:lnTo>
                  <a:lnTo>
                    <a:pt x="0" y="8328152"/>
                  </a:lnTo>
                  <a:close/>
                </a:path>
              </a:pathLst>
            </a:custGeom>
            <a:solidFill>
              <a:srgbClr val="0e2240"/>
            </a:solidFill>
            <a:ln cap="sq" w="19050">
              <a:solidFill>
                <a:srgbClr val="0e224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711" name="Group 56"/>
          <p:cNvGrpSpPr/>
          <p:nvPr/>
        </p:nvGrpSpPr>
        <p:grpSpPr>
          <a:xfrm>
            <a:off x="12138840" y="2962800"/>
            <a:ext cx="4841280" cy="465840"/>
            <a:chOff x="12138840" y="2962800"/>
            <a:chExt cx="4841280" cy="465840"/>
          </a:xfrm>
        </p:grpSpPr>
        <p:sp>
          <p:nvSpPr>
            <p:cNvPr id="712" name="Freeform 57"/>
            <p:cNvSpPr/>
            <p:nvPr/>
          </p:nvSpPr>
          <p:spPr>
            <a:xfrm>
              <a:off x="12138840" y="2962800"/>
              <a:ext cx="4841280" cy="465840"/>
            </a:xfrm>
            <a:custGeom>
              <a:avLst/>
              <a:gdLst>
                <a:gd name="textAreaLeft" fmla="*/ 0 w 4841280"/>
                <a:gd name="textAreaRight" fmla="*/ 4841640 w 4841280"/>
                <a:gd name="textAreaTop" fmla="*/ 0 h 465840"/>
                <a:gd name="textAreaBottom" fmla="*/ 466200 h 465840"/>
              </a:gdLst>
              <a:ahLst/>
              <a:rect l="textAreaLeft" t="textAreaTop" r="textAreaRight" b="textAreaBottom"/>
              <a:pathLst>
                <a:path w="6455664" h="621792">
                  <a:moveTo>
                    <a:pt x="0" y="0"/>
                  </a:moveTo>
                  <a:lnTo>
                    <a:pt x="6455664" y="0"/>
                  </a:lnTo>
                  <a:lnTo>
                    <a:pt x="6455664" y="621792"/>
                  </a:lnTo>
                  <a:lnTo>
                    <a:pt x="0" y="621792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13" name="TextBox 58"/>
            <p:cNvSpPr/>
            <p:nvPr/>
          </p:nvSpPr>
          <p:spPr>
            <a:xfrm>
              <a:off x="12138840" y="2962800"/>
              <a:ext cx="4841280" cy="465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2520"/>
                </a:lnSpc>
              </a:pPr>
              <a:r>
                <a:rPr b="1" lang="en-US" sz="2100" spc="698" strike="noStrike">
                  <a:solidFill>
                    <a:srgbClr val="ffffff"/>
                  </a:solidFill>
                  <a:latin typeface="Open Sans 1 Bold"/>
                  <a:ea typeface="Open Sans 1 Bold"/>
                </a:rPr>
                <a:t>FUTURE WORK</a:t>
              </a:r>
              <a:endParaRPr b="0" lang="es-ES" sz="21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14" name="Group 59"/>
          <p:cNvGrpSpPr/>
          <p:nvPr/>
        </p:nvGrpSpPr>
        <p:grpSpPr>
          <a:xfrm>
            <a:off x="12129120" y="3562920"/>
            <a:ext cx="4192560" cy="111240"/>
            <a:chOff x="12129120" y="3562920"/>
            <a:chExt cx="4192560" cy="111240"/>
          </a:xfrm>
        </p:grpSpPr>
        <p:sp>
          <p:nvSpPr>
            <p:cNvPr id="715" name="Freeform 60"/>
            <p:cNvSpPr/>
            <p:nvPr/>
          </p:nvSpPr>
          <p:spPr>
            <a:xfrm>
              <a:off x="12129120" y="3562920"/>
              <a:ext cx="4192560" cy="111240"/>
            </a:xfrm>
            <a:custGeom>
              <a:avLst/>
              <a:gdLst>
                <a:gd name="textAreaLeft" fmla="*/ 0 w 4192560"/>
                <a:gd name="textAreaRight" fmla="*/ 4192920 w 4192560"/>
                <a:gd name="textAreaTop" fmla="*/ 0 h 111240"/>
                <a:gd name="textAreaBottom" fmla="*/ 111600 h 111240"/>
              </a:gdLst>
              <a:ahLst/>
              <a:rect l="textAreaLeft" t="textAreaTop" r="textAreaRight" b="textAreaBottom"/>
              <a:pathLst>
                <a:path w="1488440" h="39619">
                  <a:moveTo>
                    <a:pt x="0" y="0"/>
                  </a:moveTo>
                  <a:lnTo>
                    <a:pt x="1488440" y="0"/>
                  </a:lnTo>
                  <a:lnTo>
                    <a:pt x="1488440" y="39619"/>
                  </a:lnTo>
                  <a:lnTo>
                    <a:pt x="0" y="39619"/>
                  </a:lnTo>
                  <a:close/>
                </a:path>
              </a:pathLst>
            </a:custGeom>
            <a:solidFill>
              <a:srgbClr val="ffffff"/>
            </a:solidFill>
            <a:ln cap="sq" w="1905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716" name="TextBox 61"/>
          <p:cNvSpPr/>
          <p:nvPr/>
        </p:nvSpPr>
        <p:spPr>
          <a:xfrm>
            <a:off x="12138840" y="4005000"/>
            <a:ext cx="4841280" cy="274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3090"/>
              </a:lnSpc>
            </a:pPr>
            <a:r>
              <a:rPr b="0" lang="en-US" sz="2570" spc="-1" strike="noStrike">
                <a:solidFill>
                  <a:srgbClr val="ffffff"/>
                </a:solidFill>
                <a:latin typeface="Open Sans 1"/>
                <a:ea typeface="Open Sans 1"/>
              </a:rPr>
              <a:t>•  </a:t>
            </a:r>
            <a:r>
              <a:rPr b="0" lang="en-US" sz="2570" spc="-1" strike="noStrike">
                <a:solidFill>
                  <a:srgbClr val="ffffff"/>
                </a:solidFill>
                <a:latin typeface="Open Sans 1"/>
                <a:ea typeface="Open Sans 1"/>
              </a:rPr>
              <a:t>Full RRDataset test split</a:t>
            </a:r>
            <a:endParaRPr b="0" lang="es-ES" sz="25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309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3090"/>
              </a:lnSpc>
            </a:pPr>
            <a:r>
              <a:rPr b="0" lang="en-US" sz="2570" spc="-1" strike="noStrike">
                <a:solidFill>
                  <a:srgbClr val="ffffff"/>
                </a:solidFill>
                <a:latin typeface="Open Sans 1"/>
                <a:ea typeface="Open Sans 1"/>
              </a:rPr>
              <a:t>•  </a:t>
            </a:r>
            <a:r>
              <a:rPr b="0" lang="en-US" sz="2570" spc="-1" strike="noStrike">
                <a:solidFill>
                  <a:srgbClr val="ffffff"/>
                </a:solidFill>
                <a:latin typeface="Open Sans 1"/>
                <a:ea typeface="Open Sans 1"/>
              </a:rPr>
              <a:t>Unseen generators</a:t>
            </a:r>
            <a:endParaRPr b="0" lang="es-ES" sz="25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309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3090"/>
              </a:lnSpc>
            </a:pPr>
            <a:r>
              <a:rPr b="0" lang="en-US" sz="2570" spc="-1" strike="noStrike">
                <a:solidFill>
                  <a:srgbClr val="ffffff"/>
                </a:solidFill>
                <a:latin typeface="Open Sans 1"/>
                <a:ea typeface="Open Sans 1"/>
              </a:rPr>
              <a:t>•  </a:t>
            </a:r>
            <a:r>
              <a:rPr b="0" lang="en-US" sz="2570" spc="-1" strike="noStrike">
                <a:solidFill>
                  <a:srgbClr val="ffffff"/>
                </a:solidFill>
                <a:latin typeface="Open Sans 1"/>
                <a:ea typeface="Open Sans 1"/>
              </a:rPr>
              <a:t>Stronger transform head</a:t>
            </a:r>
            <a:endParaRPr b="0" lang="es-ES" sz="25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309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3090"/>
              </a:lnSpc>
            </a:pPr>
            <a:r>
              <a:rPr b="0" lang="en-US" sz="2570" spc="-1" strike="noStrike">
                <a:solidFill>
                  <a:srgbClr val="ffffff"/>
                </a:solidFill>
                <a:latin typeface="Open Sans 1"/>
                <a:ea typeface="Open Sans 1"/>
              </a:rPr>
              <a:t>•  </a:t>
            </a:r>
            <a:r>
              <a:rPr b="0" lang="en-US" sz="2570" spc="-1" strike="noStrike">
                <a:solidFill>
                  <a:srgbClr val="ffffff"/>
                </a:solidFill>
                <a:latin typeface="Open Sans 1"/>
                <a:ea typeface="Open Sans 1"/>
              </a:rPr>
              <a:t>Explainability (Grad-CAM)</a:t>
            </a:r>
            <a:endParaRPr b="0" lang="es-ES" sz="25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7" name="TextBox 62"/>
          <p:cNvSpPr/>
          <p:nvPr/>
        </p:nvSpPr>
        <p:spPr>
          <a:xfrm>
            <a:off x="14130000" y="9613440"/>
            <a:ext cx="6797520" cy="39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3078"/>
              </a:lnSpc>
            </a:pPr>
            <a:r>
              <a:rPr b="1" lang="en-US" sz="2200" spc="-1" strike="noStrike">
                <a:solidFill>
                  <a:srgbClr val="4d4b66"/>
                </a:solidFill>
                <a:latin typeface="Montserrat Bold"/>
                <a:ea typeface="Montserrat Bold"/>
              </a:rPr>
              <a:t>14/15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8" name="Group 2"/>
          <p:cNvGrpSpPr/>
          <p:nvPr/>
        </p:nvGrpSpPr>
        <p:grpSpPr>
          <a:xfrm>
            <a:off x="744840" y="566640"/>
            <a:ext cx="1088640" cy="1088640"/>
            <a:chOff x="744840" y="566640"/>
            <a:chExt cx="1088640" cy="1088640"/>
          </a:xfrm>
        </p:grpSpPr>
        <p:sp>
          <p:nvSpPr>
            <p:cNvPr id="719" name="Freeform 3"/>
            <p:cNvSpPr/>
            <p:nvPr/>
          </p:nvSpPr>
          <p:spPr>
            <a:xfrm>
              <a:off x="744840" y="566640"/>
              <a:ext cx="1088640" cy="1088640"/>
            </a:xfrm>
            <a:custGeom>
              <a:avLst/>
              <a:gdLst>
                <a:gd name="textAreaLeft" fmla="*/ 0 w 1088640"/>
                <a:gd name="textAreaRight" fmla="*/ 1089000 w 1088640"/>
                <a:gd name="textAreaTop" fmla="*/ 0 h 1088640"/>
                <a:gd name="textAreaBottom" fmla="*/ 1089000 h 1088640"/>
              </a:gdLst>
              <a:ahLst/>
              <a:rect l="textAreaLeft" t="textAreaTop" r="textAreaRight" b="textAreaBottom"/>
              <a:pathLst>
                <a:path w="1451864" h="1451864">
                  <a:moveTo>
                    <a:pt x="0" y="725932"/>
                  </a:moveTo>
                  <a:cubicBezTo>
                    <a:pt x="0" y="324993"/>
                    <a:pt x="324993" y="0"/>
                    <a:pt x="725932" y="0"/>
                  </a:cubicBezTo>
                  <a:cubicBezTo>
                    <a:pt x="1126871" y="0"/>
                    <a:pt x="1451864" y="324993"/>
                    <a:pt x="1451864" y="725932"/>
                  </a:cubicBezTo>
                  <a:cubicBezTo>
                    <a:pt x="1451864" y="1126871"/>
                    <a:pt x="1126871" y="1451864"/>
                    <a:pt x="725932" y="1451864"/>
                  </a:cubicBezTo>
                  <a:cubicBezTo>
                    <a:pt x="324993" y="1451864"/>
                    <a:pt x="0" y="1126871"/>
                    <a:pt x="0" y="725932"/>
                  </a:cubicBezTo>
                  <a:close/>
                </a:path>
              </a:pathLst>
            </a:custGeom>
            <a:solidFill>
              <a:srgbClr val="13294b"/>
            </a:solidFill>
            <a:ln cap="sq" w="19050">
              <a:solidFill>
                <a:srgbClr val="13294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720" name="Group 4"/>
          <p:cNvGrpSpPr/>
          <p:nvPr/>
        </p:nvGrpSpPr>
        <p:grpSpPr>
          <a:xfrm>
            <a:off x="754560" y="576000"/>
            <a:ext cx="1069560" cy="1069560"/>
            <a:chOff x="754560" y="576000"/>
            <a:chExt cx="1069560" cy="1069560"/>
          </a:xfrm>
        </p:grpSpPr>
        <p:sp>
          <p:nvSpPr>
            <p:cNvPr id="721" name="Freeform 5"/>
            <p:cNvSpPr/>
            <p:nvPr/>
          </p:nvSpPr>
          <p:spPr>
            <a:xfrm>
              <a:off x="754560" y="576000"/>
              <a:ext cx="1069560" cy="1069560"/>
            </a:xfrm>
            <a:custGeom>
              <a:avLst/>
              <a:gdLst>
                <a:gd name="textAreaLeft" fmla="*/ 0 w 1069560"/>
                <a:gd name="textAreaRight" fmla="*/ 1069920 w 1069560"/>
                <a:gd name="textAreaTop" fmla="*/ 0 h 1069560"/>
                <a:gd name="textAreaBottom" fmla="*/ 1069920 h 1069560"/>
              </a:gdLst>
              <a:ahLst/>
              <a:rect l="textAreaLeft" t="textAreaTop" r="textAreaRight" b="textAreaBottom"/>
              <a:pathLst>
                <a:path w="1426464" h="1426464">
                  <a:moveTo>
                    <a:pt x="0" y="0"/>
                  </a:moveTo>
                  <a:lnTo>
                    <a:pt x="1426464" y="0"/>
                  </a:lnTo>
                  <a:lnTo>
                    <a:pt x="1426464" y="1426464"/>
                  </a:lnTo>
                  <a:lnTo>
                    <a:pt x="0" y="1426464"/>
                  </a:lnTo>
                  <a:close/>
                </a:path>
              </a:pathLst>
            </a:custGeom>
            <a:blipFill rotWithShape="0">
              <a:blip r:embed="rId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22" name="TextBox 6"/>
            <p:cNvSpPr/>
            <p:nvPr/>
          </p:nvSpPr>
          <p:spPr>
            <a:xfrm>
              <a:off x="754560" y="576000"/>
              <a:ext cx="1069560" cy="1069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ts val="3960"/>
                </a:lnSpc>
              </a:pPr>
              <a:r>
                <a:rPr b="1" lang="en-US" sz="3300" spc="-1" strike="noStrike">
                  <a:solidFill>
                    <a:srgbClr val="ffffff"/>
                  </a:solidFill>
                  <a:latin typeface="Georgia Bold"/>
                  <a:ea typeface="Georgia Bold"/>
                </a:rPr>
                <a:t>11</a:t>
              </a:r>
              <a:endParaRPr b="0" lang="es-ES" sz="33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23" name="Group 7"/>
          <p:cNvGrpSpPr/>
          <p:nvPr/>
        </p:nvGrpSpPr>
        <p:grpSpPr>
          <a:xfrm>
            <a:off x="2194560" y="438840"/>
            <a:ext cx="14127120" cy="1343880"/>
            <a:chOff x="2194560" y="438840"/>
            <a:chExt cx="14127120" cy="1343880"/>
          </a:xfrm>
        </p:grpSpPr>
        <p:sp>
          <p:nvSpPr>
            <p:cNvPr id="724" name="Freeform 8"/>
            <p:cNvSpPr/>
            <p:nvPr/>
          </p:nvSpPr>
          <p:spPr>
            <a:xfrm>
              <a:off x="2194560" y="438840"/>
              <a:ext cx="14127120" cy="1343880"/>
            </a:xfrm>
            <a:custGeom>
              <a:avLst/>
              <a:gdLst>
                <a:gd name="textAreaLeft" fmla="*/ 0 w 14127120"/>
                <a:gd name="textAreaRight" fmla="*/ 14127480 w 14127120"/>
                <a:gd name="textAreaTop" fmla="*/ 0 h 1343880"/>
                <a:gd name="textAreaBottom" fmla="*/ 1344240 h 1343880"/>
              </a:gdLst>
              <a:ahLst/>
              <a:rect l="textAreaLeft" t="textAreaTop" r="textAreaRight" b="textAreaBottom"/>
              <a:pathLst>
                <a:path w="18836639" h="1792224">
                  <a:moveTo>
                    <a:pt x="0" y="0"/>
                  </a:moveTo>
                  <a:lnTo>
                    <a:pt x="18836639" y="0"/>
                  </a:lnTo>
                  <a:lnTo>
                    <a:pt x="18836639" y="1792224"/>
                  </a:lnTo>
                  <a:lnTo>
                    <a:pt x="0" y="1792224"/>
                  </a:lnTo>
                  <a:close/>
                </a:path>
              </a:pathLst>
            </a:custGeom>
            <a:blipFill rotWithShape="0">
              <a:blip r:embed="rId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25" name="TextBox 9"/>
            <p:cNvSpPr/>
            <p:nvPr/>
          </p:nvSpPr>
          <p:spPr>
            <a:xfrm>
              <a:off x="2194560" y="438840"/>
              <a:ext cx="14127120" cy="1343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6120"/>
                </a:lnSpc>
              </a:pPr>
              <a:r>
                <a:rPr b="1" lang="en-US" sz="5100" spc="-1" strike="noStrike">
                  <a:solidFill>
                    <a:srgbClr val="13294b"/>
                  </a:solidFill>
                  <a:latin typeface="Playfair Display Bold"/>
                  <a:ea typeface="Playfair Display Bold"/>
                </a:rPr>
                <a:t>References</a:t>
              </a:r>
              <a:endParaRPr b="0" lang="es-ES" sz="51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26" name="Group 10"/>
          <p:cNvGrpSpPr/>
          <p:nvPr/>
        </p:nvGrpSpPr>
        <p:grpSpPr>
          <a:xfrm>
            <a:off x="744840" y="1938240"/>
            <a:ext cx="16797600" cy="39240"/>
            <a:chOff x="744840" y="1938240"/>
            <a:chExt cx="16797600" cy="39240"/>
          </a:xfrm>
        </p:grpSpPr>
        <p:sp>
          <p:nvSpPr>
            <p:cNvPr id="727" name="Freeform 11"/>
            <p:cNvSpPr/>
            <p:nvPr/>
          </p:nvSpPr>
          <p:spPr>
            <a:xfrm>
              <a:off x="744840" y="1938240"/>
              <a:ext cx="16797600" cy="39240"/>
            </a:xfrm>
            <a:custGeom>
              <a:avLst/>
              <a:gdLst>
                <a:gd name="textAreaLeft" fmla="*/ 0 w 16797600"/>
                <a:gd name="textAreaRight" fmla="*/ 16797960 w 16797600"/>
                <a:gd name="textAreaTop" fmla="*/ 0 h 39240"/>
                <a:gd name="textAreaBottom" fmla="*/ 39600 h 39240"/>
              </a:gdLst>
              <a:ahLst/>
              <a:rect l="textAreaLeft" t="textAreaTop" r="textAreaRight" b="textAreaBottom"/>
              <a:pathLst>
                <a:path w="22397086" h="52832">
                  <a:moveTo>
                    <a:pt x="0" y="0"/>
                  </a:moveTo>
                  <a:lnTo>
                    <a:pt x="22397086" y="0"/>
                  </a:lnTo>
                  <a:lnTo>
                    <a:pt x="22397086" y="52832"/>
                  </a:lnTo>
                  <a:lnTo>
                    <a:pt x="0" y="52832"/>
                  </a:lnTo>
                  <a:close/>
                </a:path>
              </a:pathLst>
            </a:custGeom>
            <a:solidFill>
              <a:srgbClr val="d8dee8"/>
            </a:solidFill>
            <a:ln cap="sq" w="19050">
              <a:solidFill>
                <a:srgbClr val="d8dee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5400" bIns="-54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28" name="Group 12"/>
          <p:cNvGrpSpPr/>
          <p:nvPr/>
        </p:nvGrpSpPr>
        <p:grpSpPr>
          <a:xfrm>
            <a:off x="747360" y="2434320"/>
            <a:ext cx="8197560" cy="2139840"/>
            <a:chOff x="747360" y="2434320"/>
            <a:chExt cx="8197560" cy="2139840"/>
          </a:xfrm>
        </p:grpSpPr>
        <p:sp>
          <p:nvSpPr>
            <p:cNvPr id="729" name="Freeform 13"/>
            <p:cNvSpPr/>
            <p:nvPr/>
          </p:nvSpPr>
          <p:spPr>
            <a:xfrm>
              <a:off x="747360" y="2434320"/>
              <a:ext cx="8197560" cy="2139840"/>
            </a:xfrm>
            <a:custGeom>
              <a:avLst/>
              <a:gdLst>
                <a:gd name="textAreaLeft" fmla="*/ 0 w 8197560"/>
                <a:gd name="textAreaRight" fmla="*/ 8197920 w 8197560"/>
                <a:gd name="textAreaTop" fmla="*/ 0 h 2139840"/>
                <a:gd name="textAreaBottom" fmla="*/ 2140200 h 2139840"/>
              </a:gdLst>
              <a:ahLst/>
              <a:rect l="textAreaLeft" t="textAreaTop" r="textAreaRight" b="textAreaBottom"/>
              <a:pathLst>
                <a:path w="10930636" h="2853690">
                  <a:moveTo>
                    <a:pt x="0" y="0"/>
                  </a:moveTo>
                  <a:lnTo>
                    <a:pt x="10930636" y="0"/>
                  </a:lnTo>
                  <a:lnTo>
                    <a:pt x="10930636" y="2853690"/>
                  </a:lnTo>
                  <a:lnTo>
                    <a:pt x="0" y="2853690"/>
                  </a:lnTo>
                  <a:close/>
                </a:path>
              </a:pathLst>
            </a:custGeom>
            <a:solidFill>
              <a:srgbClr val="f7f9fc"/>
            </a:solidFill>
            <a:ln cap="sq" w="14288">
              <a:solidFill>
                <a:srgbClr val="dde3e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30" name="Group 14"/>
          <p:cNvGrpSpPr/>
          <p:nvPr/>
        </p:nvGrpSpPr>
        <p:grpSpPr>
          <a:xfrm>
            <a:off x="744840" y="2431800"/>
            <a:ext cx="135360" cy="2144520"/>
            <a:chOff x="744840" y="2431800"/>
            <a:chExt cx="135360" cy="2144520"/>
          </a:xfrm>
        </p:grpSpPr>
        <p:sp>
          <p:nvSpPr>
            <p:cNvPr id="731" name="Freeform 15"/>
            <p:cNvSpPr/>
            <p:nvPr/>
          </p:nvSpPr>
          <p:spPr>
            <a:xfrm>
              <a:off x="744840" y="2431800"/>
              <a:ext cx="135360" cy="2144520"/>
            </a:xfrm>
            <a:custGeom>
              <a:avLst/>
              <a:gdLst>
                <a:gd name="textAreaLeft" fmla="*/ 0 w 135360"/>
                <a:gd name="textAreaRight" fmla="*/ 135720 w 135360"/>
                <a:gd name="textAreaTop" fmla="*/ 0 h 2144520"/>
                <a:gd name="textAreaBottom" fmla="*/ 2144880 h 2144520"/>
              </a:gdLst>
              <a:ahLst/>
              <a:rect l="textAreaLeft" t="textAreaTop" r="textAreaRight" b="textAreaBottom"/>
              <a:pathLst>
                <a:path w="180848" h="2860040">
                  <a:moveTo>
                    <a:pt x="0" y="0"/>
                  </a:moveTo>
                  <a:lnTo>
                    <a:pt x="180848" y="0"/>
                  </a:lnTo>
                  <a:lnTo>
                    <a:pt x="180848" y="2860040"/>
                  </a:lnTo>
                  <a:lnTo>
                    <a:pt x="0" y="2860040"/>
                  </a:lnTo>
                  <a:close/>
                </a:path>
              </a:pathLst>
            </a:custGeom>
            <a:solidFill>
              <a:srgbClr val="0e2240"/>
            </a:solidFill>
            <a:ln cap="sq" w="1905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732" name="Group 16"/>
          <p:cNvGrpSpPr/>
          <p:nvPr/>
        </p:nvGrpSpPr>
        <p:grpSpPr>
          <a:xfrm>
            <a:off x="1234440" y="2633400"/>
            <a:ext cx="7428960" cy="651960"/>
            <a:chOff x="1234440" y="2633400"/>
            <a:chExt cx="7428960" cy="651960"/>
          </a:xfrm>
        </p:grpSpPr>
        <p:sp>
          <p:nvSpPr>
            <p:cNvPr id="733" name="Freeform 17"/>
            <p:cNvSpPr/>
            <p:nvPr/>
          </p:nvSpPr>
          <p:spPr>
            <a:xfrm>
              <a:off x="1234440" y="2633400"/>
              <a:ext cx="7428960" cy="651960"/>
            </a:xfrm>
            <a:custGeom>
              <a:avLst/>
              <a:gdLst>
                <a:gd name="textAreaLeft" fmla="*/ 0 w 7428960"/>
                <a:gd name="textAreaRight" fmla="*/ 7429320 w 7428960"/>
                <a:gd name="textAreaTop" fmla="*/ 0 h 651960"/>
                <a:gd name="textAreaBottom" fmla="*/ 652320 h 651960"/>
              </a:gdLst>
              <a:ahLst/>
              <a:rect l="textAreaLeft" t="textAreaTop" r="textAreaRight" b="textAreaBottom"/>
              <a:pathLst>
                <a:path w="9905696" h="869864">
                  <a:moveTo>
                    <a:pt x="0" y="0"/>
                  </a:moveTo>
                  <a:lnTo>
                    <a:pt x="9905696" y="0"/>
                  </a:lnTo>
                  <a:lnTo>
                    <a:pt x="9905696" y="869864"/>
                  </a:lnTo>
                  <a:lnTo>
                    <a:pt x="0" y="869864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34" name="TextBox 18"/>
            <p:cNvSpPr/>
            <p:nvPr/>
          </p:nvSpPr>
          <p:spPr>
            <a:xfrm>
              <a:off x="1234440" y="2633400"/>
              <a:ext cx="7428960" cy="651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3838"/>
                </a:lnSpc>
              </a:pPr>
              <a:r>
                <a:rPr b="1" lang="en-US" sz="3200" spc="-1" strike="noStrike">
                  <a:solidFill>
                    <a:srgbClr val="13294b"/>
                  </a:solidFill>
                  <a:latin typeface="Playfair Display Bold"/>
                  <a:ea typeface="Playfair Display Bold"/>
                </a:rPr>
                <a:t>RRDataset (benchmark)</a:t>
              </a:r>
              <a:endParaRPr b="0" lang="es-ES" sz="3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735" name="TextBox 19"/>
          <p:cNvSpPr/>
          <p:nvPr/>
        </p:nvSpPr>
        <p:spPr>
          <a:xfrm>
            <a:off x="1234440" y="3246480"/>
            <a:ext cx="7428960" cy="78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2069"/>
              </a:lnSpc>
            </a:pPr>
            <a:r>
              <a:rPr b="0" lang="en-US" sz="1729" spc="-1" strike="noStrike">
                <a:solidFill>
                  <a:srgbClr val="5b6478"/>
                </a:solidFill>
                <a:latin typeface="Open Sans 1"/>
                <a:ea typeface="Open Sans 1"/>
              </a:rPr>
              <a:t>Li, C. et al. (2025). Bridging the Gap Between Ideal and Real-world Evaluation: Benchmarking AI-Generated Image Detection in Challenging Scenarios. ICCV. arXiv:2509.09172.</a:t>
            </a:r>
            <a:endParaRPr b="0" lang="es-ES" sz="1729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36" name="Group 20"/>
          <p:cNvGrpSpPr/>
          <p:nvPr/>
        </p:nvGrpSpPr>
        <p:grpSpPr>
          <a:xfrm>
            <a:off x="9342360" y="2434320"/>
            <a:ext cx="8197560" cy="2139840"/>
            <a:chOff x="9342360" y="2434320"/>
            <a:chExt cx="8197560" cy="2139840"/>
          </a:xfrm>
        </p:grpSpPr>
        <p:sp>
          <p:nvSpPr>
            <p:cNvPr id="737" name="Freeform 21"/>
            <p:cNvSpPr/>
            <p:nvPr/>
          </p:nvSpPr>
          <p:spPr>
            <a:xfrm>
              <a:off x="9342360" y="2434320"/>
              <a:ext cx="8197560" cy="2139840"/>
            </a:xfrm>
            <a:custGeom>
              <a:avLst/>
              <a:gdLst>
                <a:gd name="textAreaLeft" fmla="*/ 0 w 8197560"/>
                <a:gd name="textAreaRight" fmla="*/ 8197920 w 8197560"/>
                <a:gd name="textAreaTop" fmla="*/ 0 h 2139840"/>
                <a:gd name="textAreaBottom" fmla="*/ 2140200 h 2139840"/>
              </a:gdLst>
              <a:ahLst/>
              <a:rect l="textAreaLeft" t="textAreaTop" r="textAreaRight" b="textAreaBottom"/>
              <a:pathLst>
                <a:path w="10930636" h="2853690">
                  <a:moveTo>
                    <a:pt x="0" y="0"/>
                  </a:moveTo>
                  <a:lnTo>
                    <a:pt x="10930636" y="0"/>
                  </a:lnTo>
                  <a:lnTo>
                    <a:pt x="10930636" y="2853690"/>
                  </a:lnTo>
                  <a:lnTo>
                    <a:pt x="0" y="2853690"/>
                  </a:lnTo>
                  <a:close/>
                </a:path>
              </a:pathLst>
            </a:custGeom>
            <a:solidFill>
              <a:srgbClr val="f7f9fc"/>
            </a:solidFill>
            <a:ln cap="sq" w="14288">
              <a:solidFill>
                <a:srgbClr val="dde3e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38" name="Group 22"/>
          <p:cNvGrpSpPr/>
          <p:nvPr/>
        </p:nvGrpSpPr>
        <p:grpSpPr>
          <a:xfrm>
            <a:off x="9339840" y="2431800"/>
            <a:ext cx="135360" cy="2144520"/>
            <a:chOff x="9339840" y="2431800"/>
            <a:chExt cx="135360" cy="2144520"/>
          </a:xfrm>
        </p:grpSpPr>
        <p:sp>
          <p:nvSpPr>
            <p:cNvPr id="739" name="Freeform 23"/>
            <p:cNvSpPr/>
            <p:nvPr/>
          </p:nvSpPr>
          <p:spPr>
            <a:xfrm>
              <a:off x="9339840" y="2431800"/>
              <a:ext cx="135360" cy="2144520"/>
            </a:xfrm>
            <a:custGeom>
              <a:avLst/>
              <a:gdLst>
                <a:gd name="textAreaLeft" fmla="*/ 0 w 135360"/>
                <a:gd name="textAreaRight" fmla="*/ 135720 w 135360"/>
                <a:gd name="textAreaTop" fmla="*/ 0 h 2144520"/>
                <a:gd name="textAreaBottom" fmla="*/ 2144880 h 2144520"/>
              </a:gdLst>
              <a:ahLst/>
              <a:rect l="textAreaLeft" t="textAreaTop" r="textAreaRight" b="textAreaBottom"/>
              <a:pathLst>
                <a:path w="180848" h="2860040">
                  <a:moveTo>
                    <a:pt x="0" y="0"/>
                  </a:moveTo>
                  <a:lnTo>
                    <a:pt x="180848" y="0"/>
                  </a:lnTo>
                  <a:lnTo>
                    <a:pt x="180848" y="2860040"/>
                  </a:lnTo>
                  <a:lnTo>
                    <a:pt x="0" y="2860040"/>
                  </a:lnTo>
                  <a:close/>
                </a:path>
              </a:pathLst>
            </a:custGeom>
            <a:solidFill>
              <a:srgbClr val="0e2240"/>
            </a:solidFill>
            <a:ln cap="sq" w="1905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740" name="Group 24"/>
          <p:cNvGrpSpPr/>
          <p:nvPr/>
        </p:nvGrpSpPr>
        <p:grpSpPr>
          <a:xfrm>
            <a:off x="9829440" y="2633400"/>
            <a:ext cx="7428960" cy="651960"/>
            <a:chOff x="9829440" y="2633400"/>
            <a:chExt cx="7428960" cy="651960"/>
          </a:xfrm>
        </p:grpSpPr>
        <p:sp>
          <p:nvSpPr>
            <p:cNvPr id="741" name="Freeform 25"/>
            <p:cNvSpPr/>
            <p:nvPr/>
          </p:nvSpPr>
          <p:spPr>
            <a:xfrm>
              <a:off x="9829440" y="2633400"/>
              <a:ext cx="7428960" cy="651960"/>
            </a:xfrm>
            <a:custGeom>
              <a:avLst/>
              <a:gdLst>
                <a:gd name="textAreaLeft" fmla="*/ 0 w 7428960"/>
                <a:gd name="textAreaRight" fmla="*/ 7429320 w 7428960"/>
                <a:gd name="textAreaTop" fmla="*/ 0 h 651960"/>
                <a:gd name="textAreaBottom" fmla="*/ 652320 h 651960"/>
              </a:gdLst>
              <a:ahLst/>
              <a:rect l="textAreaLeft" t="textAreaTop" r="textAreaRight" b="textAreaBottom"/>
              <a:pathLst>
                <a:path w="9905696" h="869864">
                  <a:moveTo>
                    <a:pt x="0" y="0"/>
                  </a:moveTo>
                  <a:lnTo>
                    <a:pt x="9905696" y="0"/>
                  </a:lnTo>
                  <a:lnTo>
                    <a:pt x="9905696" y="869864"/>
                  </a:lnTo>
                  <a:lnTo>
                    <a:pt x="0" y="869864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42" name="TextBox 26"/>
            <p:cNvSpPr/>
            <p:nvPr/>
          </p:nvSpPr>
          <p:spPr>
            <a:xfrm>
              <a:off x="9829440" y="2633400"/>
              <a:ext cx="7428960" cy="651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3838"/>
                </a:lnSpc>
              </a:pPr>
              <a:r>
                <a:rPr b="1" lang="en-US" sz="3200" spc="-1" strike="noStrike">
                  <a:solidFill>
                    <a:srgbClr val="13294b"/>
                  </a:solidFill>
                  <a:latin typeface="Playfair Display Bold"/>
                  <a:ea typeface="Playfair Display Bold"/>
                </a:rPr>
                <a:t>ResNet</a:t>
              </a:r>
              <a:endParaRPr b="0" lang="es-ES" sz="3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743" name="TextBox 27"/>
          <p:cNvSpPr/>
          <p:nvPr/>
        </p:nvSpPr>
        <p:spPr>
          <a:xfrm>
            <a:off x="9829440" y="3246480"/>
            <a:ext cx="7428960" cy="52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2069"/>
              </a:lnSpc>
            </a:pPr>
            <a:r>
              <a:rPr b="0" lang="en-US" sz="1729" spc="-1" strike="noStrike">
                <a:solidFill>
                  <a:srgbClr val="5b6478"/>
                </a:solidFill>
                <a:latin typeface="Open Sans 1"/>
                <a:ea typeface="Open Sans 1"/>
              </a:rPr>
              <a:t>He, K. et al. (2016). Deep Residual Learning for Image Recognition. CVPR.</a:t>
            </a:r>
            <a:endParaRPr b="0" lang="es-ES" sz="1729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44" name="Group 28"/>
          <p:cNvGrpSpPr/>
          <p:nvPr/>
        </p:nvGrpSpPr>
        <p:grpSpPr>
          <a:xfrm>
            <a:off x="747360" y="4834440"/>
            <a:ext cx="8197560" cy="2139840"/>
            <a:chOff x="747360" y="4834440"/>
            <a:chExt cx="8197560" cy="2139840"/>
          </a:xfrm>
        </p:grpSpPr>
        <p:sp>
          <p:nvSpPr>
            <p:cNvPr id="745" name="Freeform 29"/>
            <p:cNvSpPr/>
            <p:nvPr/>
          </p:nvSpPr>
          <p:spPr>
            <a:xfrm>
              <a:off x="747360" y="4834440"/>
              <a:ext cx="8197560" cy="2139840"/>
            </a:xfrm>
            <a:custGeom>
              <a:avLst/>
              <a:gdLst>
                <a:gd name="textAreaLeft" fmla="*/ 0 w 8197560"/>
                <a:gd name="textAreaRight" fmla="*/ 8197920 w 8197560"/>
                <a:gd name="textAreaTop" fmla="*/ 0 h 2139840"/>
                <a:gd name="textAreaBottom" fmla="*/ 2140200 h 2139840"/>
              </a:gdLst>
              <a:ahLst/>
              <a:rect l="textAreaLeft" t="textAreaTop" r="textAreaRight" b="textAreaBottom"/>
              <a:pathLst>
                <a:path w="10930636" h="2853690">
                  <a:moveTo>
                    <a:pt x="0" y="0"/>
                  </a:moveTo>
                  <a:lnTo>
                    <a:pt x="10930636" y="0"/>
                  </a:lnTo>
                  <a:lnTo>
                    <a:pt x="10930636" y="2853690"/>
                  </a:lnTo>
                  <a:lnTo>
                    <a:pt x="0" y="2853690"/>
                  </a:lnTo>
                  <a:close/>
                </a:path>
              </a:pathLst>
            </a:custGeom>
            <a:solidFill>
              <a:srgbClr val="f7f9fc"/>
            </a:solidFill>
            <a:ln cap="sq" w="14288">
              <a:solidFill>
                <a:srgbClr val="dde3e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46" name="Group 30"/>
          <p:cNvGrpSpPr/>
          <p:nvPr/>
        </p:nvGrpSpPr>
        <p:grpSpPr>
          <a:xfrm>
            <a:off x="744840" y="4832280"/>
            <a:ext cx="135360" cy="2144520"/>
            <a:chOff x="744840" y="4832280"/>
            <a:chExt cx="135360" cy="2144520"/>
          </a:xfrm>
        </p:grpSpPr>
        <p:sp>
          <p:nvSpPr>
            <p:cNvPr id="747" name="Freeform 31"/>
            <p:cNvSpPr/>
            <p:nvPr/>
          </p:nvSpPr>
          <p:spPr>
            <a:xfrm>
              <a:off x="744840" y="4832280"/>
              <a:ext cx="135360" cy="2144520"/>
            </a:xfrm>
            <a:custGeom>
              <a:avLst/>
              <a:gdLst>
                <a:gd name="textAreaLeft" fmla="*/ 0 w 135360"/>
                <a:gd name="textAreaRight" fmla="*/ 135720 w 135360"/>
                <a:gd name="textAreaTop" fmla="*/ 0 h 2144520"/>
                <a:gd name="textAreaBottom" fmla="*/ 2144880 h 2144520"/>
              </a:gdLst>
              <a:ahLst/>
              <a:rect l="textAreaLeft" t="textAreaTop" r="textAreaRight" b="textAreaBottom"/>
              <a:pathLst>
                <a:path w="180848" h="2860040">
                  <a:moveTo>
                    <a:pt x="0" y="0"/>
                  </a:moveTo>
                  <a:lnTo>
                    <a:pt x="180848" y="0"/>
                  </a:lnTo>
                  <a:lnTo>
                    <a:pt x="180848" y="2860040"/>
                  </a:lnTo>
                  <a:lnTo>
                    <a:pt x="0" y="2860040"/>
                  </a:lnTo>
                  <a:close/>
                </a:path>
              </a:pathLst>
            </a:custGeom>
            <a:solidFill>
              <a:srgbClr val="0e2240"/>
            </a:solidFill>
            <a:ln cap="sq" w="1905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748" name="Group 32"/>
          <p:cNvGrpSpPr/>
          <p:nvPr/>
        </p:nvGrpSpPr>
        <p:grpSpPr>
          <a:xfrm>
            <a:off x="1234440" y="5033880"/>
            <a:ext cx="7428960" cy="651960"/>
            <a:chOff x="1234440" y="5033880"/>
            <a:chExt cx="7428960" cy="651960"/>
          </a:xfrm>
        </p:grpSpPr>
        <p:sp>
          <p:nvSpPr>
            <p:cNvPr id="749" name="Freeform 33"/>
            <p:cNvSpPr/>
            <p:nvPr/>
          </p:nvSpPr>
          <p:spPr>
            <a:xfrm>
              <a:off x="1234440" y="5033880"/>
              <a:ext cx="7428960" cy="651960"/>
            </a:xfrm>
            <a:custGeom>
              <a:avLst/>
              <a:gdLst>
                <a:gd name="textAreaLeft" fmla="*/ 0 w 7428960"/>
                <a:gd name="textAreaRight" fmla="*/ 7429320 w 7428960"/>
                <a:gd name="textAreaTop" fmla="*/ 0 h 651960"/>
                <a:gd name="textAreaBottom" fmla="*/ 652320 h 651960"/>
              </a:gdLst>
              <a:ahLst/>
              <a:rect l="textAreaLeft" t="textAreaTop" r="textAreaRight" b="textAreaBottom"/>
              <a:pathLst>
                <a:path w="9905696" h="869864">
                  <a:moveTo>
                    <a:pt x="0" y="0"/>
                  </a:moveTo>
                  <a:lnTo>
                    <a:pt x="9905696" y="0"/>
                  </a:lnTo>
                  <a:lnTo>
                    <a:pt x="9905696" y="869864"/>
                  </a:lnTo>
                  <a:lnTo>
                    <a:pt x="0" y="869864"/>
                  </a:lnTo>
                  <a:close/>
                </a:path>
              </a:pathLst>
            </a:custGeom>
            <a:blipFill rotWithShape="0">
              <a:blip r:embed="rId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50" name="TextBox 34"/>
            <p:cNvSpPr/>
            <p:nvPr/>
          </p:nvSpPr>
          <p:spPr>
            <a:xfrm>
              <a:off x="1234440" y="5033880"/>
              <a:ext cx="7428960" cy="651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3838"/>
                </a:lnSpc>
              </a:pPr>
              <a:r>
                <a:rPr b="1" lang="en-US" sz="3200" spc="-1" strike="noStrike">
                  <a:solidFill>
                    <a:srgbClr val="13294b"/>
                  </a:solidFill>
                  <a:latin typeface="Playfair Display Bold"/>
                  <a:ea typeface="Playfair Display Bold"/>
                </a:rPr>
                <a:t>Media manipulation</a:t>
              </a:r>
              <a:endParaRPr b="0" lang="es-ES" sz="3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751" name="TextBox 35"/>
          <p:cNvSpPr/>
          <p:nvPr/>
        </p:nvSpPr>
        <p:spPr>
          <a:xfrm>
            <a:off x="1234440" y="5646960"/>
            <a:ext cx="7428960" cy="52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2069"/>
              </a:lnSpc>
            </a:pPr>
            <a:r>
              <a:rPr b="0" lang="en-US" sz="1729" spc="-1" strike="noStrike">
                <a:solidFill>
                  <a:srgbClr val="5b6478"/>
                </a:solidFill>
                <a:latin typeface="Open Sans 1"/>
                <a:ea typeface="Open Sans 1"/>
              </a:rPr>
              <a:t>Shao, R., Wu, T. &amp; Liu, Z. (2023). Detecting and Grounding Multi-Modal Media Manipulation. CVPR.</a:t>
            </a:r>
            <a:endParaRPr b="0" lang="es-ES" sz="1729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52" name="Group 36"/>
          <p:cNvGrpSpPr/>
          <p:nvPr/>
        </p:nvGrpSpPr>
        <p:grpSpPr>
          <a:xfrm>
            <a:off x="9342360" y="4834440"/>
            <a:ext cx="8197560" cy="2139840"/>
            <a:chOff x="9342360" y="4834440"/>
            <a:chExt cx="8197560" cy="2139840"/>
          </a:xfrm>
        </p:grpSpPr>
        <p:sp>
          <p:nvSpPr>
            <p:cNvPr id="753" name="Freeform 37"/>
            <p:cNvSpPr/>
            <p:nvPr/>
          </p:nvSpPr>
          <p:spPr>
            <a:xfrm>
              <a:off x="9342360" y="4834440"/>
              <a:ext cx="8197560" cy="2139840"/>
            </a:xfrm>
            <a:custGeom>
              <a:avLst/>
              <a:gdLst>
                <a:gd name="textAreaLeft" fmla="*/ 0 w 8197560"/>
                <a:gd name="textAreaRight" fmla="*/ 8197920 w 8197560"/>
                <a:gd name="textAreaTop" fmla="*/ 0 h 2139840"/>
                <a:gd name="textAreaBottom" fmla="*/ 2140200 h 2139840"/>
              </a:gdLst>
              <a:ahLst/>
              <a:rect l="textAreaLeft" t="textAreaTop" r="textAreaRight" b="textAreaBottom"/>
              <a:pathLst>
                <a:path w="10930636" h="2853690">
                  <a:moveTo>
                    <a:pt x="0" y="0"/>
                  </a:moveTo>
                  <a:lnTo>
                    <a:pt x="10930636" y="0"/>
                  </a:lnTo>
                  <a:lnTo>
                    <a:pt x="10930636" y="2853690"/>
                  </a:lnTo>
                  <a:lnTo>
                    <a:pt x="0" y="2853690"/>
                  </a:lnTo>
                  <a:close/>
                </a:path>
              </a:pathLst>
            </a:custGeom>
            <a:solidFill>
              <a:srgbClr val="f7f9fc"/>
            </a:solidFill>
            <a:ln cap="sq" w="14288">
              <a:solidFill>
                <a:srgbClr val="dde3e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54" name="Group 38"/>
          <p:cNvGrpSpPr/>
          <p:nvPr/>
        </p:nvGrpSpPr>
        <p:grpSpPr>
          <a:xfrm>
            <a:off x="9339840" y="4832280"/>
            <a:ext cx="135360" cy="2144520"/>
            <a:chOff x="9339840" y="4832280"/>
            <a:chExt cx="135360" cy="2144520"/>
          </a:xfrm>
        </p:grpSpPr>
        <p:sp>
          <p:nvSpPr>
            <p:cNvPr id="755" name="Freeform 39"/>
            <p:cNvSpPr/>
            <p:nvPr/>
          </p:nvSpPr>
          <p:spPr>
            <a:xfrm>
              <a:off x="9339840" y="4832280"/>
              <a:ext cx="135360" cy="2144520"/>
            </a:xfrm>
            <a:custGeom>
              <a:avLst/>
              <a:gdLst>
                <a:gd name="textAreaLeft" fmla="*/ 0 w 135360"/>
                <a:gd name="textAreaRight" fmla="*/ 135720 w 135360"/>
                <a:gd name="textAreaTop" fmla="*/ 0 h 2144520"/>
                <a:gd name="textAreaBottom" fmla="*/ 2144880 h 2144520"/>
              </a:gdLst>
              <a:ahLst/>
              <a:rect l="textAreaLeft" t="textAreaTop" r="textAreaRight" b="textAreaBottom"/>
              <a:pathLst>
                <a:path w="180848" h="2860040">
                  <a:moveTo>
                    <a:pt x="0" y="0"/>
                  </a:moveTo>
                  <a:lnTo>
                    <a:pt x="180848" y="0"/>
                  </a:lnTo>
                  <a:lnTo>
                    <a:pt x="180848" y="2860040"/>
                  </a:lnTo>
                  <a:lnTo>
                    <a:pt x="0" y="2860040"/>
                  </a:lnTo>
                  <a:close/>
                </a:path>
              </a:pathLst>
            </a:custGeom>
            <a:solidFill>
              <a:srgbClr val="0e2240"/>
            </a:solidFill>
            <a:ln cap="sq" w="1905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756" name="Group 40"/>
          <p:cNvGrpSpPr/>
          <p:nvPr/>
        </p:nvGrpSpPr>
        <p:grpSpPr>
          <a:xfrm>
            <a:off x="9829440" y="5033880"/>
            <a:ext cx="7428960" cy="651960"/>
            <a:chOff x="9829440" y="5033880"/>
            <a:chExt cx="7428960" cy="651960"/>
          </a:xfrm>
        </p:grpSpPr>
        <p:sp>
          <p:nvSpPr>
            <p:cNvPr id="757" name="Freeform 41"/>
            <p:cNvSpPr/>
            <p:nvPr/>
          </p:nvSpPr>
          <p:spPr>
            <a:xfrm>
              <a:off x="9829440" y="5033880"/>
              <a:ext cx="7428960" cy="651960"/>
            </a:xfrm>
            <a:custGeom>
              <a:avLst/>
              <a:gdLst>
                <a:gd name="textAreaLeft" fmla="*/ 0 w 7428960"/>
                <a:gd name="textAreaRight" fmla="*/ 7429320 w 7428960"/>
                <a:gd name="textAreaTop" fmla="*/ 0 h 651960"/>
                <a:gd name="textAreaBottom" fmla="*/ 652320 h 651960"/>
              </a:gdLst>
              <a:ahLst/>
              <a:rect l="textAreaLeft" t="textAreaTop" r="textAreaRight" b="textAreaBottom"/>
              <a:pathLst>
                <a:path w="9905696" h="869864">
                  <a:moveTo>
                    <a:pt x="0" y="0"/>
                  </a:moveTo>
                  <a:lnTo>
                    <a:pt x="9905696" y="0"/>
                  </a:lnTo>
                  <a:lnTo>
                    <a:pt x="9905696" y="869864"/>
                  </a:lnTo>
                  <a:lnTo>
                    <a:pt x="0" y="869864"/>
                  </a:lnTo>
                  <a:close/>
                </a:path>
              </a:pathLst>
            </a:custGeom>
            <a:blipFill rotWithShape="0">
              <a:blip r:embed="rId6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58" name="TextBox 42"/>
            <p:cNvSpPr/>
            <p:nvPr/>
          </p:nvSpPr>
          <p:spPr>
            <a:xfrm>
              <a:off x="9829440" y="5033880"/>
              <a:ext cx="7428960" cy="651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3838"/>
                </a:lnSpc>
              </a:pPr>
              <a:r>
                <a:rPr b="1" lang="en-US" sz="3200" spc="-1" strike="noStrike">
                  <a:solidFill>
                    <a:srgbClr val="13294b"/>
                  </a:solidFill>
                  <a:latin typeface="Playfair Display Bold"/>
                  <a:ea typeface="Playfair Display Bold"/>
                </a:rPr>
                <a:t>EfficientNet</a:t>
              </a:r>
              <a:endParaRPr b="0" lang="es-ES" sz="3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759" name="TextBox 43"/>
          <p:cNvSpPr/>
          <p:nvPr/>
        </p:nvSpPr>
        <p:spPr>
          <a:xfrm>
            <a:off x="9829440" y="5646960"/>
            <a:ext cx="7428960" cy="52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2069"/>
              </a:lnSpc>
            </a:pPr>
            <a:r>
              <a:rPr b="0" lang="en-US" sz="1729" spc="-1" strike="noStrike">
                <a:solidFill>
                  <a:srgbClr val="5b6478"/>
                </a:solidFill>
                <a:latin typeface="Open Sans 1"/>
                <a:ea typeface="Open Sans 1"/>
              </a:rPr>
              <a:t>Tan, M. &amp; Le, Q. (2019). EfficientNet: Rethinking Model Scaling for Convolutional Neural Networks. ICML.</a:t>
            </a:r>
            <a:endParaRPr b="0" lang="es-ES" sz="1729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60" name="Group 44"/>
          <p:cNvGrpSpPr/>
          <p:nvPr/>
        </p:nvGrpSpPr>
        <p:grpSpPr>
          <a:xfrm>
            <a:off x="747360" y="7234920"/>
            <a:ext cx="8197560" cy="2139840"/>
            <a:chOff x="747360" y="7234920"/>
            <a:chExt cx="8197560" cy="2139840"/>
          </a:xfrm>
        </p:grpSpPr>
        <p:sp>
          <p:nvSpPr>
            <p:cNvPr id="761" name="Freeform 45"/>
            <p:cNvSpPr/>
            <p:nvPr/>
          </p:nvSpPr>
          <p:spPr>
            <a:xfrm>
              <a:off x="747360" y="7234920"/>
              <a:ext cx="8197560" cy="2139840"/>
            </a:xfrm>
            <a:custGeom>
              <a:avLst/>
              <a:gdLst>
                <a:gd name="textAreaLeft" fmla="*/ 0 w 8197560"/>
                <a:gd name="textAreaRight" fmla="*/ 8197920 w 8197560"/>
                <a:gd name="textAreaTop" fmla="*/ 0 h 2139840"/>
                <a:gd name="textAreaBottom" fmla="*/ 2140200 h 2139840"/>
              </a:gdLst>
              <a:ahLst/>
              <a:rect l="textAreaLeft" t="textAreaTop" r="textAreaRight" b="textAreaBottom"/>
              <a:pathLst>
                <a:path w="10930636" h="2853690">
                  <a:moveTo>
                    <a:pt x="0" y="0"/>
                  </a:moveTo>
                  <a:lnTo>
                    <a:pt x="10930636" y="0"/>
                  </a:lnTo>
                  <a:lnTo>
                    <a:pt x="10930636" y="2853690"/>
                  </a:lnTo>
                  <a:lnTo>
                    <a:pt x="0" y="2853690"/>
                  </a:lnTo>
                  <a:close/>
                </a:path>
              </a:pathLst>
            </a:custGeom>
            <a:solidFill>
              <a:srgbClr val="f7f9fc"/>
            </a:solidFill>
            <a:ln cap="sq" w="14288">
              <a:solidFill>
                <a:srgbClr val="dde3e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62" name="Group 46"/>
          <p:cNvGrpSpPr/>
          <p:nvPr/>
        </p:nvGrpSpPr>
        <p:grpSpPr>
          <a:xfrm>
            <a:off x="744840" y="7232400"/>
            <a:ext cx="135360" cy="2144520"/>
            <a:chOff x="744840" y="7232400"/>
            <a:chExt cx="135360" cy="2144520"/>
          </a:xfrm>
        </p:grpSpPr>
        <p:sp>
          <p:nvSpPr>
            <p:cNvPr id="763" name="Freeform 47"/>
            <p:cNvSpPr/>
            <p:nvPr/>
          </p:nvSpPr>
          <p:spPr>
            <a:xfrm>
              <a:off x="744840" y="7232400"/>
              <a:ext cx="135360" cy="2144520"/>
            </a:xfrm>
            <a:custGeom>
              <a:avLst/>
              <a:gdLst>
                <a:gd name="textAreaLeft" fmla="*/ 0 w 135360"/>
                <a:gd name="textAreaRight" fmla="*/ 135720 w 135360"/>
                <a:gd name="textAreaTop" fmla="*/ 0 h 2144520"/>
                <a:gd name="textAreaBottom" fmla="*/ 2144880 h 2144520"/>
              </a:gdLst>
              <a:ahLst/>
              <a:rect l="textAreaLeft" t="textAreaTop" r="textAreaRight" b="textAreaBottom"/>
              <a:pathLst>
                <a:path w="180848" h="2860040">
                  <a:moveTo>
                    <a:pt x="0" y="0"/>
                  </a:moveTo>
                  <a:lnTo>
                    <a:pt x="180848" y="0"/>
                  </a:lnTo>
                  <a:lnTo>
                    <a:pt x="180848" y="2860040"/>
                  </a:lnTo>
                  <a:lnTo>
                    <a:pt x="0" y="2860040"/>
                  </a:lnTo>
                  <a:close/>
                </a:path>
              </a:pathLst>
            </a:custGeom>
            <a:solidFill>
              <a:srgbClr val="0e2240"/>
            </a:solidFill>
            <a:ln cap="sq" w="1905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764" name="Group 48"/>
          <p:cNvGrpSpPr/>
          <p:nvPr/>
        </p:nvGrpSpPr>
        <p:grpSpPr>
          <a:xfrm>
            <a:off x="1234440" y="7434000"/>
            <a:ext cx="7428960" cy="651960"/>
            <a:chOff x="1234440" y="7434000"/>
            <a:chExt cx="7428960" cy="651960"/>
          </a:xfrm>
        </p:grpSpPr>
        <p:sp>
          <p:nvSpPr>
            <p:cNvPr id="765" name="Freeform 49"/>
            <p:cNvSpPr/>
            <p:nvPr/>
          </p:nvSpPr>
          <p:spPr>
            <a:xfrm>
              <a:off x="1234440" y="7434000"/>
              <a:ext cx="7428960" cy="651960"/>
            </a:xfrm>
            <a:custGeom>
              <a:avLst/>
              <a:gdLst>
                <a:gd name="textAreaLeft" fmla="*/ 0 w 7428960"/>
                <a:gd name="textAreaRight" fmla="*/ 7429320 w 7428960"/>
                <a:gd name="textAreaTop" fmla="*/ 0 h 651960"/>
                <a:gd name="textAreaBottom" fmla="*/ 652320 h 651960"/>
              </a:gdLst>
              <a:ahLst/>
              <a:rect l="textAreaLeft" t="textAreaTop" r="textAreaRight" b="textAreaBottom"/>
              <a:pathLst>
                <a:path w="9905696" h="869864">
                  <a:moveTo>
                    <a:pt x="0" y="0"/>
                  </a:moveTo>
                  <a:lnTo>
                    <a:pt x="9905696" y="0"/>
                  </a:lnTo>
                  <a:lnTo>
                    <a:pt x="9905696" y="869864"/>
                  </a:lnTo>
                  <a:lnTo>
                    <a:pt x="0" y="869864"/>
                  </a:lnTo>
                  <a:close/>
                </a:path>
              </a:pathLst>
            </a:custGeom>
            <a:blipFill rotWithShape="0">
              <a:blip r:embed="rId7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66" name="TextBox 50"/>
            <p:cNvSpPr/>
            <p:nvPr/>
          </p:nvSpPr>
          <p:spPr>
            <a:xfrm>
              <a:off x="1234440" y="7434000"/>
              <a:ext cx="7428960" cy="651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3838"/>
                </a:lnSpc>
              </a:pPr>
              <a:r>
                <a:rPr b="1" lang="en-US" sz="3200" spc="-1" strike="noStrike">
                  <a:solidFill>
                    <a:srgbClr val="13294b"/>
                  </a:solidFill>
                  <a:latin typeface="Playfair Display Bold"/>
                  <a:ea typeface="Playfair Display Bold"/>
                </a:rPr>
                <a:t>ConvNeXt (backbone)</a:t>
              </a:r>
              <a:endParaRPr b="0" lang="es-ES" sz="3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767" name="TextBox 51"/>
          <p:cNvSpPr/>
          <p:nvPr/>
        </p:nvSpPr>
        <p:spPr>
          <a:xfrm>
            <a:off x="1234440" y="8047080"/>
            <a:ext cx="7428960" cy="26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2069"/>
              </a:lnSpc>
            </a:pPr>
            <a:r>
              <a:rPr b="0" lang="en-US" sz="1729" spc="-1" strike="noStrike">
                <a:solidFill>
                  <a:srgbClr val="5b6478"/>
                </a:solidFill>
                <a:latin typeface="Open Sans 1"/>
                <a:ea typeface="Open Sans 1"/>
              </a:rPr>
              <a:t>Liu, Z. et al. (2022). A ConvNet for the 2020s. CVPR.</a:t>
            </a:r>
            <a:endParaRPr b="0" lang="es-ES" sz="1729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68" name="Group 52"/>
          <p:cNvGrpSpPr/>
          <p:nvPr/>
        </p:nvGrpSpPr>
        <p:grpSpPr>
          <a:xfrm>
            <a:off x="9342360" y="7234920"/>
            <a:ext cx="8197560" cy="2139840"/>
            <a:chOff x="9342360" y="7234920"/>
            <a:chExt cx="8197560" cy="2139840"/>
          </a:xfrm>
        </p:grpSpPr>
        <p:sp>
          <p:nvSpPr>
            <p:cNvPr id="769" name="Freeform 53"/>
            <p:cNvSpPr/>
            <p:nvPr/>
          </p:nvSpPr>
          <p:spPr>
            <a:xfrm>
              <a:off x="9342360" y="7234920"/>
              <a:ext cx="8197560" cy="2139840"/>
            </a:xfrm>
            <a:custGeom>
              <a:avLst/>
              <a:gdLst>
                <a:gd name="textAreaLeft" fmla="*/ 0 w 8197560"/>
                <a:gd name="textAreaRight" fmla="*/ 8197920 w 8197560"/>
                <a:gd name="textAreaTop" fmla="*/ 0 h 2139840"/>
                <a:gd name="textAreaBottom" fmla="*/ 2140200 h 2139840"/>
              </a:gdLst>
              <a:ahLst/>
              <a:rect l="textAreaLeft" t="textAreaTop" r="textAreaRight" b="textAreaBottom"/>
              <a:pathLst>
                <a:path w="10930636" h="2853690">
                  <a:moveTo>
                    <a:pt x="0" y="0"/>
                  </a:moveTo>
                  <a:lnTo>
                    <a:pt x="10930636" y="0"/>
                  </a:lnTo>
                  <a:lnTo>
                    <a:pt x="10930636" y="2853690"/>
                  </a:lnTo>
                  <a:lnTo>
                    <a:pt x="0" y="2853690"/>
                  </a:lnTo>
                  <a:close/>
                </a:path>
              </a:pathLst>
            </a:custGeom>
            <a:solidFill>
              <a:srgbClr val="f7f9fc"/>
            </a:solidFill>
            <a:ln cap="sq" w="14288">
              <a:solidFill>
                <a:srgbClr val="dde3e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70" name="Group 54"/>
          <p:cNvGrpSpPr/>
          <p:nvPr/>
        </p:nvGrpSpPr>
        <p:grpSpPr>
          <a:xfrm>
            <a:off x="9339840" y="7232400"/>
            <a:ext cx="135360" cy="2144520"/>
            <a:chOff x="9339840" y="7232400"/>
            <a:chExt cx="135360" cy="2144520"/>
          </a:xfrm>
        </p:grpSpPr>
        <p:sp>
          <p:nvSpPr>
            <p:cNvPr id="771" name="Freeform 55"/>
            <p:cNvSpPr/>
            <p:nvPr/>
          </p:nvSpPr>
          <p:spPr>
            <a:xfrm>
              <a:off x="9339840" y="7232400"/>
              <a:ext cx="135360" cy="2144520"/>
            </a:xfrm>
            <a:custGeom>
              <a:avLst/>
              <a:gdLst>
                <a:gd name="textAreaLeft" fmla="*/ 0 w 135360"/>
                <a:gd name="textAreaRight" fmla="*/ 135720 w 135360"/>
                <a:gd name="textAreaTop" fmla="*/ 0 h 2144520"/>
                <a:gd name="textAreaBottom" fmla="*/ 2144880 h 2144520"/>
              </a:gdLst>
              <a:ahLst/>
              <a:rect l="textAreaLeft" t="textAreaTop" r="textAreaRight" b="textAreaBottom"/>
              <a:pathLst>
                <a:path w="180848" h="2860040">
                  <a:moveTo>
                    <a:pt x="0" y="0"/>
                  </a:moveTo>
                  <a:lnTo>
                    <a:pt x="180848" y="0"/>
                  </a:lnTo>
                  <a:lnTo>
                    <a:pt x="180848" y="2860040"/>
                  </a:lnTo>
                  <a:lnTo>
                    <a:pt x="0" y="2860040"/>
                  </a:lnTo>
                  <a:close/>
                </a:path>
              </a:pathLst>
            </a:custGeom>
            <a:solidFill>
              <a:srgbClr val="0e2240"/>
            </a:solidFill>
            <a:ln cap="sq" w="1905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772" name="Group 56"/>
          <p:cNvGrpSpPr/>
          <p:nvPr/>
        </p:nvGrpSpPr>
        <p:grpSpPr>
          <a:xfrm>
            <a:off x="9829440" y="7434000"/>
            <a:ext cx="7428960" cy="651960"/>
            <a:chOff x="9829440" y="7434000"/>
            <a:chExt cx="7428960" cy="651960"/>
          </a:xfrm>
        </p:grpSpPr>
        <p:sp>
          <p:nvSpPr>
            <p:cNvPr id="773" name="Freeform 57"/>
            <p:cNvSpPr/>
            <p:nvPr/>
          </p:nvSpPr>
          <p:spPr>
            <a:xfrm>
              <a:off x="9829440" y="7434000"/>
              <a:ext cx="7428960" cy="651960"/>
            </a:xfrm>
            <a:custGeom>
              <a:avLst/>
              <a:gdLst>
                <a:gd name="textAreaLeft" fmla="*/ 0 w 7428960"/>
                <a:gd name="textAreaRight" fmla="*/ 7429320 w 7428960"/>
                <a:gd name="textAreaTop" fmla="*/ 0 h 651960"/>
                <a:gd name="textAreaBottom" fmla="*/ 652320 h 651960"/>
              </a:gdLst>
              <a:ahLst/>
              <a:rect l="textAreaLeft" t="textAreaTop" r="textAreaRight" b="textAreaBottom"/>
              <a:pathLst>
                <a:path w="9905696" h="869864">
                  <a:moveTo>
                    <a:pt x="0" y="0"/>
                  </a:moveTo>
                  <a:lnTo>
                    <a:pt x="9905696" y="0"/>
                  </a:lnTo>
                  <a:lnTo>
                    <a:pt x="9905696" y="869864"/>
                  </a:lnTo>
                  <a:lnTo>
                    <a:pt x="0" y="869864"/>
                  </a:lnTo>
                  <a:close/>
                </a:path>
              </a:pathLst>
            </a:custGeom>
            <a:blipFill rotWithShape="0">
              <a:blip r:embed="rId8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E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74" name="TextBox 58"/>
            <p:cNvSpPr/>
            <p:nvPr/>
          </p:nvSpPr>
          <p:spPr>
            <a:xfrm>
              <a:off x="9829440" y="7434000"/>
              <a:ext cx="7428960" cy="651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ts val="3838"/>
                </a:lnSpc>
              </a:pPr>
              <a:r>
                <a:rPr b="1" lang="en-US" sz="3200" spc="-1" strike="noStrike">
                  <a:solidFill>
                    <a:srgbClr val="13294b"/>
                  </a:solidFill>
                  <a:latin typeface="Playfair Display Bold"/>
                  <a:ea typeface="Playfair Display Bold"/>
                </a:rPr>
                <a:t>Multi-task learning</a:t>
              </a:r>
              <a:endParaRPr b="0" lang="es-ES" sz="3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775" name="TextBox 59"/>
          <p:cNvSpPr/>
          <p:nvPr/>
        </p:nvSpPr>
        <p:spPr>
          <a:xfrm>
            <a:off x="9829440" y="8047080"/>
            <a:ext cx="7428960" cy="52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2069"/>
              </a:lnSpc>
            </a:pPr>
            <a:r>
              <a:rPr b="0" lang="en-US" sz="1729" spc="-1" strike="noStrike">
                <a:solidFill>
                  <a:srgbClr val="5b6478"/>
                </a:solidFill>
                <a:latin typeface="Open Sans 1"/>
                <a:ea typeface="Open Sans 1"/>
              </a:rPr>
              <a:t>Ruder, S. (2017). An Overview of Multi-Task Learning in Deep Neural Networks. arXiv:1706.05098.</a:t>
            </a:r>
            <a:endParaRPr b="0" lang="es-ES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6" name="TextBox 60"/>
          <p:cNvSpPr/>
          <p:nvPr/>
        </p:nvSpPr>
        <p:spPr>
          <a:xfrm>
            <a:off x="14130000" y="9613440"/>
            <a:ext cx="6797520" cy="39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3078"/>
              </a:lnSpc>
            </a:pPr>
            <a:r>
              <a:rPr b="1" lang="en-US" sz="2200" spc="-1" strike="noStrike">
                <a:solidFill>
                  <a:srgbClr val="4d4b66"/>
                </a:solidFill>
                <a:latin typeface="Montserrat Bold"/>
                <a:ea typeface="Montserrat Bold"/>
              </a:rPr>
              <a:t>15/15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Application>LibreOffice/7.4.7.2$Linux_X86_64 LibreOffice_project/40$Build-2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DAHL_5E7S3Q</dc:identifier>
  <dc:language>es-ES</dc:language>
  <cp:lastModifiedBy/>
  <dcterms:modified xsi:type="dcterms:W3CDTF">2026-06-12T21:24:57Z</dcterms:modified>
  <cp:revision>4</cp:revision>
  <dc:subject/>
  <dc:title>introduction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